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Lst>
  <p:sldSz cy="6858000" cx="12192000"/>
  <p:notesSz cx="6858000" cy="9144000"/>
  <p:embeddedFontLst>
    <p:embeddedFont>
      <p:font typeface="Gill Sans"/>
      <p:regular r:id="rId80"/>
      <p:bold r:id="rId8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F136021-7255-42B7-A7E7-87A8D8FFE9CA}">
  <a:tblStyle styleId="{BF136021-7255-42B7-A7E7-87A8D8FFE9CA}"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font" Target="fonts/GillSans-regular.fntdata"/><Relationship Id="rId81" Type="http://schemas.openxmlformats.org/officeDocument/2006/relationships/font" Target="fonts/GillSa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8526227be_0_4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g3a8526227be_0_4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8526227be_0_4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 name="Google Shape;119;g3a8526227be_0_4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8526227be_0_4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g3a8526227be_0_4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a8526227be_0_4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g3a8526227be_0_4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8526227be_0_4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 name="Google Shape;143;g3a8526227be_0_4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8526227be_0_4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g3a8526227be_0_4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a8526227be_0_4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0" name="Google Shape;160;g3a8526227be_0_4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8526227be_0_4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g3a8526227be_0_4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8526227be_0_4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g3a8526227be_0_4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a8526227be_0_4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g3a8526227be_0_4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8526227be_0_4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g3a8526227be_0_4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a8526227be_0_5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 name="Google Shape;202;g3a8526227be_0_5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a8526227be_0_5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g3a8526227be_0_5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a8526227be_0_5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8" name="Google Shape;218;g3a8526227be_0_5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a8526227be_0_5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7" name="Google Shape;227;g3a8526227be_0_5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a8526227be_0_5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5" name="Google Shape;235;g3a8526227be_0_5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a8526227be_0_5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g3a8526227be_0_5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a8526227be_0_5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1" name="Google Shape;251;g3a8526227be_0_5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a8526227be_0_5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 name="Google Shape;259;g3a8526227be_0_5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a8526227be_0_5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 name="Google Shape;267;g3a8526227be_0_5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a8526227be_0_5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5" name="Google Shape;275;g3a8526227be_0_5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a8526227be_0_5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3" name="Google Shape;283;g3a8526227be_0_5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a8526227be_0_5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1" name="Google Shape;291;g3a8526227be_0_5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a8526227be_0_5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g3a8526227be_0_5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a854632a9a_2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8" name="Google Shape;308;g3a854632a9a_2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a854632a9a_2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6" name="Google Shape;316;g3a854632a9a_2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a854632a9a_2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g3a854632a9a_2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a854632a9a_2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2" name="Google Shape;332;g3a854632a9a_2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a854632a9a_2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0" name="Google Shape;340;g3a854632a9a_2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a854632a9a_2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9" name="Google Shape;349;g3a854632a9a_2_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a854632a9a_2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8" name="Google Shape;358;g3a854632a9a_2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a854632a9a_2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7" name="Google Shape;367;g3a854632a9a_2_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a8526227be_0_5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5" name="Google Shape;375;g3a8526227be_0_5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a854632a9a_2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3" name="Google Shape;383;g3a854632a9a_2_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a854632a9a_2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2" name="Google Shape;392;g3a854632a9a_2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a854632a9a_2_1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1" name="Google Shape;401;g3a854632a9a_2_1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a854632a9a_2_1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0" name="Google Shape;410;g3a854632a9a_2_1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a854632a9a_2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9" name="Google Shape;419;g3a854632a9a_2_1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a854632a9a_2_1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8" name="Google Shape;428;g3a854632a9a_2_1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a854632a9a_2_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6" name="Google Shape;436;g3a854632a9a_2_1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a854632a9a_2_1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4" name="Google Shape;444;g3a854632a9a_2_1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a854632a9a_2_1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2" name="Google Shape;452;g3a854632a9a_2_1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a854632a9a_2_1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0" name="Google Shape;460;g3a854632a9a_2_1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a854632a9a_2_1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8" name="Google Shape;468;g3a854632a9a_2_1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a854632a9a_2_3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6" name="Google Shape;476;g3a854632a9a_2_3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a854632a9a_2_3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4" name="Google Shape;484;g3a854632a9a_2_3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a854632a9a_2_3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2" name="Google Shape;492;g3a854632a9a_2_3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a854632a9a_2_3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0" name="Google Shape;500;g3a854632a9a_2_3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a854632a9a_2_3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8" name="Google Shape;508;g3a854632a9a_2_3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a854632a9a_2_3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6" name="Google Shape;516;g3a854632a9a_2_3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a854632a9a_2_3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4" name="Google Shape;524;g3a854632a9a_2_3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a854632a9a_2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2" name="Google Shape;532;g3a854632a9a_2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a854632a9a_2_2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2" name="Google Shape;542;g3a854632a9a_2_2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a854632a9a_2_2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0" name="Google Shape;550;g3a854632a9a_2_2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a854632a9a_2_2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8" name="Google Shape;558;g3a854632a9a_2_2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a854632a9a_2_2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6" name="Google Shape;566;g3a854632a9a_2_2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a854632a9a_2_2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4" name="Google Shape;574;g3a854632a9a_2_2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a854632a9a_2_2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2" name="Google Shape;582;g3a854632a9a_2_2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a854632a9a_2_2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0" name="Google Shape;590;g3a854632a9a_2_2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a854632a9a_2_2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9" name="Google Shape;599;g3a854632a9a_2_2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a854632a9a_2_2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7" name="Google Shape;607;g3a854632a9a_2_2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a854632a9a_2_2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5" name="Google Shape;615;g3a854632a9a_2_2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a854632a9a_2_2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3" name="Google Shape;623;g3a854632a9a_2_2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a854632a9a_2_2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1" name="Google Shape;631;g3a854632a9a_2_2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a8526227be_0_6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9" name="Google Shape;639;g3a8526227be_0_6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a854632a9a_2_3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9" name="Google Shape;649;g3a854632a9a_2_3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a854632a9a_2_3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7" name="Google Shape;657;g3a854632a9a_2_3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a854632a9a_2_3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5" name="Google Shape;665;g3a854632a9a_2_3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a854632a9a_2_3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3" name="Google Shape;673;g3a854632a9a_2_3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a854632a9a_2_3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1" name="Google Shape;681;g3a854632a9a_2_3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a8526227be_0_6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9" name="Google Shape;689;g3a8526227be_0_6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a8526227be_0_6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6" name="Google Shape;696;g3a8526227be_0_6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4" name="Shape 14"/>
        <p:cNvGrpSpPr/>
        <p:nvPr/>
      </p:nvGrpSpPr>
      <p:grpSpPr>
        <a:xfrm>
          <a:off x="0" y="0"/>
          <a:ext cx="0" cy="0"/>
          <a:chOff x="0" y="0"/>
          <a:chExt cx="0" cy="0"/>
        </a:xfrm>
      </p:grpSpPr>
      <p:sp>
        <p:nvSpPr>
          <p:cNvPr id="15" name="Google Shape;15;p2"/>
          <p:cNvSpPr/>
          <p:nvPr/>
        </p:nvSpPr>
        <p:spPr>
          <a:xfrm>
            <a:off x="446534" y="3085765"/>
            <a:ext cx="11262866" cy="33048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
          <p:cNvSpPr txBox="1"/>
          <p:nvPr>
            <p:ph type="ctrTitle"/>
          </p:nvPr>
        </p:nvSpPr>
        <p:spPr>
          <a:xfrm>
            <a:off x="581191" y="1020431"/>
            <a:ext cx="10993549" cy="147501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 type="subTitle"/>
          </p:nvPr>
        </p:nvSpPr>
        <p:spPr>
          <a:xfrm>
            <a:off x="581194" y="2495445"/>
            <a:ext cx="10993546" cy="59032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p:txBody>
      </p:sp>
      <p:sp>
        <p:nvSpPr>
          <p:cNvPr id="18" name="Google Shape;18;p2"/>
          <p:cNvSpPr txBox="1"/>
          <p:nvPr>
            <p:ph idx="10" type="dt"/>
          </p:nvPr>
        </p:nvSpPr>
        <p:spPr>
          <a:xfrm>
            <a:off x="7605951" y="5956137"/>
            <a:ext cx="28448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10558300" y="5956137"/>
            <a:ext cx="101644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3"/>
          <p:cNvSpPr/>
          <p:nvPr/>
        </p:nvSpPr>
        <p:spPr>
          <a:xfrm>
            <a:off x="440286" y="614407"/>
            <a:ext cx="11309338" cy="118929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3"/>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 type="body"/>
          </p:nvPr>
        </p:nvSpPr>
        <p:spPr>
          <a:xfrm>
            <a:off x="581192" y="2180496"/>
            <a:ext cx="11029615" cy="3678303"/>
          </a:xfrm>
          <a:prstGeom prst="rect">
            <a:avLst/>
          </a:prstGeom>
          <a:noFill/>
          <a:ln>
            <a:noFill/>
          </a:ln>
        </p:spPr>
        <p:txBody>
          <a:bodyPr anchorCtr="0" anchor="ctr"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25" name="Google Shape;25;p3"/>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
          <p:cNvSpPr txBox="1"/>
          <p:nvPr>
            <p:ph idx="12" type="sldNum"/>
          </p:nvPr>
        </p:nvSpPr>
        <p:spPr>
          <a:xfrm>
            <a:off x="10558300" y="5956137"/>
            <a:ext cx="105250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8" name="Shape 28"/>
        <p:cNvGrpSpPr/>
        <p:nvPr/>
      </p:nvGrpSpPr>
      <p:grpSpPr>
        <a:xfrm>
          <a:off x="0" y="0"/>
          <a:ext cx="0" cy="0"/>
          <a:chOff x="0" y="0"/>
          <a:chExt cx="0" cy="0"/>
        </a:xfrm>
      </p:grpSpPr>
      <p:sp>
        <p:nvSpPr>
          <p:cNvPr id="29" name="Google Shape;29;p4"/>
          <p:cNvSpPr/>
          <p:nvPr/>
        </p:nvSpPr>
        <p:spPr>
          <a:xfrm>
            <a:off x="447817" y="5141974"/>
            <a:ext cx="11290860"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4"/>
          <p:cNvSpPr txBox="1"/>
          <p:nvPr>
            <p:ph type="title"/>
          </p:nvPr>
        </p:nvSpPr>
        <p:spPr>
          <a:xfrm>
            <a:off x="581193" y="3043910"/>
            <a:ext cx="11029615" cy="149750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3600"/>
              <a:buFont typeface="Gill Sans"/>
              <a:buNone/>
              <a:defRPr b="0" sz="360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 type="body"/>
          </p:nvPr>
        </p:nvSpPr>
        <p:spPr>
          <a:xfrm>
            <a:off x="581192" y="4541417"/>
            <a:ext cx="11029615" cy="60055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656"/>
              <a:buNone/>
              <a:defRPr sz="1800" cap="none">
                <a:solidFill>
                  <a:schemeClr val="accent2"/>
                </a:solidFill>
              </a:defRPr>
            </a:lvl1pPr>
            <a:lvl2pPr indent="-228600" lvl="1" marL="914400" algn="l">
              <a:lnSpc>
                <a:spcPct val="100000"/>
              </a:lnSpc>
              <a:spcBef>
                <a:spcPts val="600"/>
              </a:spcBef>
              <a:spcAft>
                <a:spcPts val="0"/>
              </a:spcAft>
              <a:buSzPts val="1656"/>
              <a:buNone/>
              <a:defRPr sz="1800">
                <a:solidFill>
                  <a:srgbClr val="888888"/>
                </a:solidFill>
              </a:defRPr>
            </a:lvl2pPr>
            <a:lvl3pPr indent="-228600" lvl="2" marL="1371600" algn="l">
              <a:lnSpc>
                <a:spcPct val="100000"/>
              </a:lnSpc>
              <a:spcBef>
                <a:spcPts val="600"/>
              </a:spcBef>
              <a:spcAft>
                <a:spcPts val="0"/>
              </a:spcAft>
              <a:buSzPts val="1472"/>
              <a:buNone/>
              <a:defRPr sz="1600">
                <a:solidFill>
                  <a:srgbClr val="888888"/>
                </a:solidFill>
              </a:defRPr>
            </a:lvl3pPr>
            <a:lvl4pPr indent="-228600" lvl="3" marL="1828800" algn="l">
              <a:lnSpc>
                <a:spcPct val="100000"/>
              </a:lnSpc>
              <a:spcBef>
                <a:spcPts val="600"/>
              </a:spcBef>
              <a:spcAft>
                <a:spcPts val="0"/>
              </a:spcAft>
              <a:buSzPts val="1288"/>
              <a:buNone/>
              <a:defRPr sz="1400">
                <a:solidFill>
                  <a:srgbClr val="888888"/>
                </a:solidFill>
              </a:defRPr>
            </a:lvl4pPr>
            <a:lvl5pPr indent="-228600" lvl="4" marL="2286000" algn="l">
              <a:lnSpc>
                <a:spcPct val="100000"/>
              </a:lnSpc>
              <a:spcBef>
                <a:spcPts val="600"/>
              </a:spcBef>
              <a:spcAft>
                <a:spcPts val="0"/>
              </a:spcAft>
              <a:buSzPts val="1288"/>
              <a:buNone/>
              <a:defRPr sz="1400">
                <a:solidFill>
                  <a:srgbClr val="888888"/>
                </a:solidFill>
              </a:defRPr>
            </a:lvl5pPr>
            <a:lvl6pPr indent="-228600" lvl="5" marL="2743200" algn="l">
              <a:lnSpc>
                <a:spcPct val="100000"/>
              </a:lnSpc>
              <a:spcBef>
                <a:spcPts val="600"/>
              </a:spcBef>
              <a:spcAft>
                <a:spcPts val="0"/>
              </a:spcAft>
              <a:buSzPts val="1288"/>
              <a:buNone/>
              <a:defRPr sz="1400">
                <a:solidFill>
                  <a:srgbClr val="888888"/>
                </a:solidFill>
              </a:defRPr>
            </a:lvl6pPr>
            <a:lvl7pPr indent="-228600" lvl="6" marL="3200400" algn="l">
              <a:lnSpc>
                <a:spcPct val="100000"/>
              </a:lnSpc>
              <a:spcBef>
                <a:spcPts val="600"/>
              </a:spcBef>
              <a:spcAft>
                <a:spcPts val="0"/>
              </a:spcAft>
              <a:buSzPts val="1288"/>
              <a:buNone/>
              <a:defRPr sz="1400">
                <a:solidFill>
                  <a:srgbClr val="888888"/>
                </a:solidFill>
              </a:defRPr>
            </a:lvl7pPr>
            <a:lvl8pPr indent="-228600" lvl="7" marL="3657600" algn="l">
              <a:lnSpc>
                <a:spcPct val="100000"/>
              </a:lnSpc>
              <a:spcBef>
                <a:spcPts val="600"/>
              </a:spcBef>
              <a:spcAft>
                <a:spcPts val="0"/>
              </a:spcAft>
              <a:buSzPts val="1288"/>
              <a:buNone/>
              <a:defRPr sz="1400">
                <a:solidFill>
                  <a:srgbClr val="888888"/>
                </a:solidFill>
              </a:defRPr>
            </a:lvl8pPr>
            <a:lvl9pPr indent="-228600" lvl="8" marL="4114800" algn="l">
              <a:lnSpc>
                <a:spcPct val="100000"/>
              </a:lnSpc>
              <a:spcBef>
                <a:spcPts val="600"/>
              </a:spcBef>
              <a:spcAft>
                <a:spcPts val="600"/>
              </a:spcAft>
              <a:buSzPts val="1288"/>
              <a:buNone/>
              <a:defRPr sz="1400">
                <a:solidFill>
                  <a:srgbClr val="888888"/>
                </a:solidFill>
              </a:defRPr>
            </a:lvl9pPr>
          </a:lstStyle>
          <a:p/>
        </p:txBody>
      </p:sp>
      <p:sp>
        <p:nvSpPr>
          <p:cNvPr id="32" name="Google Shape;32;p4"/>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5" name="Shape 35"/>
        <p:cNvGrpSpPr/>
        <p:nvPr/>
      </p:nvGrpSpPr>
      <p:grpSpPr>
        <a:xfrm>
          <a:off x="0" y="0"/>
          <a:ext cx="0" cy="0"/>
          <a:chOff x="0" y="0"/>
          <a:chExt cx="0" cy="0"/>
        </a:xfrm>
      </p:grpSpPr>
      <p:sp>
        <p:nvSpPr>
          <p:cNvPr id="36" name="Google Shape;36;p5"/>
          <p:cNvSpPr/>
          <p:nvPr/>
        </p:nvSpPr>
        <p:spPr>
          <a:xfrm>
            <a:off x="445982"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5"/>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 type="body"/>
          </p:nvPr>
        </p:nvSpPr>
        <p:spPr>
          <a:xfrm>
            <a:off x="581193" y="2228003"/>
            <a:ext cx="5422390" cy="3633047"/>
          </a:xfrm>
          <a:prstGeom prst="rect">
            <a:avLst/>
          </a:prstGeom>
          <a:noFill/>
          <a:ln>
            <a:noFill/>
          </a:ln>
        </p:spPr>
        <p:txBody>
          <a:bodyPr anchorCtr="0" anchor="ctr"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39" name="Google Shape;39;p5"/>
          <p:cNvSpPr txBox="1"/>
          <p:nvPr>
            <p:ph idx="2" type="body"/>
          </p:nvPr>
        </p:nvSpPr>
        <p:spPr>
          <a:xfrm>
            <a:off x="6188417" y="2228003"/>
            <a:ext cx="5422392" cy="3633047"/>
          </a:xfrm>
          <a:prstGeom prst="rect">
            <a:avLst/>
          </a:prstGeom>
          <a:noFill/>
          <a:ln>
            <a:noFill/>
          </a:ln>
        </p:spPr>
        <p:txBody>
          <a:bodyPr anchorCtr="0" anchor="ctr"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40" name="Google Shape;40;p5"/>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3" name="Shape 43"/>
        <p:cNvGrpSpPr/>
        <p:nvPr/>
      </p:nvGrpSpPr>
      <p:grpSpPr>
        <a:xfrm>
          <a:off x="0" y="0"/>
          <a:ext cx="0" cy="0"/>
          <a:chOff x="0" y="0"/>
          <a:chExt cx="0" cy="0"/>
        </a:xfrm>
      </p:grpSpPr>
      <p:sp>
        <p:nvSpPr>
          <p:cNvPr id="44" name="Google Shape;44;p6"/>
          <p:cNvSpPr/>
          <p:nvPr/>
        </p:nvSpPr>
        <p:spPr>
          <a:xfrm>
            <a:off x="445982"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6"/>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idx="1" type="body"/>
          </p:nvPr>
        </p:nvSpPr>
        <p:spPr>
          <a:xfrm>
            <a:off x="887219" y="2250892"/>
            <a:ext cx="5087075" cy="536005"/>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40"/>
              </a:spcBef>
              <a:spcAft>
                <a:spcPts val="0"/>
              </a:spcAft>
              <a:buSzPts val="2024"/>
              <a:buNone/>
              <a:defRPr b="0" sz="2200">
                <a:solidFill>
                  <a:schemeClr val="accent2"/>
                </a:solidFill>
              </a:defRPr>
            </a:lvl1pPr>
            <a:lvl2pPr indent="-228600" lvl="1" marL="914400" algn="l">
              <a:lnSpc>
                <a:spcPct val="100000"/>
              </a:lnSpc>
              <a:spcBef>
                <a:spcPts val="600"/>
              </a:spcBef>
              <a:spcAft>
                <a:spcPts val="0"/>
              </a:spcAft>
              <a:buSzPts val="1840"/>
              <a:buNone/>
              <a:defRPr b="1" sz="2000"/>
            </a:lvl2pPr>
            <a:lvl3pPr indent="-228600" lvl="2" marL="1371600" algn="l">
              <a:lnSpc>
                <a:spcPct val="100000"/>
              </a:lnSpc>
              <a:spcBef>
                <a:spcPts val="600"/>
              </a:spcBef>
              <a:spcAft>
                <a:spcPts val="0"/>
              </a:spcAft>
              <a:buSzPts val="1656"/>
              <a:buNone/>
              <a:defRPr b="1" sz="1800"/>
            </a:lvl3pPr>
            <a:lvl4pPr indent="-228600" lvl="3" marL="1828800" algn="l">
              <a:lnSpc>
                <a:spcPct val="100000"/>
              </a:lnSpc>
              <a:spcBef>
                <a:spcPts val="600"/>
              </a:spcBef>
              <a:spcAft>
                <a:spcPts val="0"/>
              </a:spcAft>
              <a:buSzPts val="1472"/>
              <a:buNone/>
              <a:defRPr b="1" sz="1600"/>
            </a:lvl4pPr>
            <a:lvl5pPr indent="-228600" lvl="4" marL="2286000" algn="l">
              <a:lnSpc>
                <a:spcPct val="100000"/>
              </a:lnSpc>
              <a:spcBef>
                <a:spcPts val="600"/>
              </a:spcBef>
              <a:spcAft>
                <a:spcPts val="0"/>
              </a:spcAft>
              <a:buSzPts val="1472"/>
              <a:buNone/>
              <a:defRPr b="1" sz="1600"/>
            </a:lvl5pPr>
            <a:lvl6pPr indent="-228600" lvl="5" marL="2743200" algn="l">
              <a:lnSpc>
                <a:spcPct val="100000"/>
              </a:lnSpc>
              <a:spcBef>
                <a:spcPts val="600"/>
              </a:spcBef>
              <a:spcAft>
                <a:spcPts val="0"/>
              </a:spcAft>
              <a:buSzPts val="1472"/>
              <a:buNone/>
              <a:defRPr b="1" sz="1600"/>
            </a:lvl6pPr>
            <a:lvl7pPr indent="-228600" lvl="6" marL="3200400" algn="l">
              <a:lnSpc>
                <a:spcPct val="100000"/>
              </a:lnSpc>
              <a:spcBef>
                <a:spcPts val="600"/>
              </a:spcBef>
              <a:spcAft>
                <a:spcPts val="0"/>
              </a:spcAft>
              <a:buSzPts val="1472"/>
              <a:buNone/>
              <a:defRPr b="1" sz="1600"/>
            </a:lvl7pPr>
            <a:lvl8pPr indent="-228600" lvl="7" marL="3657600" algn="l">
              <a:lnSpc>
                <a:spcPct val="100000"/>
              </a:lnSpc>
              <a:spcBef>
                <a:spcPts val="600"/>
              </a:spcBef>
              <a:spcAft>
                <a:spcPts val="0"/>
              </a:spcAft>
              <a:buSzPts val="1472"/>
              <a:buNone/>
              <a:defRPr b="1" sz="1600"/>
            </a:lvl8pPr>
            <a:lvl9pPr indent="-228600" lvl="8" marL="4114800" algn="l">
              <a:lnSpc>
                <a:spcPct val="100000"/>
              </a:lnSpc>
              <a:spcBef>
                <a:spcPts val="600"/>
              </a:spcBef>
              <a:spcAft>
                <a:spcPts val="600"/>
              </a:spcAft>
              <a:buSzPts val="1472"/>
              <a:buNone/>
              <a:defRPr b="1" sz="1600"/>
            </a:lvl9pPr>
          </a:lstStyle>
          <a:p/>
        </p:txBody>
      </p:sp>
      <p:sp>
        <p:nvSpPr>
          <p:cNvPr id="47" name="Google Shape;47;p6"/>
          <p:cNvSpPr txBox="1"/>
          <p:nvPr>
            <p:ph idx="2" type="body"/>
          </p:nvPr>
        </p:nvSpPr>
        <p:spPr>
          <a:xfrm>
            <a:off x="581194" y="2926052"/>
            <a:ext cx="5393100"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48" name="Google Shape;48;p6"/>
          <p:cNvSpPr txBox="1"/>
          <p:nvPr>
            <p:ph idx="3" type="body"/>
          </p:nvPr>
        </p:nvSpPr>
        <p:spPr>
          <a:xfrm>
            <a:off x="6523735" y="2250892"/>
            <a:ext cx="5087073" cy="553373"/>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40"/>
              </a:spcBef>
              <a:spcAft>
                <a:spcPts val="0"/>
              </a:spcAft>
              <a:buSzPts val="2024"/>
              <a:buNone/>
              <a:defRPr b="0" sz="2200">
                <a:solidFill>
                  <a:schemeClr val="accent2"/>
                </a:solidFill>
              </a:defRPr>
            </a:lvl1pPr>
            <a:lvl2pPr indent="-228600" lvl="1" marL="914400" algn="l">
              <a:lnSpc>
                <a:spcPct val="100000"/>
              </a:lnSpc>
              <a:spcBef>
                <a:spcPts val="600"/>
              </a:spcBef>
              <a:spcAft>
                <a:spcPts val="0"/>
              </a:spcAft>
              <a:buSzPts val="1840"/>
              <a:buNone/>
              <a:defRPr b="1" sz="2000"/>
            </a:lvl2pPr>
            <a:lvl3pPr indent="-228600" lvl="2" marL="1371600" algn="l">
              <a:lnSpc>
                <a:spcPct val="100000"/>
              </a:lnSpc>
              <a:spcBef>
                <a:spcPts val="600"/>
              </a:spcBef>
              <a:spcAft>
                <a:spcPts val="0"/>
              </a:spcAft>
              <a:buSzPts val="1656"/>
              <a:buNone/>
              <a:defRPr b="1" sz="1800"/>
            </a:lvl3pPr>
            <a:lvl4pPr indent="-228600" lvl="3" marL="1828800" algn="l">
              <a:lnSpc>
                <a:spcPct val="100000"/>
              </a:lnSpc>
              <a:spcBef>
                <a:spcPts val="600"/>
              </a:spcBef>
              <a:spcAft>
                <a:spcPts val="0"/>
              </a:spcAft>
              <a:buSzPts val="1472"/>
              <a:buNone/>
              <a:defRPr b="1" sz="1600"/>
            </a:lvl4pPr>
            <a:lvl5pPr indent="-228600" lvl="4" marL="2286000" algn="l">
              <a:lnSpc>
                <a:spcPct val="100000"/>
              </a:lnSpc>
              <a:spcBef>
                <a:spcPts val="600"/>
              </a:spcBef>
              <a:spcAft>
                <a:spcPts val="0"/>
              </a:spcAft>
              <a:buSzPts val="1472"/>
              <a:buNone/>
              <a:defRPr b="1" sz="1600"/>
            </a:lvl5pPr>
            <a:lvl6pPr indent="-228600" lvl="5" marL="2743200" algn="l">
              <a:lnSpc>
                <a:spcPct val="100000"/>
              </a:lnSpc>
              <a:spcBef>
                <a:spcPts val="600"/>
              </a:spcBef>
              <a:spcAft>
                <a:spcPts val="0"/>
              </a:spcAft>
              <a:buSzPts val="1472"/>
              <a:buNone/>
              <a:defRPr b="1" sz="1600"/>
            </a:lvl6pPr>
            <a:lvl7pPr indent="-228600" lvl="6" marL="3200400" algn="l">
              <a:lnSpc>
                <a:spcPct val="100000"/>
              </a:lnSpc>
              <a:spcBef>
                <a:spcPts val="600"/>
              </a:spcBef>
              <a:spcAft>
                <a:spcPts val="0"/>
              </a:spcAft>
              <a:buSzPts val="1472"/>
              <a:buNone/>
              <a:defRPr b="1" sz="1600"/>
            </a:lvl7pPr>
            <a:lvl8pPr indent="-228600" lvl="7" marL="3657600" algn="l">
              <a:lnSpc>
                <a:spcPct val="100000"/>
              </a:lnSpc>
              <a:spcBef>
                <a:spcPts val="600"/>
              </a:spcBef>
              <a:spcAft>
                <a:spcPts val="0"/>
              </a:spcAft>
              <a:buSzPts val="1472"/>
              <a:buNone/>
              <a:defRPr b="1" sz="1600"/>
            </a:lvl8pPr>
            <a:lvl9pPr indent="-228600" lvl="8" marL="4114800" algn="l">
              <a:lnSpc>
                <a:spcPct val="100000"/>
              </a:lnSpc>
              <a:spcBef>
                <a:spcPts val="600"/>
              </a:spcBef>
              <a:spcAft>
                <a:spcPts val="600"/>
              </a:spcAft>
              <a:buSzPts val="1472"/>
              <a:buNone/>
              <a:defRPr b="1" sz="1600"/>
            </a:lvl9pPr>
          </a:lstStyle>
          <a:p/>
        </p:txBody>
      </p:sp>
      <p:sp>
        <p:nvSpPr>
          <p:cNvPr id="49" name="Google Shape;49;p6"/>
          <p:cNvSpPr txBox="1"/>
          <p:nvPr>
            <p:ph idx="4" type="body"/>
          </p:nvPr>
        </p:nvSpPr>
        <p:spPr>
          <a:xfrm>
            <a:off x="6217709" y="2926052"/>
            <a:ext cx="5393100"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50" name="Google Shape;50;p6"/>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3" name="Shape 53"/>
        <p:cNvGrpSpPr/>
        <p:nvPr/>
      </p:nvGrpSpPr>
      <p:grpSpPr>
        <a:xfrm>
          <a:off x="0" y="0"/>
          <a:ext cx="0" cy="0"/>
          <a:chOff x="0" y="0"/>
          <a:chExt cx="0" cy="0"/>
        </a:xfrm>
      </p:grpSpPr>
      <p:sp>
        <p:nvSpPr>
          <p:cNvPr id="54" name="Google Shape;54;p7"/>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7"/>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7"/>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
        <p:nvSpPr>
          <p:cNvPr id="57" name="Google Shape;57;p7"/>
          <p:cNvSpPr/>
          <p:nvPr/>
        </p:nvSpPr>
        <p:spPr>
          <a:xfrm>
            <a:off x="440683"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7"/>
          <p:cNvSpPr txBox="1"/>
          <p:nvPr>
            <p:ph type="title"/>
          </p:nvPr>
        </p:nvSpPr>
        <p:spPr>
          <a:xfrm>
            <a:off x="575894"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9" name="Shape 59"/>
        <p:cNvGrpSpPr/>
        <p:nvPr/>
      </p:nvGrpSpPr>
      <p:grpSpPr>
        <a:xfrm>
          <a:off x="0" y="0"/>
          <a:ext cx="0" cy="0"/>
          <a:chOff x="0" y="0"/>
          <a:chExt cx="0" cy="0"/>
        </a:xfrm>
      </p:grpSpPr>
      <p:sp>
        <p:nvSpPr>
          <p:cNvPr id="60" name="Google Shape;60;p8"/>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8"/>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8"/>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3" name="Shape 63"/>
        <p:cNvGrpSpPr/>
        <p:nvPr/>
      </p:nvGrpSpPr>
      <p:grpSpPr>
        <a:xfrm>
          <a:off x="0" y="0"/>
          <a:ext cx="0" cy="0"/>
          <a:chOff x="0" y="0"/>
          <a:chExt cx="0" cy="0"/>
        </a:xfrm>
      </p:grpSpPr>
      <p:sp>
        <p:nvSpPr>
          <p:cNvPr id="64" name="Google Shape;64;p9"/>
          <p:cNvSpPr/>
          <p:nvPr/>
        </p:nvSpPr>
        <p:spPr>
          <a:xfrm>
            <a:off x="447817" y="5141973"/>
            <a:ext cx="11298200" cy="1274702"/>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9"/>
          <p:cNvSpPr txBox="1"/>
          <p:nvPr>
            <p:ph type="title"/>
          </p:nvPr>
        </p:nvSpPr>
        <p:spPr>
          <a:xfrm>
            <a:off x="581192" y="5262296"/>
            <a:ext cx="4909445" cy="6895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2D58AC"/>
              </a:buClr>
              <a:buSzPts val="2000"/>
              <a:buFont typeface="Gill Sans"/>
              <a:buNone/>
              <a:defRPr b="0" sz="200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9"/>
          <p:cNvSpPr txBox="1"/>
          <p:nvPr>
            <p:ph idx="1" type="body"/>
          </p:nvPr>
        </p:nvSpPr>
        <p:spPr>
          <a:xfrm>
            <a:off x="447816" y="601200"/>
            <a:ext cx="11292840" cy="4204800"/>
          </a:xfrm>
          <a:prstGeom prst="rect">
            <a:avLst/>
          </a:prstGeom>
          <a:noFill/>
          <a:ln>
            <a:noFill/>
          </a:ln>
        </p:spPr>
        <p:txBody>
          <a:bodyPr anchorCtr="0" anchor="ctr" bIns="45700" lIns="91425" spcFirstLastPara="1" rIns="91425" wrap="square" tIns="45700">
            <a:normAutofit/>
          </a:bodyPr>
          <a:lstStyle>
            <a:lvl1pPr indent="-345440" lvl="0" marL="457200" algn="l">
              <a:lnSpc>
                <a:spcPct val="100000"/>
              </a:lnSpc>
              <a:spcBef>
                <a:spcPts val="400"/>
              </a:spcBef>
              <a:spcAft>
                <a:spcPts val="0"/>
              </a:spcAft>
              <a:buSzPts val="1840"/>
              <a:buChar char="◼"/>
              <a:defRPr sz="2000">
                <a:solidFill>
                  <a:schemeClr val="dk2"/>
                </a:solidFill>
              </a:defRPr>
            </a:lvl1pPr>
            <a:lvl2pPr indent="-333756" lvl="1" marL="914400" algn="l">
              <a:lnSpc>
                <a:spcPct val="100000"/>
              </a:lnSpc>
              <a:spcBef>
                <a:spcPts val="600"/>
              </a:spcBef>
              <a:spcAft>
                <a:spcPts val="0"/>
              </a:spcAft>
              <a:buSzPts val="1656"/>
              <a:buChar char="◼"/>
              <a:defRPr sz="1800">
                <a:solidFill>
                  <a:schemeClr val="dk2"/>
                </a:solidFill>
              </a:defRPr>
            </a:lvl2pPr>
            <a:lvl3pPr indent="-322072" lvl="2" marL="1371600" algn="l">
              <a:lnSpc>
                <a:spcPct val="100000"/>
              </a:lnSpc>
              <a:spcBef>
                <a:spcPts val="600"/>
              </a:spcBef>
              <a:spcAft>
                <a:spcPts val="0"/>
              </a:spcAft>
              <a:buSzPts val="1472"/>
              <a:buChar char="◼"/>
              <a:defRPr sz="1600">
                <a:solidFill>
                  <a:schemeClr val="dk2"/>
                </a:solidFill>
              </a:defRPr>
            </a:lvl3pPr>
            <a:lvl4pPr indent="-310388" lvl="3" marL="1828800" algn="l">
              <a:lnSpc>
                <a:spcPct val="100000"/>
              </a:lnSpc>
              <a:spcBef>
                <a:spcPts val="600"/>
              </a:spcBef>
              <a:spcAft>
                <a:spcPts val="0"/>
              </a:spcAft>
              <a:buSzPts val="1288"/>
              <a:buChar char="◼"/>
              <a:defRPr sz="1400">
                <a:solidFill>
                  <a:schemeClr val="dk2"/>
                </a:solidFill>
              </a:defRPr>
            </a:lvl4pPr>
            <a:lvl5pPr indent="-310388" lvl="4" marL="2286000" algn="l">
              <a:lnSpc>
                <a:spcPct val="100000"/>
              </a:lnSpc>
              <a:spcBef>
                <a:spcPts val="600"/>
              </a:spcBef>
              <a:spcAft>
                <a:spcPts val="0"/>
              </a:spcAft>
              <a:buSzPts val="1288"/>
              <a:buChar char="◼"/>
              <a:defRPr sz="1400">
                <a:solidFill>
                  <a:schemeClr val="dk2"/>
                </a:solidFill>
              </a:defRPr>
            </a:lvl5pPr>
            <a:lvl6pPr indent="-310388" lvl="5" marL="2743200" algn="l">
              <a:lnSpc>
                <a:spcPct val="100000"/>
              </a:lnSpc>
              <a:spcBef>
                <a:spcPts val="600"/>
              </a:spcBef>
              <a:spcAft>
                <a:spcPts val="0"/>
              </a:spcAft>
              <a:buSzPts val="1288"/>
              <a:buChar char="◼"/>
              <a:defRPr sz="1400">
                <a:solidFill>
                  <a:schemeClr val="dk2"/>
                </a:solidFill>
              </a:defRPr>
            </a:lvl6pPr>
            <a:lvl7pPr indent="-310388" lvl="6" marL="3200400" algn="l">
              <a:lnSpc>
                <a:spcPct val="100000"/>
              </a:lnSpc>
              <a:spcBef>
                <a:spcPts val="600"/>
              </a:spcBef>
              <a:spcAft>
                <a:spcPts val="0"/>
              </a:spcAft>
              <a:buSzPts val="1288"/>
              <a:buChar char="◼"/>
              <a:defRPr sz="1400">
                <a:solidFill>
                  <a:schemeClr val="dk2"/>
                </a:solidFill>
              </a:defRPr>
            </a:lvl7pPr>
            <a:lvl8pPr indent="-310388" lvl="7" marL="3657600" algn="l">
              <a:lnSpc>
                <a:spcPct val="100000"/>
              </a:lnSpc>
              <a:spcBef>
                <a:spcPts val="600"/>
              </a:spcBef>
              <a:spcAft>
                <a:spcPts val="0"/>
              </a:spcAft>
              <a:buSzPts val="1288"/>
              <a:buChar char="◼"/>
              <a:defRPr sz="1400">
                <a:solidFill>
                  <a:schemeClr val="dk2"/>
                </a:solidFill>
              </a:defRPr>
            </a:lvl8pPr>
            <a:lvl9pPr indent="-310388" lvl="8" marL="4114800" algn="l">
              <a:lnSpc>
                <a:spcPct val="100000"/>
              </a:lnSpc>
              <a:spcBef>
                <a:spcPts val="600"/>
              </a:spcBef>
              <a:spcAft>
                <a:spcPts val="600"/>
              </a:spcAft>
              <a:buSzPts val="1288"/>
              <a:buChar char="◼"/>
              <a:defRPr sz="1400">
                <a:solidFill>
                  <a:schemeClr val="dk2"/>
                </a:solidFill>
              </a:defRPr>
            </a:lvl9pPr>
          </a:lstStyle>
          <a:p/>
        </p:txBody>
      </p:sp>
      <p:sp>
        <p:nvSpPr>
          <p:cNvPr id="67" name="Google Shape;67;p9"/>
          <p:cNvSpPr txBox="1"/>
          <p:nvPr>
            <p:ph idx="2" type="body"/>
          </p:nvPr>
        </p:nvSpPr>
        <p:spPr>
          <a:xfrm>
            <a:off x="5740823" y="5262296"/>
            <a:ext cx="5869987" cy="689515"/>
          </a:xfrm>
          <a:prstGeom prst="rect">
            <a:avLst/>
          </a:prstGeom>
          <a:noFill/>
          <a:ln>
            <a:noFill/>
          </a:ln>
        </p:spPr>
        <p:txBody>
          <a:bodyPr anchorCtr="0" anchor="ctr" bIns="45700" lIns="91425" spcFirstLastPara="1" rIns="91425" wrap="square" tIns="45700">
            <a:normAutofit/>
          </a:bodyPr>
          <a:lstStyle>
            <a:lvl1pPr indent="-228600" lvl="0" marL="457200" algn="r">
              <a:lnSpc>
                <a:spcPct val="100000"/>
              </a:lnSpc>
              <a:spcBef>
                <a:spcPts val="220"/>
              </a:spcBef>
              <a:spcAft>
                <a:spcPts val="0"/>
              </a:spcAft>
              <a:buSzPts val="1012"/>
              <a:buNone/>
              <a:defRPr sz="1100">
                <a:solidFill>
                  <a:schemeClr val="lt1"/>
                </a:solidFill>
              </a:defRPr>
            </a:lvl1pPr>
            <a:lvl2pPr indent="-228600" lvl="1" marL="914400" algn="l">
              <a:lnSpc>
                <a:spcPct val="100000"/>
              </a:lnSpc>
              <a:spcBef>
                <a:spcPts val="600"/>
              </a:spcBef>
              <a:spcAft>
                <a:spcPts val="0"/>
              </a:spcAft>
              <a:buSzPts val="1012"/>
              <a:buNone/>
              <a:defRPr sz="1100"/>
            </a:lvl2pPr>
            <a:lvl3pPr indent="-228600" lvl="2" marL="1371600" algn="l">
              <a:lnSpc>
                <a:spcPct val="100000"/>
              </a:lnSpc>
              <a:spcBef>
                <a:spcPts val="600"/>
              </a:spcBef>
              <a:spcAft>
                <a:spcPts val="0"/>
              </a:spcAft>
              <a:buSzPts val="920"/>
              <a:buNone/>
              <a:defRPr sz="1000"/>
            </a:lvl3pPr>
            <a:lvl4pPr indent="-228600" lvl="3" marL="1828800" algn="l">
              <a:lnSpc>
                <a:spcPct val="100000"/>
              </a:lnSpc>
              <a:spcBef>
                <a:spcPts val="600"/>
              </a:spcBef>
              <a:spcAft>
                <a:spcPts val="0"/>
              </a:spcAft>
              <a:buSzPts val="828"/>
              <a:buNone/>
              <a:defRPr sz="900"/>
            </a:lvl4pPr>
            <a:lvl5pPr indent="-228600" lvl="4" marL="2286000" algn="l">
              <a:lnSpc>
                <a:spcPct val="100000"/>
              </a:lnSpc>
              <a:spcBef>
                <a:spcPts val="600"/>
              </a:spcBef>
              <a:spcAft>
                <a:spcPts val="0"/>
              </a:spcAft>
              <a:buSzPts val="828"/>
              <a:buNone/>
              <a:defRPr sz="900"/>
            </a:lvl5pPr>
            <a:lvl6pPr indent="-228600" lvl="5" marL="2743200" algn="l">
              <a:lnSpc>
                <a:spcPct val="100000"/>
              </a:lnSpc>
              <a:spcBef>
                <a:spcPts val="600"/>
              </a:spcBef>
              <a:spcAft>
                <a:spcPts val="0"/>
              </a:spcAft>
              <a:buSzPts val="828"/>
              <a:buNone/>
              <a:defRPr sz="900"/>
            </a:lvl6pPr>
            <a:lvl7pPr indent="-228600" lvl="6" marL="3200400" algn="l">
              <a:lnSpc>
                <a:spcPct val="100000"/>
              </a:lnSpc>
              <a:spcBef>
                <a:spcPts val="600"/>
              </a:spcBef>
              <a:spcAft>
                <a:spcPts val="0"/>
              </a:spcAft>
              <a:buSzPts val="828"/>
              <a:buNone/>
              <a:defRPr sz="900"/>
            </a:lvl7pPr>
            <a:lvl8pPr indent="-228600" lvl="7" marL="3657600" algn="l">
              <a:lnSpc>
                <a:spcPct val="100000"/>
              </a:lnSpc>
              <a:spcBef>
                <a:spcPts val="600"/>
              </a:spcBef>
              <a:spcAft>
                <a:spcPts val="0"/>
              </a:spcAft>
              <a:buSzPts val="828"/>
              <a:buNone/>
              <a:defRPr sz="900"/>
            </a:lvl8pPr>
            <a:lvl9pPr indent="-228600" lvl="8" marL="4114800" algn="l">
              <a:lnSpc>
                <a:spcPct val="100000"/>
              </a:lnSpc>
              <a:spcBef>
                <a:spcPts val="600"/>
              </a:spcBef>
              <a:spcAft>
                <a:spcPts val="600"/>
              </a:spcAft>
              <a:buSzPts val="828"/>
              <a:buNone/>
              <a:defRPr sz="900"/>
            </a:lvl9pPr>
          </a:lstStyle>
          <a:p/>
        </p:txBody>
      </p:sp>
      <p:sp>
        <p:nvSpPr>
          <p:cNvPr id="68" name="Google Shape;68;p9"/>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9"/>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9"/>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71" name="Shape 71"/>
        <p:cNvGrpSpPr/>
        <p:nvPr/>
      </p:nvGrpSpPr>
      <p:grpSpPr>
        <a:xfrm>
          <a:off x="0" y="0"/>
          <a:ext cx="0" cy="0"/>
          <a:chOff x="0" y="0"/>
          <a:chExt cx="0" cy="0"/>
        </a:xfrm>
      </p:grpSpPr>
      <p:sp>
        <p:nvSpPr>
          <p:cNvPr id="72" name="Google Shape;72;p10"/>
          <p:cNvSpPr txBox="1"/>
          <p:nvPr>
            <p:ph type="title"/>
          </p:nvPr>
        </p:nvSpPr>
        <p:spPr>
          <a:xfrm>
            <a:off x="581193" y="4693389"/>
            <a:ext cx="11029616"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2400"/>
              <a:buFont typeface="Gill Sans"/>
              <a:buNone/>
              <a:defRPr b="0" sz="24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0"/>
          <p:cNvSpPr/>
          <p:nvPr>
            <p:ph idx="2" type="pic"/>
          </p:nvPr>
        </p:nvSpPr>
        <p:spPr>
          <a:xfrm>
            <a:off x="447817" y="599725"/>
            <a:ext cx="11290859" cy="3557252"/>
          </a:xfrm>
          <a:prstGeom prst="rect">
            <a:avLst/>
          </a:prstGeom>
          <a:noFill/>
          <a:ln>
            <a:noFill/>
          </a:ln>
        </p:spPr>
      </p:sp>
      <p:sp>
        <p:nvSpPr>
          <p:cNvPr id="74" name="Google Shape;74;p10"/>
          <p:cNvSpPr txBox="1"/>
          <p:nvPr>
            <p:ph idx="1" type="body"/>
          </p:nvPr>
        </p:nvSpPr>
        <p:spPr>
          <a:xfrm>
            <a:off x="581192" y="5260127"/>
            <a:ext cx="11029617" cy="598671"/>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240"/>
              </a:spcBef>
              <a:spcAft>
                <a:spcPts val="0"/>
              </a:spcAft>
              <a:buSzPts val="1104"/>
              <a:buNone/>
              <a:defRPr sz="1200"/>
            </a:lvl1pPr>
            <a:lvl2pPr indent="-228600" lvl="1" marL="914400" algn="l">
              <a:lnSpc>
                <a:spcPct val="100000"/>
              </a:lnSpc>
              <a:spcBef>
                <a:spcPts val="600"/>
              </a:spcBef>
              <a:spcAft>
                <a:spcPts val="0"/>
              </a:spcAft>
              <a:buSzPts val="1104"/>
              <a:buNone/>
              <a:defRPr sz="1200"/>
            </a:lvl2pPr>
            <a:lvl3pPr indent="-228600" lvl="2" marL="1371600" algn="l">
              <a:lnSpc>
                <a:spcPct val="100000"/>
              </a:lnSpc>
              <a:spcBef>
                <a:spcPts val="600"/>
              </a:spcBef>
              <a:spcAft>
                <a:spcPts val="0"/>
              </a:spcAft>
              <a:buSzPts val="920"/>
              <a:buNone/>
              <a:defRPr sz="1000"/>
            </a:lvl3pPr>
            <a:lvl4pPr indent="-228600" lvl="3" marL="1828800" algn="l">
              <a:lnSpc>
                <a:spcPct val="100000"/>
              </a:lnSpc>
              <a:spcBef>
                <a:spcPts val="600"/>
              </a:spcBef>
              <a:spcAft>
                <a:spcPts val="0"/>
              </a:spcAft>
              <a:buSzPts val="828"/>
              <a:buNone/>
              <a:defRPr sz="900"/>
            </a:lvl4pPr>
            <a:lvl5pPr indent="-228600" lvl="4" marL="2286000" algn="l">
              <a:lnSpc>
                <a:spcPct val="100000"/>
              </a:lnSpc>
              <a:spcBef>
                <a:spcPts val="600"/>
              </a:spcBef>
              <a:spcAft>
                <a:spcPts val="0"/>
              </a:spcAft>
              <a:buSzPts val="828"/>
              <a:buNone/>
              <a:defRPr sz="900"/>
            </a:lvl5pPr>
            <a:lvl6pPr indent="-228600" lvl="5" marL="2743200" algn="l">
              <a:lnSpc>
                <a:spcPct val="100000"/>
              </a:lnSpc>
              <a:spcBef>
                <a:spcPts val="600"/>
              </a:spcBef>
              <a:spcAft>
                <a:spcPts val="0"/>
              </a:spcAft>
              <a:buSzPts val="828"/>
              <a:buNone/>
              <a:defRPr sz="900"/>
            </a:lvl6pPr>
            <a:lvl7pPr indent="-228600" lvl="6" marL="3200400" algn="l">
              <a:lnSpc>
                <a:spcPct val="100000"/>
              </a:lnSpc>
              <a:spcBef>
                <a:spcPts val="600"/>
              </a:spcBef>
              <a:spcAft>
                <a:spcPts val="0"/>
              </a:spcAft>
              <a:buSzPts val="828"/>
              <a:buNone/>
              <a:defRPr sz="900"/>
            </a:lvl7pPr>
            <a:lvl8pPr indent="-228600" lvl="7" marL="3657600" algn="l">
              <a:lnSpc>
                <a:spcPct val="100000"/>
              </a:lnSpc>
              <a:spcBef>
                <a:spcPts val="600"/>
              </a:spcBef>
              <a:spcAft>
                <a:spcPts val="0"/>
              </a:spcAft>
              <a:buSzPts val="828"/>
              <a:buNone/>
              <a:defRPr sz="900"/>
            </a:lvl8pPr>
            <a:lvl9pPr indent="-228600" lvl="8" marL="4114800" algn="l">
              <a:lnSpc>
                <a:spcPct val="100000"/>
              </a:lnSpc>
              <a:spcBef>
                <a:spcPts val="600"/>
              </a:spcBef>
              <a:spcAft>
                <a:spcPts val="600"/>
              </a:spcAft>
              <a:buSzPts val="828"/>
              <a:buNone/>
              <a:defRPr sz="900"/>
            </a:lvl9pPr>
          </a:lstStyle>
          <a:p/>
        </p:txBody>
      </p:sp>
      <p:sp>
        <p:nvSpPr>
          <p:cNvPr id="75" name="Google Shape;75;p10"/>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0"/>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0"/>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8" name="Shape 78"/>
        <p:cNvGrpSpPr/>
        <p:nvPr/>
      </p:nvGrpSpPr>
      <p:grpSpPr>
        <a:xfrm>
          <a:off x="0" y="0"/>
          <a:ext cx="0" cy="0"/>
          <a:chOff x="0" y="0"/>
          <a:chExt cx="0" cy="0"/>
        </a:xfrm>
      </p:grpSpPr>
      <p:sp>
        <p:nvSpPr>
          <p:cNvPr id="79" name="Google Shape;79;p11"/>
          <p:cNvSpPr/>
          <p:nvPr/>
        </p:nvSpPr>
        <p:spPr>
          <a:xfrm>
            <a:off x="440286" y="614407"/>
            <a:ext cx="11309338" cy="118929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1"/>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1"/>
          <p:cNvSpPr txBox="1"/>
          <p:nvPr>
            <p:ph idx="1" type="body"/>
          </p:nvPr>
        </p:nvSpPr>
        <p:spPr>
          <a:xfrm rot="5400000">
            <a:off x="4334603" y="-1417408"/>
            <a:ext cx="3522794" cy="11029616"/>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22072" lvl="1" marL="914400" algn="l">
              <a:lnSpc>
                <a:spcPct val="100000"/>
              </a:lnSpc>
              <a:spcBef>
                <a:spcPts val="600"/>
              </a:spcBef>
              <a:spcAft>
                <a:spcPts val="0"/>
              </a:spcAft>
              <a:buSzPts val="1472"/>
              <a:buChar char="◼"/>
              <a:defRPr/>
            </a:lvl2pPr>
            <a:lvl3pPr indent="-310388" lvl="2" marL="1371600" algn="l">
              <a:lnSpc>
                <a:spcPct val="100000"/>
              </a:lnSpc>
              <a:spcBef>
                <a:spcPts val="600"/>
              </a:spcBef>
              <a:spcAft>
                <a:spcPts val="0"/>
              </a:spcAft>
              <a:buSzPts val="1288"/>
              <a:buChar char="◼"/>
              <a:defRPr/>
            </a:lvl3pPr>
            <a:lvl4pPr indent="-298704" lvl="3" marL="1828800" algn="l">
              <a:lnSpc>
                <a:spcPct val="100000"/>
              </a:lnSpc>
              <a:spcBef>
                <a:spcPts val="600"/>
              </a:spcBef>
              <a:spcAft>
                <a:spcPts val="0"/>
              </a:spcAft>
              <a:buSzPts val="1104"/>
              <a:buChar char="◼"/>
              <a:defRPr/>
            </a:lvl4pPr>
            <a:lvl5pPr indent="-298704" lvl="4" marL="2286000" algn="l">
              <a:lnSpc>
                <a:spcPct val="100000"/>
              </a:lnSpc>
              <a:spcBef>
                <a:spcPts val="600"/>
              </a:spcBef>
              <a:spcAft>
                <a:spcPts val="0"/>
              </a:spcAft>
              <a:buSzPts val="1104"/>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82" name="Google Shape;82;p11"/>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1"/>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1"/>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5" name="Shape 85"/>
        <p:cNvGrpSpPr/>
        <p:nvPr/>
      </p:nvGrpSpPr>
      <p:grpSpPr>
        <a:xfrm>
          <a:off x="0" y="0"/>
          <a:ext cx="0" cy="0"/>
          <a:chOff x="0" y="0"/>
          <a:chExt cx="0" cy="0"/>
        </a:xfrm>
      </p:grpSpPr>
      <p:sp>
        <p:nvSpPr>
          <p:cNvPr id="86" name="Google Shape;86;p12"/>
          <p:cNvSpPr/>
          <p:nvPr/>
        </p:nvSpPr>
        <p:spPr>
          <a:xfrm>
            <a:off x="8839201" y="599725"/>
            <a:ext cx="2906817" cy="581695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2"/>
          <p:cNvSpPr txBox="1"/>
          <p:nvPr>
            <p:ph type="title"/>
          </p:nvPr>
        </p:nvSpPr>
        <p:spPr>
          <a:xfrm rot="5400000">
            <a:off x="7249746" y="2265181"/>
            <a:ext cx="5183073" cy="200416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2"/>
          <p:cNvSpPr txBox="1"/>
          <p:nvPr>
            <p:ph idx="1" type="body"/>
          </p:nvPr>
        </p:nvSpPr>
        <p:spPr>
          <a:xfrm rot="5400000">
            <a:off x="2131526" y="-680877"/>
            <a:ext cx="5183073" cy="7896279"/>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89" name="Google Shape;89;p12"/>
          <p:cNvSpPr txBox="1"/>
          <p:nvPr>
            <p:ph idx="10" type="dt"/>
          </p:nvPr>
        </p:nvSpPr>
        <p:spPr>
          <a:xfrm>
            <a:off x="8993673" y="5956137"/>
            <a:ext cx="1328141"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2"/>
          <p:cNvSpPr txBox="1"/>
          <p:nvPr>
            <p:ph idx="11" type="ftr"/>
          </p:nvPr>
        </p:nvSpPr>
        <p:spPr>
          <a:xfrm>
            <a:off x="774923" y="5951811"/>
            <a:ext cx="789627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2"/>
          <p:cNvSpPr txBox="1"/>
          <p:nvPr>
            <p:ph idx="12" type="sldNum"/>
          </p:nvPr>
        </p:nvSpPr>
        <p:spPr>
          <a:xfrm>
            <a:off x="10446615" y="5956137"/>
            <a:ext cx="116419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81192" y="705124"/>
            <a:ext cx="11029616" cy="1189554"/>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chemeClr val="lt1"/>
              </a:buClr>
              <a:buSzPts val="2800"/>
              <a:buFont typeface="Gill Sans"/>
              <a:buNone/>
              <a:defRPr b="0" i="0" sz="2800" u="none" cap="none" strike="noStrike">
                <a:solidFill>
                  <a:schemeClr val="lt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581192" y="2336003"/>
            <a:ext cx="11029616" cy="3522794"/>
          </a:xfrm>
          <a:prstGeom prst="rect">
            <a:avLst/>
          </a:prstGeom>
          <a:noFill/>
          <a:ln>
            <a:noFill/>
          </a:ln>
        </p:spPr>
        <p:txBody>
          <a:bodyPr anchorCtr="0" anchor="ctr" bIns="45700" lIns="91425" spcFirstLastPara="1" rIns="91425" wrap="square" tIns="45700">
            <a:normAutofit/>
          </a:bodyPr>
          <a:lstStyle>
            <a:lvl1pPr indent="-333756" lvl="0" marL="457200" marR="0" rtl="0" algn="l">
              <a:lnSpc>
                <a:spcPct val="100000"/>
              </a:lnSpc>
              <a:spcBef>
                <a:spcPts val="360"/>
              </a:spcBef>
              <a:spcAft>
                <a:spcPts val="0"/>
              </a:spcAft>
              <a:buClr>
                <a:schemeClr val="accent2"/>
              </a:buClr>
              <a:buSzPts val="1656"/>
              <a:buFont typeface="Noto Sans Symbols"/>
              <a:buChar char="◼"/>
              <a:defRPr b="0" i="0" sz="1800" u="none" cap="none" strike="noStrike">
                <a:solidFill>
                  <a:schemeClr val="dk2"/>
                </a:solidFill>
                <a:latin typeface="Gill Sans"/>
                <a:ea typeface="Gill Sans"/>
                <a:cs typeface="Gill Sans"/>
                <a:sym typeface="Gill Sans"/>
              </a:defRPr>
            </a:lvl1pPr>
            <a:lvl2pPr indent="-322072" lvl="1" marL="914400" marR="0" rtl="0" algn="l">
              <a:lnSpc>
                <a:spcPct val="100000"/>
              </a:lnSpc>
              <a:spcBef>
                <a:spcPts val="600"/>
              </a:spcBef>
              <a:spcAft>
                <a:spcPts val="0"/>
              </a:spcAft>
              <a:buClr>
                <a:schemeClr val="accent2"/>
              </a:buClr>
              <a:buSzPts val="1472"/>
              <a:buFont typeface="Noto Sans Symbols"/>
              <a:buChar char="◼"/>
              <a:defRPr b="0" i="0" sz="1600" u="none" cap="none" strike="noStrike">
                <a:solidFill>
                  <a:schemeClr val="dk2"/>
                </a:solidFill>
                <a:latin typeface="Gill Sans"/>
                <a:ea typeface="Gill Sans"/>
                <a:cs typeface="Gill Sans"/>
                <a:sym typeface="Gill Sans"/>
              </a:defRPr>
            </a:lvl2pPr>
            <a:lvl3pPr indent="-310388" lvl="2" marL="1371600" marR="0" rtl="0" algn="l">
              <a:lnSpc>
                <a:spcPct val="100000"/>
              </a:lnSpc>
              <a:spcBef>
                <a:spcPts val="600"/>
              </a:spcBef>
              <a:spcAft>
                <a:spcPts val="0"/>
              </a:spcAft>
              <a:buClr>
                <a:schemeClr val="accent2"/>
              </a:buClr>
              <a:buSzPts val="1288"/>
              <a:buFont typeface="Noto Sans Symbols"/>
              <a:buChar char="◼"/>
              <a:defRPr b="0" i="0" sz="1400" u="none" cap="none" strike="noStrike">
                <a:solidFill>
                  <a:schemeClr val="dk2"/>
                </a:solidFill>
                <a:latin typeface="Gill Sans"/>
                <a:ea typeface="Gill Sans"/>
                <a:cs typeface="Gill Sans"/>
                <a:sym typeface="Gill Sans"/>
              </a:defRPr>
            </a:lvl3pPr>
            <a:lvl4pPr indent="-298704" lvl="3" marL="18288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4pPr>
            <a:lvl5pPr indent="-298704" lvl="4" marL="22860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5pPr>
            <a:lvl6pPr indent="-298704" lvl="5" marL="27432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6pPr>
            <a:lvl7pPr indent="-298704" lvl="6" marL="32004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7pPr>
            <a:lvl8pPr indent="-298704" lvl="7" marL="36576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8pPr>
            <a:lvl9pPr indent="-298704" lvl="8" marL="4114800" marR="0" rtl="0" algn="l">
              <a:lnSpc>
                <a:spcPct val="100000"/>
              </a:lnSpc>
              <a:spcBef>
                <a:spcPts val="600"/>
              </a:spcBef>
              <a:spcAft>
                <a:spcPts val="60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9pPr>
          </a:lstStyle>
          <a:p/>
        </p:txBody>
      </p:sp>
      <p:sp>
        <p:nvSpPr>
          <p:cNvPr id="8" name="Google Shape;8;p1"/>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900" u="none" cap="none" strike="noStrike">
                <a:solidFill>
                  <a:schemeClr val="accent2"/>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9" name="Google Shape;9;p1"/>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accent2"/>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10" name="Google Shape;10;p1"/>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
        <p:nvSpPr>
          <p:cNvPr id="11" name="Google Shape;11;p1"/>
          <p:cNvSpPr/>
          <p:nvPr/>
        </p:nvSpPr>
        <p:spPr>
          <a:xfrm>
            <a:off x="446534" y="457200"/>
            <a:ext cx="3703320" cy="9499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
          <p:cNvSpPr/>
          <p:nvPr/>
        </p:nvSpPr>
        <p:spPr>
          <a:xfrm>
            <a:off x="8042147" y="453643"/>
            <a:ext cx="3703320" cy="98554"/>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
          <p:cNvSpPr/>
          <p:nvPr/>
        </p:nvSpPr>
        <p:spPr>
          <a:xfrm>
            <a:off x="4241830" y="457200"/>
            <a:ext cx="3703320" cy="9144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ec.edu" TargetMode="External"/><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3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4.pn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9.png"/><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1.png"/><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9.png"/><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5.png"/><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3.png"/><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3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3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3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3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3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3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3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3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3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3"/>
          <p:cNvSpPr txBox="1"/>
          <p:nvPr>
            <p:ph type="ctrTitle"/>
          </p:nvPr>
        </p:nvSpPr>
        <p:spPr>
          <a:xfrm>
            <a:off x="599226" y="3158569"/>
            <a:ext cx="10993549" cy="1578409"/>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lt1"/>
              </a:buClr>
              <a:buSzPts val="3600"/>
              <a:buFont typeface="Gill Sans"/>
              <a:buNone/>
            </a:pPr>
            <a:r>
              <a:rPr lang="es-ES">
                <a:solidFill>
                  <a:schemeClr val="lt1"/>
                </a:solidFill>
              </a:rPr>
              <a:t>MANUAL</a:t>
            </a:r>
            <a:br>
              <a:rPr lang="es-ES">
                <a:solidFill>
                  <a:schemeClr val="lt1"/>
                </a:solidFill>
              </a:rPr>
            </a:br>
            <a:r>
              <a:rPr lang="es-ES">
                <a:solidFill>
                  <a:schemeClr val="lt1"/>
                </a:solidFill>
              </a:rPr>
              <a:t>CONVERSIÓN UNIDADES </a:t>
            </a:r>
            <a:r>
              <a:rPr lang="es-ES">
                <a:solidFill>
                  <a:schemeClr val="lt1"/>
                </a:solidFill>
              </a:rPr>
              <a:t>SOAP JAVA</a:t>
            </a:r>
            <a:endParaRPr/>
          </a:p>
        </p:txBody>
      </p:sp>
      <p:sp>
        <p:nvSpPr>
          <p:cNvPr id="97" name="Google Shape;97;p13"/>
          <p:cNvSpPr txBox="1"/>
          <p:nvPr>
            <p:ph idx="1" type="subTitle"/>
          </p:nvPr>
        </p:nvSpPr>
        <p:spPr>
          <a:xfrm>
            <a:off x="599226" y="4572000"/>
            <a:ext cx="4261531" cy="1812758"/>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72"/>
              <a:buNone/>
            </a:pPr>
            <a:r>
              <a:t/>
            </a:r>
            <a:endParaRPr b="1">
              <a:solidFill>
                <a:schemeClr val="lt1"/>
              </a:solidFill>
            </a:endParaRPr>
          </a:p>
          <a:p>
            <a:pPr indent="0" lvl="0" marL="0" rtl="0" algn="l">
              <a:lnSpc>
                <a:spcPct val="100000"/>
              </a:lnSpc>
              <a:spcBef>
                <a:spcPts val="920"/>
              </a:spcBef>
              <a:spcAft>
                <a:spcPts val="0"/>
              </a:spcAft>
              <a:buSzPts val="1472"/>
              <a:buNone/>
            </a:pPr>
            <a:r>
              <a:rPr b="1" lang="es-ES">
                <a:solidFill>
                  <a:schemeClr val="lt1"/>
                </a:solidFill>
              </a:rPr>
              <a:t>INTEGRANTES:</a:t>
            </a:r>
            <a:r>
              <a:rPr lang="es-ES">
                <a:solidFill>
                  <a:schemeClr val="lt1"/>
                </a:solidFill>
              </a:rPr>
              <a:t> 	BENAVIDES RUBEN					GUEVARA ARIEL			         	MUNARCO JHON</a:t>
            </a:r>
            <a:endParaRPr>
              <a:solidFill>
                <a:schemeClr val="lt1"/>
              </a:solidFill>
            </a:endParaRPr>
          </a:p>
        </p:txBody>
      </p:sp>
      <p:pic>
        <p:nvPicPr>
          <p:cNvPr descr="Resultado de imagen para espe" id="98" name="Google Shape;98;p13"/>
          <p:cNvPicPr preferRelativeResize="0"/>
          <p:nvPr/>
        </p:nvPicPr>
        <p:blipFill rotWithShape="1">
          <a:blip r:embed="rId3">
            <a:alphaModFix/>
          </a:blip>
          <a:srcRect b="0" l="0" r="0" t="0"/>
          <a:stretch/>
        </p:blipFill>
        <p:spPr>
          <a:xfrm>
            <a:off x="319597" y="716302"/>
            <a:ext cx="11647502" cy="2193925"/>
          </a:xfrm>
          <a:prstGeom prst="rect">
            <a:avLst/>
          </a:prstGeom>
          <a:noFill/>
          <a:ln>
            <a:noFill/>
          </a:ln>
        </p:spPr>
      </p:pic>
      <p:sp>
        <p:nvSpPr>
          <p:cNvPr id="99" name="Google Shape;99;p13"/>
          <p:cNvSpPr txBox="1"/>
          <p:nvPr/>
        </p:nvSpPr>
        <p:spPr>
          <a:xfrm>
            <a:off x="9037063" y="5301801"/>
            <a:ext cx="4261531" cy="1235358"/>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4590B8"/>
              </a:buClr>
              <a:buSzPts val="1472"/>
              <a:buFont typeface="Noto Sans Symbols"/>
              <a:buNone/>
            </a:pPr>
            <a:r>
              <a:rPr b="1" i="0" lang="es-ES" sz="1600" u="none" cap="none" strike="noStrike">
                <a:solidFill>
                  <a:srgbClr val="FFFFFF"/>
                </a:solidFill>
                <a:latin typeface="Gill Sans"/>
                <a:ea typeface="Gill Sans"/>
                <a:cs typeface="Gill Sans"/>
                <a:sym typeface="Gill Sans"/>
              </a:rPr>
              <a:t>FECHA:  </a:t>
            </a:r>
            <a:r>
              <a:rPr b="1" lang="es-ES" sz="1600">
                <a:solidFill>
                  <a:srgbClr val="FFFFFF"/>
                </a:solidFill>
                <a:latin typeface="Gill Sans"/>
                <a:ea typeface="Gill Sans"/>
                <a:cs typeface="Gill Sans"/>
                <a:sym typeface="Gill Sans"/>
              </a:rPr>
              <a:t>13/05/2025</a:t>
            </a:r>
            <a:endParaRPr b="0" i="0" sz="1600" u="none" cap="none" strike="noStrike">
              <a:solidFill>
                <a:srgbClr val="FFFFFF"/>
              </a:solidFill>
              <a:latin typeface="Gill Sans"/>
              <a:ea typeface="Gill Sans"/>
              <a:cs typeface="Gill Sans"/>
              <a:sym typeface="Gill Sans"/>
            </a:endParaRPr>
          </a:p>
          <a:p>
            <a:pPr indent="0" lvl="0" marL="0" marR="0" rtl="0" algn="l">
              <a:lnSpc>
                <a:spcPct val="100000"/>
              </a:lnSpc>
              <a:spcBef>
                <a:spcPts val="920"/>
              </a:spcBef>
              <a:spcAft>
                <a:spcPts val="0"/>
              </a:spcAft>
              <a:buClr>
                <a:srgbClr val="4590B8"/>
              </a:buClr>
              <a:buSzPts val="1472"/>
              <a:buFont typeface="Noto Sans Symbols"/>
              <a:buNone/>
            </a:pPr>
            <a:r>
              <a:rPr b="1" i="0" lang="es-ES" sz="1600" u="none" cap="none" strike="noStrike">
                <a:solidFill>
                  <a:srgbClr val="FFFFFF"/>
                </a:solidFill>
                <a:latin typeface="Gill Sans"/>
                <a:ea typeface="Gill Sans"/>
                <a:cs typeface="Gill Sans"/>
                <a:sym typeface="Gill Sans"/>
              </a:rPr>
              <a:t>ING: </a:t>
            </a:r>
            <a:r>
              <a:rPr b="0" i="0" lang="es-ES" sz="1600" u="none" cap="none" strike="noStrike">
                <a:solidFill>
                  <a:srgbClr val="FFFFFF"/>
                </a:solidFill>
                <a:latin typeface="Gill Sans"/>
                <a:ea typeface="Gill Sans"/>
                <a:cs typeface="Gill Sans"/>
                <a:sym typeface="Gill Sans"/>
              </a:rPr>
              <a:t>CAMPAÑA MAURICIO</a:t>
            </a:r>
            <a:endParaRPr b="1" i="0" sz="1600" u="none" cap="none" strike="noStrike">
              <a:solidFill>
                <a:srgbClr val="FFFFFF"/>
              </a:solidFill>
              <a:latin typeface="Gill Sans"/>
              <a:ea typeface="Gill Sans"/>
              <a:cs typeface="Gill Sans"/>
              <a:sym typeface="Gill Sans"/>
            </a:endParaRPr>
          </a:p>
        </p:txBody>
      </p:sp>
      <p:sp>
        <p:nvSpPr>
          <p:cNvPr id="100" name="Google Shape;100;p13"/>
          <p:cNvSpPr txBox="1"/>
          <p:nvPr/>
        </p:nvSpPr>
        <p:spPr>
          <a:xfrm>
            <a:off x="11817675" y="6474048"/>
            <a:ext cx="37432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Gill Sans"/>
              <a:buNone/>
            </a:pPr>
            <a:r>
              <a:rPr b="0" i="0" lang="es-ES" sz="2000" u="none" cap="none" strike="noStrike">
                <a:solidFill>
                  <a:srgbClr val="000000"/>
                </a:solidFill>
                <a:latin typeface="Gill Sans"/>
                <a:ea typeface="Gill Sans"/>
                <a:cs typeface="Gill Sans"/>
                <a:sym typeface="Gill Sans"/>
              </a:rPr>
              <a:t>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 name="Shape 104"/>
        <p:cNvGrpSpPr/>
        <p:nvPr/>
      </p:nvGrpSpPr>
      <p:grpSpPr>
        <a:xfrm>
          <a:off x="0" y="0"/>
          <a:ext cx="0" cy="0"/>
          <a:chOff x="0" y="0"/>
          <a:chExt cx="0" cy="0"/>
        </a:xfrm>
      </p:grpSpPr>
      <p:sp>
        <p:nvSpPr>
          <p:cNvPr id="105" name="Google Shape;105;p14"/>
          <p:cNvSpPr/>
          <p:nvPr/>
        </p:nvSpPr>
        <p:spPr>
          <a:xfrm>
            <a:off x="0" y="614406"/>
            <a:ext cx="12192000" cy="624359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Gill Sans"/>
              <a:buNone/>
            </a:pPr>
            <a:r>
              <a:t/>
            </a:r>
            <a:endParaRPr b="0" i="0" sz="1800" u="none" cap="none" strike="noStrike">
              <a:solidFill>
                <a:srgbClr val="FFFFFF"/>
              </a:solidFill>
              <a:latin typeface="Gill Sans"/>
              <a:ea typeface="Gill Sans"/>
              <a:cs typeface="Gill Sans"/>
              <a:sym typeface="Gill Sans"/>
            </a:endParaRPr>
          </a:p>
        </p:txBody>
      </p:sp>
      <p:sp>
        <p:nvSpPr>
          <p:cNvPr id="106" name="Google Shape;106;p14"/>
          <p:cNvSpPr/>
          <p:nvPr/>
        </p:nvSpPr>
        <p:spPr>
          <a:xfrm>
            <a:off x="442377" y="614407"/>
            <a:ext cx="3707477" cy="5611772"/>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07" name="Google Shape;107;p14"/>
          <p:cNvSpPr txBox="1"/>
          <p:nvPr>
            <p:ph idx="1" type="body"/>
          </p:nvPr>
        </p:nvSpPr>
        <p:spPr>
          <a:xfrm>
            <a:off x="596348" y="701336"/>
            <a:ext cx="3389726" cy="5424255"/>
          </a:xfrm>
          <a:prstGeom prst="rect">
            <a:avLst/>
          </a:prstGeom>
          <a:noFill/>
          <a:ln>
            <a:noFill/>
          </a:ln>
        </p:spPr>
        <p:txBody>
          <a:bodyPr anchorCtr="0" anchor="ctr" bIns="45700" lIns="91425" spcFirstLastPara="1" rIns="91425" wrap="square" tIns="45700">
            <a:normAutofit lnSpcReduction="10000"/>
          </a:bodyPr>
          <a:lstStyle/>
          <a:p>
            <a:pPr indent="-306000" lvl="0" marL="306000" rtl="0" algn="l">
              <a:lnSpc>
                <a:spcPct val="100000"/>
              </a:lnSpc>
              <a:spcBef>
                <a:spcPts val="0"/>
              </a:spcBef>
              <a:spcAft>
                <a:spcPts val="0"/>
              </a:spcAft>
              <a:buSzPts val="1656"/>
              <a:buChar char="◼"/>
            </a:pPr>
            <a:r>
              <a:rPr lang="es-ES">
                <a:solidFill>
                  <a:schemeClr val="lt1"/>
                </a:solidFill>
              </a:rPr>
              <a:t>DESARROLLO</a:t>
            </a:r>
            <a:endParaRPr/>
          </a:p>
          <a:p>
            <a:pPr indent="-320020" lvl="1" marL="630000" rtl="0" algn="l">
              <a:lnSpc>
                <a:spcPct val="100000"/>
              </a:lnSpc>
              <a:spcBef>
                <a:spcPts val="872"/>
              </a:spcBef>
              <a:spcAft>
                <a:spcPts val="0"/>
              </a:spcAft>
              <a:buSzPts val="1472"/>
              <a:buChar char="◼"/>
            </a:pPr>
            <a:r>
              <a:rPr lang="es-ES">
                <a:solidFill>
                  <a:schemeClr val="lt1"/>
                </a:solidFill>
              </a:rPr>
              <a:t>OBJETIVO</a:t>
            </a:r>
            <a:endParaRPr/>
          </a:p>
          <a:p>
            <a:pPr indent="-320020" lvl="1" marL="630000" rtl="0" algn="l">
              <a:lnSpc>
                <a:spcPct val="100000"/>
              </a:lnSpc>
              <a:spcBef>
                <a:spcPts val="872"/>
              </a:spcBef>
              <a:spcAft>
                <a:spcPts val="0"/>
              </a:spcAft>
              <a:buSzPts val="1472"/>
              <a:buChar char="◼"/>
            </a:pPr>
            <a:r>
              <a:rPr lang="es-ES">
                <a:solidFill>
                  <a:schemeClr val="lt1"/>
                </a:solidFill>
              </a:rPr>
              <a:t>CREACIÓN DEL SERVIDOR SOAP EN JAVA</a:t>
            </a:r>
            <a:endParaRPr/>
          </a:p>
          <a:p>
            <a:pPr indent="-320020" lvl="1" marL="630000" rtl="0" algn="l">
              <a:lnSpc>
                <a:spcPct val="100000"/>
              </a:lnSpc>
              <a:spcBef>
                <a:spcPts val="872"/>
              </a:spcBef>
              <a:spcAft>
                <a:spcPts val="0"/>
              </a:spcAft>
              <a:buSzPts val="1472"/>
              <a:buChar char="◼"/>
            </a:pPr>
            <a:r>
              <a:rPr lang="es-ES" sz="1800">
                <a:solidFill>
                  <a:schemeClr val="lt1"/>
                </a:solidFill>
              </a:rPr>
              <a:t>CREACIÓN DEL PROYECTO – CLIENTE CONSOLA</a:t>
            </a:r>
            <a:endParaRPr/>
          </a:p>
          <a:p>
            <a:pPr indent="-320020" lvl="1" marL="630000" rtl="0" algn="l">
              <a:lnSpc>
                <a:spcPct val="100000"/>
              </a:lnSpc>
              <a:spcBef>
                <a:spcPts val="872"/>
              </a:spcBef>
              <a:spcAft>
                <a:spcPts val="0"/>
              </a:spcAft>
              <a:buSzPts val="1472"/>
              <a:buChar char="◼"/>
            </a:pPr>
            <a:r>
              <a:rPr lang="es-ES" sz="1800">
                <a:solidFill>
                  <a:schemeClr val="lt1"/>
                </a:solidFill>
              </a:rPr>
              <a:t>CREACIÓN DEL PROYECTO – CLIENTE ESCRITORIO</a:t>
            </a:r>
            <a:endParaRPr/>
          </a:p>
          <a:p>
            <a:pPr indent="-320020" lvl="1" marL="630000" rtl="0" algn="l">
              <a:lnSpc>
                <a:spcPct val="100000"/>
              </a:lnSpc>
              <a:spcBef>
                <a:spcPts val="872"/>
              </a:spcBef>
              <a:spcAft>
                <a:spcPts val="0"/>
              </a:spcAft>
              <a:buSzPts val="1472"/>
              <a:buChar char="◼"/>
            </a:pPr>
            <a:r>
              <a:rPr lang="es-ES" sz="1800">
                <a:solidFill>
                  <a:schemeClr val="lt1"/>
                </a:solidFill>
              </a:rPr>
              <a:t>CREACIÓN DEL PROYECTO – CLIENTE WEB</a:t>
            </a:r>
            <a:endParaRPr/>
          </a:p>
          <a:p>
            <a:pPr indent="-320020" lvl="1" marL="630000" rtl="0" algn="l">
              <a:lnSpc>
                <a:spcPct val="100000"/>
              </a:lnSpc>
              <a:spcBef>
                <a:spcPts val="872"/>
              </a:spcBef>
              <a:spcAft>
                <a:spcPts val="0"/>
              </a:spcAft>
              <a:buSzPts val="1472"/>
              <a:buChar char="◼"/>
            </a:pPr>
            <a:r>
              <a:rPr lang="es-ES" sz="1800">
                <a:solidFill>
                  <a:schemeClr val="lt1"/>
                </a:solidFill>
              </a:rPr>
              <a:t>CREACIÓN DEL PROYECTO – CLIENTE MÓVIL</a:t>
            </a:r>
            <a:endParaRPr/>
          </a:p>
          <a:p>
            <a:pPr indent="-306000" lvl="0" marL="306000" marR="0" rtl="0" algn="l">
              <a:lnSpc>
                <a:spcPct val="100000"/>
              </a:lnSpc>
              <a:spcBef>
                <a:spcPts val="906"/>
              </a:spcBef>
              <a:spcAft>
                <a:spcPts val="0"/>
              </a:spcAft>
              <a:buSzPts val="1656"/>
              <a:buChar char="◼"/>
            </a:pPr>
            <a:r>
              <a:rPr lang="es-ES">
                <a:solidFill>
                  <a:schemeClr val="lt1"/>
                </a:solidFill>
              </a:rPr>
              <a:t>CONCLUSIONES</a:t>
            </a:r>
            <a:endParaRPr/>
          </a:p>
          <a:p>
            <a:pPr indent="-306000" lvl="0" marL="306000" marR="0" rtl="0" algn="l">
              <a:lnSpc>
                <a:spcPct val="100000"/>
              </a:lnSpc>
              <a:spcBef>
                <a:spcPts val="906"/>
              </a:spcBef>
              <a:spcAft>
                <a:spcPts val="0"/>
              </a:spcAft>
              <a:buSzPts val="1656"/>
              <a:buChar char="◼"/>
            </a:pPr>
            <a:r>
              <a:rPr lang="es-ES">
                <a:solidFill>
                  <a:schemeClr val="lt1"/>
                </a:solidFill>
              </a:rPr>
              <a:t>RECOMENDACIONES</a:t>
            </a:r>
            <a:endParaRPr/>
          </a:p>
        </p:txBody>
      </p:sp>
      <p:pic>
        <p:nvPicPr>
          <p:cNvPr descr="Resultado de imagen para AGENDA PNG" id="108" name="Google Shape;108;p14"/>
          <p:cNvPicPr preferRelativeResize="0"/>
          <p:nvPr/>
        </p:nvPicPr>
        <p:blipFill rotWithShape="1">
          <a:blip r:embed="rId3">
            <a:alphaModFix/>
          </a:blip>
          <a:srcRect b="0" l="0" r="0" t="0"/>
          <a:stretch/>
        </p:blipFill>
        <p:spPr>
          <a:xfrm>
            <a:off x="4791522" y="1935576"/>
            <a:ext cx="6489819" cy="3007477"/>
          </a:xfrm>
          <a:prstGeom prst="rect">
            <a:avLst/>
          </a:prstGeom>
          <a:noFill/>
          <a:ln>
            <a:noFill/>
          </a:ln>
        </p:spPr>
      </p:pic>
      <p:sp>
        <p:nvSpPr>
          <p:cNvPr id="109" name="Google Shape;109;p14"/>
          <p:cNvSpPr txBox="1"/>
          <p:nvPr/>
        </p:nvSpPr>
        <p:spPr>
          <a:xfrm>
            <a:off x="11817675" y="6474048"/>
            <a:ext cx="37432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Gill Sans"/>
              <a:buNone/>
            </a:pPr>
            <a:r>
              <a:rPr b="0" i="0" lang="es-ES" sz="2000" u="none" cap="none" strike="noStrike">
                <a:solidFill>
                  <a:srgbClr val="000000"/>
                </a:solidFill>
                <a:latin typeface="Gill Sans"/>
                <a:ea typeface="Gill Sans"/>
                <a:cs typeface="Gill Sans"/>
                <a:sym typeface="Gill Sans"/>
              </a:rPr>
              <a:t>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15" name="Google Shape;115;p15"/>
          <p:cNvSpPr txBox="1"/>
          <p:nvPr>
            <p:ph idx="1" type="body"/>
          </p:nvPr>
        </p:nvSpPr>
        <p:spPr>
          <a:xfrm>
            <a:off x="581192" y="2180496"/>
            <a:ext cx="8589300" cy="36783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656"/>
              <a:buChar char="∙"/>
            </a:pPr>
            <a:r>
              <a:rPr b="1" lang="es-ES">
                <a:latin typeface="Cambria"/>
                <a:ea typeface="Cambria"/>
                <a:cs typeface="Cambria"/>
                <a:sym typeface="Cambria"/>
              </a:rPr>
              <a:t>1</a:t>
            </a:r>
            <a:r>
              <a:rPr b="1" lang="es-ES" sz="1800">
                <a:latin typeface="Cambria"/>
                <a:ea typeface="Cambria"/>
                <a:cs typeface="Cambria"/>
                <a:sym typeface="Cambria"/>
              </a:rPr>
              <a:t>.1	OBJETIVO</a:t>
            </a:r>
            <a:endParaRPr b="1"/>
          </a:p>
          <a:p>
            <a:pPr indent="-237744"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a:p>
            <a:pPr indent="-333756" lvl="0" marL="457200" rtl="0" algn="just">
              <a:lnSpc>
                <a:spcPct val="107000"/>
              </a:lnSpc>
              <a:spcBef>
                <a:spcPts val="0"/>
              </a:spcBef>
              <a:spcAft>
                <a:spcPts val="0"/>
              </a:spcAft>
              <a:buSzPts val="1656"/>
              <a:buChar char="∙"/>
            </a:pPr>
            <a:r>
              <a:rPr lang="es-ES">
                <a:latin typeface="Cambria"/>
                <a:ea typeface="Cambria"/>
                <a:cs typeface="Cambria"/>
                <a:sym typeface="Cambria"/>
              </a:rPr>
              <a:t>Desarrollar e implementar un Web Service utilizando SOAP mediante JAVA para realizar conversiones de unidades.</a:t>
            </a:r>
            <a:endParaRPr>
              <a:latin typeface="Cambria"/>
              <a:ea typeface="Cambria"/>
              <a:cs typeface="Cambria"/>
              <a:sym typeface="Cambria"/>
            </a:endParaRPr>
          </a:p>
        </p:txBody>
      </p:sp>
      <p:sp>
        <p:nvSpPr>
          <p:cNvPr id="116" name="Google Shape;116;p1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OBJETIVO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SERVIDOR SOAP</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1" i="0" sz="1200" u="none" cap="none" strike="noStrike">
              <a:solidFill>
                <a:schemeClr val="lt1"/>
              </a:solidFill>
              <a:latin typeface="Gill Sans"/>
              <a:ea typeface="Gill Sans"/>
              <a:cs typeface="Gill Sans"/>
              <a:sym typeface="Gill Sans"/>
            </a:endParaRPr>
          </a:p>
          <a:p>
            <a:pPr indent="-306000" lvl="1" marL="763200" marR="0" rtl="0" algn="l">
              <a:lnSpc>
                <a:spcPct val="100000"/>
              </a:lnSpc>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MÓVIL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2180500"/>
            <a:ext cx="8589300" cy="16335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1.2.1 	Servidor Payara</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a:latin typeface="Cambria"/>
                <a:ea typeface="Cambria"/>
                <a:cs typeface="Cambria"/>
                <a:sym typeface="Cambria"/>
              </a:rPr>
              <a:t>En primer lugar, en NetBeans 29, en la sección de Servicios se crea un servidor, específicamente Payara.</a:t>
            </a:r>
            <a:endParaRPr>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124" name="Google Shape;124;p16"/>
          <p:cNvPicPr preferRelativeResize="0"/>
          <p:nvPr/>
        </p:nvPicPr>
        <p:blipFill>
          <a:blip r:embed="rId3">
            <a:alphaModFix/>
          </a:blip>
          <a:stretch>
            <a:fillRect/>
          </a:stretch>
        </p:blipFill>
        <p:spPr>
          <a:xfrm>
            <a:off x="2594613" y="3539075"/>
            <a:ext cx="4562475" cy="3143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30" name="Google Shape;130;p17"/>
          <p:cNvSpPr txBox="1"/>
          <p:nvPr>
            <p:ph idx="1" type="body"/>
          </p:nvPr>
        </p:nvSpPr>
        <p:spPr>
          <a:xfrm>
            <a:off x="581200" y="1781575"/>
            <a:ext cx="8589300" cy="16335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656"/>
              <a:buFont typeface="Noto Sans Symbols"/>
              <a:buChar char="∙"/>
            </a:pPr>
            <a:r>
              <a:rPr lang="es-ES">
                <a:latin typeface="Cambria"/>
                <a:ea typeface="Cambria"/>
                <a:cs typeface="Cambria"/>
                <a:sym typeface="Cambria"/>
              </a:rPr>
              <a:t>Se selecciona la versión 7.2026.4, se aceptan los términos de condiciones y se selecciona un directorio donde instalar el servidor.</a:t>
            </a:r>
            <a:endParaRPr>
              <a:latin typeface="Cambria"/>
              <a:ea typeface="Cambria"/>
              <a:cs typeface="Cambria"/>
              <a:sym typeface="Cambria"/>
            </a:endParaRPr>
          </a:p>
        </p:txBody>
      </p:sp>
      <p:sp>
        <p:nvSpPr>
          <p:cNvPr id="131" name="Google Shape;131;p17"/>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132" name="Google Shape;132;p17"/>
          <p:cNvPicPr preferRelativeResize="0"/>
          <p:nvPr/>
        </p:nvPicPr>
        <p:blipFill>
          <a:blip r:embed="rId3">
            <a:alphaModFix/>
          </a:blip>
          <a:stretch>
            <a:fillRect/>
          </a:stretch>
        </p:blipFill>
        <p:spPr>
          <a:xfrm>
            <a:off x="2542225" y="3200392"/>
            <a:ext cx="4667250" cy="3257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38" name="Google Shape;138;p18"/>
          <p:cNvSpPr txBox="1"/>
          <p:nvPr>
            <p:ph idx="1" type="body"/>
          </p:nvPr>
        </p:nvSpPr>
        <p:spPr>
          <a:xfrm>
            <a:off x="581192" y="2180497"/>
            <a:ext cx="8589300" cy="1248600"/>
          </a:xfrm>
          <a:prstGeom prst="rect">
            <a:avLst/>
          </a:prstGeom>
          <a:noFill/>
          <a:ln>
            <a:noFill/>
          </a:ln>
        </p:spPr>
        <p:txBody>
          <a:bodyPr anchorCtr="0" anchor="ctr" bIns="45700" lIns="91425" spcFirstLastPara="1" rIns="91425" wrap="square" tIns="45700">
            <a:normAutofit/>
          </a:bodyPr>
          <a:lstStyle/>
          <a:p>
            <a:pPr indent="-333756" lvl="0" marL="457200" rtl="0" algn="just">
              <a:lnSpc>
                <a:spcPct val="107000"/>
              </a:lnSpc>
              <a:spcBef>
                <a:spcPts val="0"/>
              </a:spcBef>
              <a:spcAft>
                <a:spcPts val="0"/>
              </a:spcAft>
              <a:buSzPts val="1656"/>
              <a:buChar char="∙"/>
            </a:pPr>
            <a:r>
              <a:rPr lang="es-ES" sz="1300">
                <a:latin typeface="Cambria"/>
                <a:ea typeface="Cambria"/>
                <a:cs typeface="Cambria"/>
                <a:sym typeface="Cambria"/>
              </a:rPr>
              <a:t>Para terminar la configuración del servidor de payara se configura un nombre de dominio, un host (en nuestro caso, loopback) y se cambian los puertos si se desea.</a:t>
            </a:r>
            <a:endParaRPr sz="1300">
              <a:latin typeface="Cambria"/>
              <a:ea typeface="Cambria"/>
              <a:cs typeface="Cambria"/>
              <a:sym typeface="Cambria"/>
            </a:endParaRPr>
          </a:p>
        </p:txBody>
      </p:sp>
      <p:sp>
        <p:nvSpPr>
          <p:cNvPr id="139" name="Google Shape;139;p18"/>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140" name="Google Shape;140;p18"/>
          <p:cNvPicPr preferRelativeResize="0"/>
          <p:nvPr/>
        </p:nvPicPr>
        <p:blipFill>
          <a:blip r:embed="rId3">
            <a:alphaModFix/>
          </a:blip>
          <a:stretch>
            <a:fillRect/>
          </a:stretch>
        </p:blipFill>
        <p:spPr>
          <a:xfrm>
            <a:off x="2623250" y="3171650"/>
            <a:ext cx="4505325" cy="3495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46" name="Google Shape;146;p19"/>
          <p:cNvSpPr txBox="1"/>
          <p:nvPr>
            <p:ph idx="1" type="body"/>
          </p:nvPr>
        </p:nvSpPr>
        <p:spPr>
          <a:xfrm>
            <a:off x="581200" y="2180500"/>
            <a:ext cx="8589300" cy="16335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1.2.2 	Creación del Proyecto</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a:latin typeface="Cambria"/>
                <a:ea typeface="Cambria"/>
                <a:cs typeface="Cambria"/>
                <a:sym typeface="Cambria"/>
              </a:rPr>
              <a:t>Una vez creado el servidor, se crea un proyecto Java, Web Application </a:t>
            </a:r>
            <a:endParaRPr>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47" name="Google Shape;147;p1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148" name="Google Shape;148;p19"/>
          <p:cNvPicPr preferRelativeResize="0"/>
          <p:nvPr/>
        </p:nvPicPr>
        <p:blipFill>
          <a:blip r:embed="rId3">
            <a:alphaModFix/>
          </a:blip>
          <a:stretch>
            <a:fillRect/>
          </a:stretch>
        </p:blipFill>
        <p:spPr>
          <a:xfrm>
            <a:off x="2537463" y="3549050"/>
            <a:ext cx="4676775" cy="3200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0"/>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54" name="Google Shape;154;p20"/>
          <p:cNvSpPr txBox="1"/>
          <p:nvPr>
            <p:ph idx="1" type="body"/>
          </p:nvPr>
        </p:nvSpPr>
        <p:spPr>
          <a:xfrm>
            <a:off x="581192" y="1948172"/>
            <a:ext cx="8589300" cy="1248600"/>
          </a:xfrm>
          <a:prstGeom prst="rect">
            <a:avLst/>
          </a:prstGeom>
          <a:noFill/>
          <a:ln>
            <a:noFill/>
          </a:ln>
        </p:spPr>
        <p:txBody>
          <a:bodyPr anchorCtr="0" anchor="ctr" bIns="45700" lIns="91425" spcFirstLastPara="1" rIns="91425" wrap="square" tIns="45700">
            <a:normAutofit/>
          </a:bodyPr>
          <a:lstStyle/>
          <a:p>
            <a:pPr indent="-333756" lvl="0" marL="457200" rtl="0" algn="just">
              <a:lnSpc>
                <a:spcPct val="107000"/>
              </a:lnSpc>
              <a:spcBef>
                <a:spcPts val="0"/>
              </a:spcBef>
              <a:spcAft>
                <a:spcPts val="0"/>
              </a:spcAft>
              <a:buSzPts val="1656"/>
              <a:buChar char="∙"/>
            </a:pPr>
            <a:r>
              <a:rPr lang="es-ES" sz="1300">
                <a:latin typeface="Cambria"/>
                <a:ea typeface="Cambria"/>
                <a:cs typeface="Cambria"/>
                <a:sym typeface="Cambria"/>
              </a:rPr>
              <a:t>Se aplica el nombre del proyecto como ‘WS_CON_UNI_JAVA_SOAP’, y se configura el grupo como ‘</a:t>
            </a:r>
            <a:r>
              <a:rPr lang="es-ES" sz="1300" u="sng">
                <a:solidFill>
                  <a:schemeClr val="hlink"/>
                </a:solidFill>
                <a:latin typeface="Cambria"/>
                <a:ea typeface="Cambria"/>
                <a:cs typeface="Cambria"/>
                <a:sym typeface="Cambria"/>
                <a:hlinkClick r:id="rId3"/>
              </a:rPr>
              <a:t>ec.edu</a:t>
            </a:r>
            <a:r>
              <a:rPr lang="es-ES" sz="1300">
                <a:latin typeface="Cambria"/>
                <a:ea typeface="Cambria"/>
                <a:cs typeface="Cambria"/>
                <a:sym typeface="Cambria"/>
              </a:rPr>
              <a:t>.monster’</a:t>
            </a:r>
            <a:endParaRPr sz="1300">
              <a:latin typeface="Cambria"/>
              <a:ea typeface="Cambria"/>
              <a:cs typeface="Cambria"/>
              <a:sym typeface="Cambria"/>
            </a:endParaRPr>
          </a:p>
          <a:p>
            <a:pPr indent="-311150" lvl="0" marL="457200" rtl="0" algn="just">
              <a:lnSpc>
                <a:spcPct val="107000"/>
              </a:lnSpc>
              <a:spcBef>
                <a:spcPts val="0"/>
              </a:spcBef>
              <a:spcAft>
                <a:spcPts val="0"/>
              </a:spcAft>
              <a:buSzPts val="1300"/>
              <a:buFont typeface="Cambria"/>
              <a:buChar char="∙"/>
            </a:pPr>
            <a:r>
              <a:rPr lang="es-ES" sz="1300">
                <a:latin typeface="Cambria"/>
                <a:ea typeface="Cambria"/>
                <a:cs typeface="Cambria"/>
                <a:sym typeface="Cambria"/>
              </a:rPr>
              <a:t>Se selecciona nuestro Servidor Payara creado y Jakarta EE 11 como conjunto de desarrollo de aplicaciones Java.</a:t>
            </a:r>
            <a:endParaRPr sz="1300">
              <a:latin typeface="Cambria"/>
              <a:ea typeface="Cambria"/>
              <a:cs typeface="Cambria"/>
              <a:sym typeface="Cambria"/>
            </a:endParaRPr>
          </a:p>
        </p:txBody>
      </p:sp>
      <p:sp>
        <p:nvSpPr>
          <p:cNvPr id="155" name="Google Shape;155;p20"/>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157" name="Google Shape;157;p20"/>
          <p:cNvPicPr preferRelativeResize="0"/>
          <p:nvPr/>
        </p:nvPicPr>
        <p:blipFill>
          <a:blip r:embed="rId5">
            <a:alphaModFix/>
          </a:blip>
          <a:stretch>
            <a:fillRect/>
          </a:stretch>
        </p:blipFill>
        <p:spPr>
          <a:xfrm>
            <a:off x="4686900" y="3251850"/>
            <a:ext cx="4600575" cy="3162300"/>
          </a:xfrm>
          <a:prstGeom prst="rect">
            <a:avLst/>
          </a:prstGeom>
          <a:noFill/>
          <a:ln>
            <a:noFill/>
          </a:ln>
        </p:spPr>
      </p:pic>
      <p:pic>
        <p:nvPicPr>
          <p:cNvPr id="158" name="Picture 157" descr="05_Paso5_Propiedades_General_WS_ConUni_Java_SOAP.png"/>
          <p:cNvPicPr>
            <a:picLocks noChangeAspect="1"/>
          </p:cNvPicPr>
          <p:nvPr/>
        </p:nvPicPr>
        <p:blipFill>
          <a:blip r:embed="rId6"/>
          <a:stretch>
            <a:fillRect/>
          </a:stretch>
        </p:blipFill>
        <p:spPr>
          <a:xfrm>
            <a:off x="581200" y="3429100"/>
            <a:ext cx="4105699" cy="28078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63" name="Google Shape;163;p21"/>
          <p:cNvSpPr txBox="1"/>
          <p:nvPr>
            <p:ph idx="1" type="body"/>
          </p:nvPr>
        </p:nvSpPr>
        <p:spPr>
          <a:xfrm>
            <a:off x="581200" y="2180500"/>
            <a:ext cx="4557900" cy="38700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677"/>
              <a:buChar char="∙"/>
            </a:pPr>
            <a:r>
              <a:rPr b="1" lang="es-ES" sz="1677">
                <a:latin typeface="Cambria"/>
                <a:ea typeface="Cambria"/>
                <a:cs typeface="Cambria"/>
                <a:sym typeface="Cambria"/>
              </a:rPr>
              <a:t>ESTRUCTURA MVC</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b="1" sz="1677">
              <a:latin typeface="Cambria"/>
              <a:ea typeface="Cambria"/>
              <a:cs typeface="Cambria"/>
              <a:sym typeface="Cambria"/>
            </a:endParaRPr>
          </a:p>
          <a:p>
            <a:pPr indent="-335090" lvl="0" marL="457200" rtl="0" algn="just">
              <a:lnSpc>
                <a:spcPct val="107000"/>
              </a:lnSpc>
              <a:spcBef>
                <a:spcPts val="0"/>
              </a:spcBef>
              <a:spcAft>
                <a:spcPts val="0"/>
              </a:spcAft>
              <a:buSzPts val="1677"/>
              <a:buFont typeface="Cambria"/>
              <a:buChar char="∙"/>
            </a:pPr>
            <a:r>
              <a:rPr lang="es-ES" sz="1677">
                <a:latin typeface="Cambria"/>
                <a:ea typeface="Cambria"/>
                <a:cs typeface="Cambria"/>
                <a:sym typeface="Cambria"/>
              </a:rPr>
              <a:t>Aplicando un patrón arquitectónico MVC junto a otras capas se configuran los paquetes principales.</a:t>
            </a:r>
            <a:endParaRPr b="1" sz="1677">
              <a:latin typeface="Cambria"/>
              <a:ea typeface="Cambria"/>
              <a:cs typeface="Cambria"/>
              <a:sym typeface="Cambria"/>
            </a:endParaRPr>
          </a:p>
          <a:p>
            <a:pPr indent="0" lvl="0" marL="0" rtl="0" algn="just">
              <a:lnSpc>
                <a:spcPct val="107000"/>
              </a:lnSpc>
              <a:spcBef>
                <a:spcPts val="0"/>
              </a:spcBef>
              <a:spcAft>
                <a:spcPts val="0"/>
              </a:spcAft>
              <a:buSzPts val="1656"/>
              <a:buNone/>
            </a:pPr>
            <a:r>
              <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sz="1591">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64" name="Google Shape;164;p21"/>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165" name="Google Shape;165;p21"/>
          <p:cNvPicPr preferRelativeResize="0"/>
          <p:nvPr/>
        </p:nvPicPr>
        <p:blipFill>
          <a:blip r:embed="rId3">
            <a:alphaModFix/>
          </a:blip>
          <a:stretch>
            <a:fillRect/>
          </a:stretch>
        </p:blipFill>
        <p:spPr>
          <a:xfrm>
            <a:off x="5651675" y="2696275"/>
            <a:ext cx="3219450" cy="2838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2"/>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71" name="Google Shape;171;p22"/>
          <p:cNvSpPr txBox="1"/>
          <p:nvPr>
            <p:ph idx="1" type="body"/>
          </p:nvPr>
        </p:nvSpPr>
        <p:spPr>
          <a:xfrm>
            <a:off x="581200" y="2180500"/>
            <a:ext cx="8589300" cy="16335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1.2.3 	Creación del WebService</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a:latin typeface="Cambria"/>
                <a:ea typeface="Cambria"/>
                <a:cs typeface="Cambria"/>
                <a:sym typeface="Cambria"/>
              </a:rPr>
              <a:t>Dentro del paquete controladores.ws se crea un webservice.</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Cambria"/>
              <a:buChar char="∙"/>
            </a:pPr>
            <a:r>
              <a:rPr lang="es-ES">
                <a:latin typeface="Cambria"/>
                <a:ea typeface="Cambria"/>
                <a:cs typeface="Cambria"/>
                <a:sym typeface="Cambria"/>
              </a:rPr>
              <a:t>Se configura el web service con su nombre WSConversorUnidades.</a:t>
            </a:r>
            <a:endParaRPr>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72" name="Google Shape;172;p22"/>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173" name="Google Shape;173;p22"/>
          <p:cNvPicPr preferRelativeResize="0"/>
          <p:nvPr/>
        </p:nvPicPr>
        <p:blipFill>
          <a:blip r:embed="rId3">
            <a:alphaModFix/>
          </a:blip>
          <a:stretch>
            <a:fillRect/>
          </a:stretch>
        </p:blipFill>
        <p:spPr>
          <a:xfrm>
            <a:off x="958600" y="3499338"/>
            <a:ext cx="3280200" cy="3261975"/>
          </a:xfrm>
          <a:prstGeom prst="rect">
            <a:avLst/>
          </a:prstGeom>
          <a:noFill/>
          <a:ln>
            <a:noFill/>
          </a:ln>
        </p:spPr>
      </p:pic>
      <p:pic>
        <p:nvPicPr>
          <p:cNvPr id="174" name="Google Shape;174;p22"/>
          <p:cNvPicPr preferRelativeResize="0"/>
          <p:nvPr/>
        </p:nvPicPr>
        <p:blipFill>
          <a:blip r:embed="rId4">
            <a:alphaModFix/>
          </a:blip>
          <a:stretch>
            <a:fillRect/>
          </a:stretch>
        </p:blipFill>
        <p:spPr>
          <a:xfrm>
            <a:off x="5103225" y="3844438"/>
            <a:ext cx="3810000" cy="2571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3"/>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80" name="Google Shape;180;p23"/>
          <p:cNvSpPr txBox="1"/>
          <p:nvPr>
            <p:ph idx="1" type="body"/>
          </p:nvPr>
        </p:nvSpPr>
        <p:spPr>
          <a:xfrm>
            <a:off x="581200" y="2180500"/>
            <a:ext cx="2402100" cy="3965700"/>
          </a:xfrm>
          <a:prstGeom prst="rect">
            <a:avLst/>
          </a:prstGeom>
          <a:noFill/>
          <a:ln>
            <a:noFill/>
          </a:ln>
        </p:spPr>
        <p:txBody>
          <a:bodyPr anchorCtr="0" anchor="ctr" bIns="45700" lIns="91425" spcFirstLastPara="1" rIns="91425" wrap="square" tIns="45700">
            <a:normAutofit lnSpcReduction="20000"/>
          </a:bodyPr>
          <a:lstStyle/>
          <a:p>
            <a:pPr indent="-335090" lvl="0" marL="457200" rtl="0" algn="just">
              <a:lnSpc>
                <a:spcPct val="107000"/>
              </a:lnSpc>
              <a:spcBef>
                <a:spcPts val="0"/>
              </a:spcBef>
              <a:spcAft>
                <a:spcPts val="0"/>
              </a:spcAft>
              <a:buSzPts val="1677"/>
              <a:buFont typeface="Cambria"/>
              <a:buChar char="∙"/>
            </a:pPr>
            <a:r>
              <a:rPr b="1" lang="es-ES" sz="1677">
                <a:latin typeface="Cambria"/>
                <a:ea typeface="Cambria"/>
                <a:cs typeface="Cambria"/>
                <a:sym typeface="Cambria"/>
              </a:rPr>
              <a:t>Se codifica el webservice bajo los siguientes lineamientos</a:t>
            </a:r>
            <a:endParaRPr b="1" sz="1677">
              <a:latin typeface="Cambria"/>
              <a:ea typeface="Cambria"/>
              <a:cs typeface="Cambria"/>
              <a:sym typeface="Cambria"/>
            </a:endParaRPr>
          </a:p>
          <a:p>
            <a:pPr indent="0" lvl="0" marL="457200" rtl="0" algn="just">
              <a:lnSpc>
                <a:spcPct val="107000"/>
              </a:lnSpc>
              <a:spcBef>
                <a:spcPts val="0"/>
              </a:spcBef>
              <a:spcAft>
                <a:spcPts val="0"/>
              </a:spcAft>
              <a:buNone/>
            </a:pPr>
            <a:r>
              <a:t/>
            </a:r>
            <a:endParaRPr b="1" sz="1677">
              <a:latin typeface="Cambria"/>
              <a:ea typeface="Cambria"/>
              <a:cs typeface="Cambria"/>
              <a:sym typeface="Cambria"/>
            </a:endParaRPr>
          </a:p>
          <a:p>
            <a:pPr indent="-335090" lvl="0" marL="457200" rtl="0" algn="just">
              <a:lnSpc>
                <a:spcPct val="107000"/>
              </a:lnSpc>
              <a:spcBef>
                <a:spcPts val="0"/>
              </a:spcBef>
              <a:spcAft>
                <a:spcPts val="0"/>
              </a:spcAft>
              <a:buSzPts val="1677"/>
              <a:buFont typeface="Cambria"/>
              <a:buChar char="∙"/>
            </a:pPr>
            <a:r>
              <a:rPr lang="es-ES" sz="1677">
                <a:latin typeface="Cambria"/>
                <a:ea typeface="Cambria"/>
                <a:cs typeface="Cambria"/>
                <a:sym typeface="Cambria"/>
              </a:rPr>
              <a:t>1. Se dejan preparadas las siguientes importaciones que se encargarán de gestionar toda la lógica.</a:t>
            </a:r>
            <a:br>
              <a:rPr b="1" lang="es-ES" sz="1677">
                <a:latin typeface="Cambria"/>
                <a:ea typeface="Cambria"/>
                <a:cs typeface="Cambria"/>
                <a:sym typeface="Cambria"/>
              </a:rPr>
            </a:br>
            <a:endParaRPr b="1" sz="1677">
              <a:latin typeface="Cambria"/>
              <a:ea typeface="Cambria"/>
              <a:cs typeface="Cambria"/>
              <a:sym typeface="Cambria"/>
            </a:endParaRPr>
          </a:p>
          <a:p>
            <a:pPr indent="0" lvl="0" marL="0" rtl="0" algn="just">
              <a:lnSpc>
                <a:spcPct val="107000"/>
              </a:lnSpc>
              <a:spcBef>
                <a:spcPts val="0"/>
              </a:spcBef>
              <a:spcAft>
                <a:spcPts val="0"/>
              </a:spcAft>
              <a:buSzPts val="1656"/>
              <a:buNone/>
            </a:pPr>
            <a:r>
              <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sz="1591">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81" name="Google Shape;181;p23"/>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182" name="Google Shape;182;p23"/>
          <p:cNvGraphicFramePr/>
          <p:nvPr/>
        </p:nvGraphicFramePr>
        <p:xfrm>
          <a:off x="3395925" y="2866125"/>
          <a:ext cx="3000000" cy="3000000"/>
        </p:xfrm>
        <a:graphic>
          <a:graphicData uri="http://schemas.openxmlformats.org/drawingml/2006/table">
            <a:tbl>
              <a:tblPr>
                <a:noFill/>
                <a:tableStyleId>{BF136021-7255-42B7-A7E7-87A8D8FFE9CA}</a:tableStyleId>
              </a:tblPr>
              <a:tblGrid>
                <a:gridCol w="5400050"/>
              </a:tblGrid>
              <a:tr h="12700">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package ec.edu.monster.controladores.ws;</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ec.edu.monster.modelos.utilidades.enums.UnidadTemperatura;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ec.edu.monster.modelos.utilidades.enums.UnidadMasa;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ec.edu.monster.modelos.utilidades.enums.UnidadLongitud;</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ec.edu.monster.modelos.utilidades.ConversorTemperatura;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ec.edu.monster.modelos.utilidades.ConversorMasa;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ec.edu.monster.modelos.utilidades.ConversorLongitud;</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ec.edu.monster.servicios.ServicioConversor;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ec.edu.monster.modelos.utilidades.mapeadores.UnidadMapper;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ec.edu.monster.seguridad.AdministradorCredenciales;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ec.edu.monster.seguridad.AdministradorTokens;</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jakarta.jws.WebService;</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jakarta.jws.WebMethod;</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jakarta.jws.WebParam;</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88" name="Google Shape;188;p24"/>
          <p:cNvSpPr txBox="1"/>
          <p:nvPr>
            <p:ph idx="1" type="body"/>
          </p:nvPr>
        </p:nvSpPr>
        <p:spPr>
          <a:xfrm>
            <a:off x="581200" y="2180500"/>
            <a:ext cx="2402100" cy="3965700"/>
          </a:xfrm>
          <a:prstGeom prst="rect">
            <a:avLst/>
          </a:prstGeom>
          <a:noFill/>
          <a:ln>
            <a:noFill/>
          </a:ln>
        </p:spPr>
        <p:txBody>
          <a:bodyPr anchorCtr="0" anchor="ctr" bIns="45700" lIns="91425" spcFirstLastPara="1" rIns="91425" wrap="square" tIns="45700">
            <a:normAutofit/>
          </a:bodyPr>
          <a:lstStyle/>
          <a:p>
            <a:pPr indent="-335090" lvl="0" marL="457200" rtl="0" algn="just">
              <a:lnSpc>
                <a:spcPct val="107000"/>
              </a:lnSpc>
              <a:spcBef>
                <a:spcPts val="0"/>
              </a:spcBef>
              <a:spcAft>
                <a:spcPts val="0"/>
              </a:spcAft>
              <a:buSzPts val="1677"/>
              <a:buFont typeface="Cambria"/>
              <a:buChar char="∙"/>
            </a:pPr>
            <a:r>
              <a:rPr lang="es-ES" sz="1677">
                <a:latin typeface="Cambria"/>
                <a:ea typeface="Cambria"/>
                <a:cs typeface="Cambria"/>
                <a:sym typeface="Cambria"/>
              </a:rPr>
              <a:t>2. Se configura el endpoint de nuestro servicio web.</a:t>
            </a:r>
            <a:endParaRPr sz="1677">
              <a:latin typeface="Cambria"/>
              <a:ea typeface="Cambria"/>
              <a:cs typeface="Cambria"/>
              <a:sym typeface="Cambria"/>
            </a:endParaRPr>
          </a:p>
          <a:p>
            <a:pPr indent="-335090" lvl="0" marL="457200" rtl="0" algn="just">
              <a:lnSpc>
                <a:spcPct val="107000"/>
              </a:lnSpc>
              <a:spcBef>
                <a:spcPts val="0"/>
              </a:spcBef>
              <a:spcAft>
                <a:spcPts val="0"/>
              </a:spcAft>
              <a:buSzPts val="1677"/>
              <a:buFont typeface="Cambria"/>
              <a:buChar char="∙"/>
            </a:pPr>
            <a:r>
              <a:rPr lang="es-ES" sz="1677">
                <a:latin typeface="Cambria"/>
                <a:ea typeface="Cambria"/>
                <a:cs typeface="Cambria"/>
                <a:sym typeface="Cambria"/>
              </a:rPr>
              <a:t>3. Se crean los atributos respectivos.</a:t>
            </a:r>
            <a:br>
              <a:rPr b="1" lang="es-ES" sz="1677">
                <a:latin typeface="Cambria"/>
                <a:ea typeface="Cambria"/>
                <a:cs typeface="Cambria"/>
                <a:sym typeface="Cambria"/>
              </a:rPr>
            </a:br>
            <a:endParaRPr b="1" sz="1677">
              <a:latin typeface="Cambria"/>
              <a:ea typeface="Cambria"/>
              <a:cs typeface="Cambria"/>
              <a:sym typeface="Cambria"/>
            </a:endParaRPr>
          </a:p>
          <a:p>
            <a:pPr indent="0" lvl="0" marL="0" rtl="0" algn="just">
              <a:lnSpc>
                <a:spcPct val="107000"/>
              </a:lnSpc>
              <a:spcBef>
                <a:spcPts val="0"/>
              </a:spcBef>
              <a:spcAft>
                <a:spcPts val="0"/>
              </a:spcAft>
              <a:buSzPts val="1656"/>
              <a:buNone/>
            </a:pPr>
            <a:r>
              <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sz="1591">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89" name="Google Shape;189;p24"/>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190" name="Google Shape;190;p24"/>
          <p:cNvGraphicFramePr/>
          <p:nvPr/>
        </p:nvGraphicFramePr>
        <p:xfrm>
          <a:off x="3701450" y="2180500"/>
          <a:ext cx="3000000" cy="3000000"/>
        </p:xfrm>
        <a:graphic>
          <a:graphicData uri="http://schemas.openxmlformats.org/drawingml/2006/table">
            <a:tbl>
              <a:tblPr>
                <a:noFill/>
                <a:tableStyleId>{BF136021-7255-42B7-A7E7-87A8D8FFE9CA}</a:tableStyleId>
              </a:tblPr>
              <a:tblGrid>
                <a:gridCol w="5400050"/>
              </a:tblGrid>
              <a:tr h="12700">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@WebService(serviceName = "WSConversorUnidades")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public class WSConversorUnidades {</a:t>
                      </a:r>
                      <a:endParaRPr sz="1100">
                        <a:solidFill>
                          <a:srgbClr val="4F81BD"/>
                        </a:solidFill>
                        <a:latin typeface="Calibri"/>
                        <a:ea typeface="Calibri"/>
                        <a:cs typeface="Calibri"/>
                        <a:sym typeface="Calibri"/>
                      </a:endParaRPr>
                    </a:p>
                  </a:txBody>
                  <a:tcPr marT="63500" marB="63500" marR="63500" marL="63500"/>
                </a:tc>
              </a:tr>
            </a:tbl>
          </a:graphicData>
        </a:graphic>
      </p:graphicFrame>
      <p:graphicFrame>
        <p:nvGraphicFramePr>
          <p:cNvPr id="191" name="Google Shape;191;p24"/>
          <p:cNvGraphicFramePr/>
          <p:nvPr/>
        </p:nvGraphicFramePr>
        <p:xfrm>
          <a:off x="3701450" y="3375275"/>
          <a:ext cx="3000000" cy="3000000"/>
        </p:xfrm>
        <a:graphic>
          <a:graphicData uri="http://schemas.openxmlformats.org/drawingml/2006/table">
            <a:tbl>
              <a:tblPr>
                <a:noFill/>
                <a:tableStyleId>{BF136021-7255-42B7-A7E7-87A8D8FFE9CA}</a:tableStyleId>
              </a:tblPr>
              <a:tblGrid>
                <a:gridCol w="5400050"/>
              </a:tblGrid>
              <a:tr h="12700">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private final ServicioConversor&lt;UnidadLongitud&gt; servicioLongitud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new ServicioConversor&lt;&gt;(new ConversorLongitud());</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final ServicioConversor&lt;UnidadMasa&gt; servicioMasa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new ServicioConversor&lt;&gt;(new ConversorMasa());</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final ServicioConversor&lt;UnidadTemperatura&gt; servicioTemperatura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new ServicioConversor&lt;&gt;(new ConversorTemperatura());</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97" name="Google Shape;197;p25"/>
          <p:cNvSpPr txBox="1"/>
          <p:nvPr>
            <p:ph idx="1" type="body"/>
          </p:nvPr>
        </p:nvSpPr>
        <p:spPr>
          <a:xfrm>
            <a:off x="581200" y="2180500"/>
            <a:ext cx="2402100" cy="3965700"/>
          </a:xfrm>
          <a:prstGeom prst="rect">
            <a:avLst/>
          </a:prstGeom>
          <a:noFill/>
          <a:ln>
            <a:noFill/>
          </a:ln>
        </p:spPr>
        <p:txBody>
          <a:bodyPr anchorCtr="0" anchor="ctr" bIns="45700" lIns="91425" spcFirstLastPara="1" rIns="91425" wrap="square" tIns="45700">
            <a:normAutofit/>
          </a:bodyPr>
          <a:lstStyle/>
          <a:p>
            <a:pPr indent="-335090" lvl="0" marL="457200" rtl="0" algn="just">
              <a:lnSpc>
                <a:spcPct val="107000"/>
              </a:lnSpc>
              <a:spcBef>
                <a:spcPts val="0"/>
              </a:spcBef>
              <a:spcAft>
                <a:spcPts val="0"/>
              </a:spcAft>
              <a:buSzPts val="1677"/>
              <a:buFont typeface="Cambria"/>
              <a:buChar char="∙"/>
            </a:pPr>
            <a:r>
              <a:rPr lang="es-ES" sz="1677">
                <a:latin typeface="Cambria"/>
                <a:ea typeface="Cambria"/>
                <a:cs typeface="Cambria"/>
                <a:sym typeface="Cambria"/>
              </a:rPr>
              <a:t>4. Se crean los métodos respectivos, incluyendo el de autenticación y el de cambiar contraseña.</a:t>
            </a:r>
            <a:endParaRPr b="1" sz="1677">
              <a:latin typeface="Cambria"/>
              <a:ea typeface="Cambria"/>
              <a:cs typeface="Cambria"/>
              <a:sym typeface="Cambria"/>
            </a:endParaRPr>
          </a:p>
          <a:p>
            <a:pPr indent="0" lvl="0" marL="0" rtl="0" algn="just">
              <a:lnSpc>
                <a:spcPct val="107000"/>
              </a:lnSpc>
              <a:spcBef>
                <a:spcPts val="0"/>
              </a:spcBef>
              <a:spcAft>
                <a:spcPts val="0"/>
              </a:spcAft>
              <a:buSzPts val="1656"/>
              <a:buNone/>
            </a:pPr>
            <a:r>
              <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sz="1591">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98" name="Google Shape;198;p2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199" name="Google Shape;199;p25"/>
          <p:cNvGraphicFramePr/>
          <p:nvPr/>
        </p:nvGraphicFramePr>
        <p:xfrm>
          <a:off x="3917100" y="1928900"/>
          <a:ext cx="3000000" cy="3000000"/>
        </p:xfrm>
        <a:graphic>
          <a:graphicData uri="http://schemas.openxmlformats.org/drawingml/2006/table">
            <a:tbl>
              <a:tblPr>
                <a:noFill/>
                <a:tableStyleId>{BF136021-7255-42B7-A7E7-87A8D8FFE9CA}</a:tableStyleId>
              </a:tblPr>
              <a:tblGrid>
                <a:gridCol w="4894525"/>
              </a:tblGrid>
              <a:tr h="4533675">
                <a:tc>
                  <a:txBody>
                    <a:bodyPr/>
                    <a:lstStyle/>
                    <a:p>
                      <a:pPr indent="0" lvl="0" marL="0" rtl="0" algn="l">
                        <a:spcBef>
                          <a:spcPts val="0"/>
                        </a:spcBef>
                        <a:spcAft>
                          <a:spcPts val="0"/>
                        </a:spcAft>
                        <a:buNone/>
                      </a:pPr>
                      <a:r>
                        <a:rPr lang="es-ES" sz="1000">
                          <a:solidFill>
                            <a:srgbClr val="4F81BD"/>
                          </a:solidFill>
                          <a:latin typeface="Calibri"/>
                          <a:ea typeface="Calibri"/>
                          <a:cs typeface="Calibri"/>
                          <a:sym typeface="Calibri"/>
                        </a:rPr>
                        <a:t>@WebMethod(operationName = "login")</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String login(</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"usuario") String usuario,</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"contrasenia") String contrasenia)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if (AdministradorCredenciales.validarCredenciales(usuario, contrasenia))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return AdministradorTokens.generarToken();</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throw new RuntimeException("Credenciales incorrectas");</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@WebMethod(operationName = "cambiarContrasenia")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String cambiarContrasenia(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"contraseniaActual") String contraseniaActual,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"contraseniaNueva") String contraseniaNueva)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AdministradorCredenciales.cambiarContrasenia(contraseniaActual, contraseniaNueva);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return "Contrasenia actualizada correctamente";</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@WebMethod(operationName = "convertirLongitud")</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double convertirLongitud(</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"valor") double valor,</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"unidadInicial") String unidadInicial,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"unidadFinal") String unidadFinal)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UnidadLongitud origen = UnidadMapper.toLongitud(unidadInicial);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UnidadLongitud destino = UnidadMapper.toLongitud(unidadFinal);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return servicioLongitud.convertir(valor, origen, destino);</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graphicFrame>
        <p:nvGraphicFramePr>
          <p:cNvPr id="204" name="Google Shape;204;p26"/>
          <p:cNvGraphicFramePr/>
          <p:nvPr/>
        </p:nvGraphicFramePr>
        <p:xfrm>
          <a:off x="3881150" y="2291900"/>
          <a:ext cx="3000000" cy="3000000"/>
        </p:xfrm>
        <a:graphic>
          <a:graphicData uri="http://schemas.openxmlformats.org/drawingml/2006/table">
            <a:tbl>
              <a:tblPr>
                <a:noFill/>
                <a:tableStyleId>{BF136021-7255-42B7-A7E7-87A8D8FFE9CA}</a:tableStyleId>
              </a:tblPr>
              <a:tblGrid>
                <a:gridCol w="4894525"/>
              </a:tblGrid>
              <a:tr h="3742900">
                <a:tc>
                  <a:txBody>
                    <a:bodyPr/>
                    <a:lstStyle/>
                    <a:p>
                      <a:pPr indent="0" lvl="0" marL="0" rtl="0" algn="l">
                        <a:spcBef>
                          <a:spcPts val="0"/>
                        </a:spcBef>
                        <a:spcAft>
                          <a:spcPts val="0"/>
                        </a:spcAft>
                        <a:buNone/>
                      </a:pPr>
                      <a:r>
                        <a:rPr lang="es-ES" sz="1000">
                          <a:solidFill>
                            <a:srgbClr val="4F81BD"/>
                          </a:solidFill>
                          <a:latin typeface="Calibri"/>
                          <a:ea typeface="Calibri"/>
                          <a:cs typeface="Calibri"/>
                          <a:sym typeface="Calibri"/>
                        </a:rPr>
                        <a:t>@WebMethod(operationName = "convertirMasa")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double convertirMasa(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"valor") double valor,</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"unidadInicial") String unidadInicial,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"unidadFinal") String unidadFinal)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UnidadMasa origen = UnidadMapper.toMasa(unidadInicial);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UnidadMasa destino = UnidadMapper.toMasa(unidadFinal);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return servicioMasa.convertir(valor, origen, destino);</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@WebMethod(operationName = "convertirTemperatura")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double convertirTemperatura(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"valor") double valor,</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"unidadInicial") String unidadInicial,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"unidadFinal") String unidadFinal)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UnidadTemperatura origen = UnidadMapper.toTemperatura(unidadInicial);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UnidadTemperatura destino = UnidadMapper.toTemperatura(unidadFinal);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return servicioTemperatura.convertir(valor, origen, destino);</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txBody>
                  <a:tcPr marT="63500" marB="63500" marR="63500" marL="63500"/>
                </a:tc>
              </a:tr>
            </a:tbl>
          </a:graphicData>
        </a:graphic>
      </p:graphicFrame>
      <p:sp>
        <p:nvSpPr>
          <p:cNvPr id="205" name="Google Shape;205;p2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06" name="Google Shape;206;p26"/>
          <p:cNvSpPr txBox="1"/>
          <p:nvPr>
            <p:ph idx="1" type="body"/>
          </p:nvPr>
        </p:nvSpPr>
        <p:spPr>
          <a:xfrm>
            <a:off x="581200" y="2180500"/>
            <a:ext cx="2402100" cy="3965700"/>
          </a:xfrm>
          <a:prstGeom prst="rect">
            <a:avLst/>
          </a:prstGeom>
          <a:noFill/>
          <a:ln>
            <a:noFill/>
          </a:ln>
        </p:spPr>
        <p:txBody>
          <a:bodyPr anchorCtr="0" anchor="ctr" bIns="45700" lIns="91425" spcFirstLastPara="1" rIns="91425" wrap="square" tIns="45700">
            <a:normAutofit/>
          </a:bodyPr>
          <a:lstStyle/>
          <a:p>
            <a:pPr indent="-335090" lvl="0" marL="457200" rtl="0" algn="just">
              <a:lnSpc>
                <a:spcPct val="107000"/>
              </a:lnSpc>
              <a:spcBef>
                <a:spcPts val="0"/>
              </a:spcBef>
              <a:spcAft>
                <a:spcPts val="0"/>
              </a:spcAft>
              <a:buSzPts val="1677"/>
              <a:buFont typeface="Cambria"/>
              <a:buChar char="∙"/>
            </a:pPr>
            <a:r>
              <a:rPr lang="es-ES" sz="1677">
                <a:latin typeface="Cambria"/>
                <a:ea typeface="Cambria"/>
                <a:cs typeface="Cambria"/>
                <a:sym typeface="Cambria"/>
              </a:rPr>
              <a:t>4. Se crean los métodos respectivos, incluyendo el de autenticación y el de cambiar contraseña.</a:t>
            </a:r>
            <a:endParaRPr b="1" sz="1677">
              <a:latin typeface="Cambria"/>
              <a:ea typeface="Cambria"/>
              <a:cs typeface="Cambria"/>
              <a:sym typeface="Cambria"/>
            </a:endParaRPr>
          </a:p>
          <a:p>
            <a:pPr indent="0" lvl="0" marL="0" rtl="0" algn="just">
              <a:lnSpc>
                <a:spcPct val="107000"/>
              </a:lnSpc>
              <a:spcBef>
                <a:spcPts val="0"/>
              </a:spcBef>
              <a:spcAft>
                <a:spcPts val="0"/>
              </a:spcAft>
              <a:buSzPts val="1656"/>
              <a:buNone/>
            </a:pPr>
            <a:r>
              <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sz="1591">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207" name="Google Shape;207;p2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13" name="Google Shape;213;p27"/>
          <p:cNvSpPr txBox="1"/>
          <p:nvPr>
            <p:ph idx="1" type="body"/>
          </p:nvPr>
        </p:nvSpPr>
        <p:spPr>
          <a:xfrm>
            <a:off x="581200" y="2018775"/>
            <a:ext cx="8589300" cy="16335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1.2.4 	Autenticación</a:t>
            </a:r>
            <a:endParaRPr>
              <a:latin typeface="Cambria"/>
              <a:ea typeface="Cambria"/>
              <a:cs typeface="Cambria"/>
              <a:sym typeface="Cambria"/>
            </a:endParaRPr>
          </a:p>
          <a:p>
            <a:pPr indent="-323850" lvl="0" marL="342900" marR="0" rtl="0" algn="just">
              <a:lnSpc>
                <a:spcPct val="107000"/>
              </a:lnSpc>
              <a:spcBef>
                <a:spcPts val="0"/>
              </a:spcBef>
              <a:spcAft>
                <a:spcPts val="0"/>
              </a:spcAft>
              <a:buSzPts val="1356"/>
              <a:buFont typeface="Cambria"/>
              <a:buChar char="∙"/>
            </a:pPr>
            <a:r>
              <a:rPr lang="es-ES" sz="1500">
                <a:latin typeface="Cambria"/>
                <a:ea typeface="Cambria"/>
                <a:cs typeface="Cambria"/>
                <a:sym typeface="Cambria"/>
              </a:rPr>
              <a:t>Una clase importante a mencionar es el ManejadorAutenticacion.java, que sirve como un middleware en servicios SOAP con el fin de autenticar debidamente antes de permitir el paso a los métodos del WebService. Esta clase se crea en Web Services &gt; Message Handler.</a:t>
            </a:r>
            <a:endParaRPr sz="1500">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214" name="Google Shape;214;p27"/>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15" name="Google Shape;215;p27"/>
          <p:cNvPicPr preferRelativeResize="0"/>
          <p:nvPr/>
        </p:nvPicPr>
        <p:blipFill>
          <a:blip r:embed="rId3">
            <a:alphaModFix/>
          </a:blip>
          <a:stretch>
            <a:fillRect/>
          </a:stretch>
        </p:blipFill>
        <p:spPr>
          <a:xfrm>
            <a:off x="2589850" y="3549050"/>
            <a:ext cx="4572000" cy="3124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21" name="Google Shape;221;p28"/>
          <p:cNvSpPr txBox="1"/>
          <p:nvPr>
            <p:ph idx="1" type="body"/>
          </p:nvPr>
        </p:nvSpPr>
        <p:spPr>
          <a:xfrm>
            <a:off x="581192" y="1876272"/>
            <a:ext cx="8589300" cy="12486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Esta clase contiene la lógica que se puede observar en la Tabla junto a la complementaria para gestionar la autenticación con tokens y la autenticación que maneja credenciales quemadas en código (Usuario: Monster, Contraseña: Monster9)</a:t>
            </a:r>
            <a:endParaRPr sz="1200">
              <a:latin typeface="Cambria"/>
              <a:ea typeface="Cambria"/>
              <a:cs typeface="Cambria"/>
              <a:sym typeface="Cambria"/>
            </a:endParaRPr>
          </a:p>
          <a:p>
            <a:pPr indent="-304800" lvl="0" marL="457200" rtl="0" algn="just">
              <a:lnSpc>
                <a:spcPct val="107000"/>
              </a:lnSpc>
              <a:spcBef>
                <a:spcPts val="0"/>
              </a:spcBef>
              <a:spcAft>
                <a:spcPts val="0"/>
              </a:spcAft>
              <a:buSzPts val="1200"/>
              <a:buFont typeface="Cambria"/>
              <a:buChar char="∙"/>
            </a:pPr>
            <a:r>
              <a:rPr lang="es-ES" sz="1200">
                <a:latin typeface="Cambria"/>
                <a:ea typeface="Cambria"/>
                <a:cs typeface="Cambria"/>
                <a:sym typeface="Cambria"/>
              </a:rPr>
              <a:t>es fundamental mencionar que se debe crear un xml dentro de los recursos que mapee a la clase para que el proyecto pueda poner en ejecución el handler.</a:t>
            </a:r>
            <a:endParaRPr sz="1300">
              <a:latin typeface="Cambria"/>
              <a:ea typeface="Cambria"/>
              <a:cs typeface="Cambria"/>
              <a:sym typeface="Cambria"/>
            </a:endParaRPr>
          </a:p>
        </p:txBody>
      </p:sp>
      <p:sp>
        <p:nvSpPr>
          <p:cNvPr id="222" name="Google Shape;222;p28"/>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23" name="Google Shape;223;p28"/>
          <p:cNvPicPr preferRelativeResize="0"/>
          <p:nvPr/>
        </p:nvPicPr>
        <p:blipFill>
          <a:blip r:embed="rId3">
            <a:alphaModFix/>
          </a:blip>
          <a:stretch>
            <a:fillRect/>
          </a:stretch>
        </p:blipFill>
        <p:spPr>
          <a:xfrm>
            <a:off x="653100" y="3013525"/>
            <a:ext cx="5734050" cy="1381125"/>
          </a:xfrm>
          <a:prstGeom prst="rect">
            <a:avLst/>
          </a:prstGeom>
          <a:noFill/>
          <a:ln>
            <a:noFill/>
          </a:ln>
        </p:spPr>
      </p:pic>
      <p:graphicFrame>
        <p:nvGraphicFramePr>
          <p:cNvPr id="224" name="Google Shape;224;p28"/>
          <p:cNvGraphicFramePr/>
          <p:nvPr/>
        </p:nvGraphicFramePr>
        <p:xfrm>
          <a:off x="4024925" y="4574350"/>
          <a:ext cx="3000000" cy="3000000"/>
        </p:xfrm>
        <a:graphic>
          <a:graphicData uri="http://schemas.openxmlformats.org/drawingml/2006/table">
            <a:tbl>
              <a:tblPr>
                <a:noFill/>
                <a:tableStyleId>{BF136021-7255-42B7-A7E7-87A8D8FFE9CA}</a:tableStyleId>
              </a:tblPr>
              <a:tblGrid>
                <a:gridCol w="4894525"/>
              </a:tblGrid>
              <a:tr h="2215300">
                <a:tc>
                  <a:txBody>
                    <a:bodyPr/>
                    <a:lstStyle/>
                    <a:p>
                      <a:pPr indent="0" lvl="0" marL="0" rtl="0" algn="l">
                        <a:spcBef>
                          <a:spcPts val="0"/>
                        </a:spcBef>
                        <a:spcAft>
                          <a:spcPts val="0"/>
                        </a:spcAft>
                        <a:buNone/>
                      </a:pPr>
                      <a:r>
                        <a:rPr lang="es-ES" sz="1000">
                          <a:solidFill>
                            <a:srgbClr val="4F81BD"/>
                          </a:solidFill>
                          <a:latin typeface="Calibri"/>
                          <a:ea typeface="Calibri"/>
                          <a:cs typeface="Calibri"/>
                          <a:sym typeface="Calibri"/>
                        </a:rPr>
                        <a:t>package ec.edu.monster.controladores.manejadoresws;</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ec.edu.monster.seguridad.AdministradorTokens;</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jakarta.xml.ws.handler.soap.SOAPHandler;</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jakarta.xml.ws.handler.soap.SOAPMessageContext;</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jakarta.xml.ws.handler.MessageContext;</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javax.xml.namespace.QName;</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org.w3c.dom.NodeList;</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java.util.Set;</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public class ManejadorAutenticacion implements SOAPHandler&lt;SOAPMessageContext&gt;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Esta clase contiene la lógica que se puede observar en la Tabla junto a la complementaria para gestionar la autenticación con tokens y la autenticación que maneja credenciales quemadas en código.</a:t>
            </a:r>
            <a:endParaRPr sz="13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47013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@Override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public boolean handleMessage(SOAPMessageContext contexto)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Boolean esSalida = (Boolean) contexto.get(MessageContext.MESSAGE_OUTBOUND_PROPERTY);</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if (!esSalida)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try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QName operacion = (QName) contexto.get(MessageContext.WSDL_OPERATION);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if (operacion != null &amp;&amp; "login".equals(operacion.getLocalPart()))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return true;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var mensajeSOAP = contexto.getMessage();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var encabezado = mensajeSOAP.getSOAPHeader();</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if (encabezado == null)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throw new RuntimeException("Acceso denegado: Se requiere encabezado SOAP con el token de seguridad.");</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NodeList nodosToken = encabezado.getElementsByTagNameNS("*", "token");</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if (nodosToken.getLength() == 0)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throw new RuntimeException("Acceso denegado: No se encontró el token. Inicie sesión primero.");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String token = nodosToken.item(0).getTextContent();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if (!AdministradorTokens.validarToken(token))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throw new RuntimeException("Acceso denegado: Token inválido o expirado.");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 catch (Exception 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throw new RuntimeException(e.getMessage());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return true;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0"/>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8" name="Google Shape;238;p30"/>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Esta clase contiene la lógica que se puede observar en la Tabla junto a la complementaria para gestionar la autenticación con tokens y la autenticación que maneja credenciales quemadas en código.</a:t>
            </a:r>
            <a:endParaRPr sz="1300">
              <a:latin typeface="Cambria"/>
              <a:ea typeface="Cambria"/>
              <a:cs typeface="Cambria"/>
              <a:sym typeface="Cambria"/>
            </a:endParaRPr>
          </a:p>
        </p:txBody>
      </p:sp>
      <p:sp>
        <p:nvSpPr>
          <p:cNvPr id="239" name="Google Shape;239;p30"/>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40" name="Google Shape;240;p30"/>
          <p:cNvGraphicFramePr/>
          <p:nvPr/>
        </p:nvGraphicFramePr>
        <p:xfrm>
          <a:off x="3064663" y="2920413"/>
          <a:ext cx="3000000" cy="3000000"/>
        </p:xfrm>
        <a:graphic>
          <a:graphicData uri="http://schemas.openxmlformats.org/drawingml/2006/table">
            <a:tbl>
              <a:tblPr>
                <a:noFill/>
                <a:tableStyleId>{BF136021-7255-42B7-A7E7-87A8D8FFE9CA}</a:tableStyleId>
              </a:tblPr>
              <a:tblGrid>
                <a:gridCol w="6062675"/>
              </a:tblGrid>
              <a:tr h="1951625">
                <a:tc>
                  <a:txBody>
                    <a:bodyPr/>
                    <a:lstStyle/>
                    <a:p>
                      <a:pPr indent="0" lvl="0" marL="0" rtl="0" algn="l">
                        <a:spcBef>
                          <a:spcPts val="0"/>
                        </a:spcBef>
                        <a:spcAft>
                          <a:spcPts val="0"/>
                        </a:spcAft>
                        <a:buNone/>
                      </a:pPr>
                      <a:r>
                        <a:rPr lang="es-ES" sz="1200">
                          <a:solidFill>
                            <a:srgbClr val="4F81BD"/>
                          </a:solidFill>
                          <a:latin typeface="Calibri"/>
                          <a:ea typeface="Calibri"/>
                          <a:cs typeface="Calibri"/>
                          <a:sym typeface="Calibri"/>
                        </a:rPr>
                        <a:t> @Override</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public Set&lt;QName&gt; getHeaders()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return null;</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@Override</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public boolean handleFault(SOAPMessageContext contexto)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return true;</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@Override</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public void close(MessageContext contexto)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46" name="Google Shape;246;p31"/>
          <p:cNvSpPr txBox="1"/>
          <p:nvPr>
            <p:ph idx="1" type="body"/>
          </p:nvPr>
        </p:nvSpPr>
        <p:spPr>
          <a:xfrm>
            <a:off x="581200" y="3037175"/>
            <a:ext cx="2132400" cy="2605800"/>
          </a:xfrm>
          <a:prstGeom prst="rect">
            <a:avLst/>
          </a:prstGeom>
          <a:noFill/>
          <a:ln>
            <a:noFill/>
          </a:ln>
        </p:spPr>
        <p:txBody>
          <a:bodyPr anchorCtr="0" anchor="ctr" bIns="45700" lIns="91425" spcFirstLastPara="1" rIns="91425" wrap="square" tIns="45700">
            <a:normAutofit lnSpcReduction="20000"/>
          </a:bodyPr>
          <a:lstStyle/>
          <a:p>
            <a:pPr indent="-342900" lvl="0" marL="342900" rtl="0" algn="just">
              <a:lnSpc>
                <a:spcPct val="107000"/>
              </a:lnSpc>
              <a:spcBef>
                <a:spcPts val="0"/>
              </a:spcBef>
              <a:spcAft>
                <a:spcPts val="0"/>
              </a:spcAft>
              <a:buSzPts val="1785"/>
              <a:buChar char="∙"/>
            </a:pPr>
            <a:r>
              <a:rPr b="1" lang="es-ES" sz="1929">
                <a:latin typeface="Cambria"/>
                <a:ea typeface="Cambria"/>
                <a:cs typeface="Cambria"/>
                <a:sym typeface="Cambria"/>
              </a:rPr>
              <a:t>1.2.5	Lógica</a:t>
            </a:r>
            <a:endParaRPr>
              <a:latin typeface="Cambria"/>
              <a:ea typeface="Cambria"/>
              <a:cs typeface="Cambria"/>
              <a:sym typeface="Cambria"/>
            </a:endParaRPr>
          </a:p>
          <a:p>
            <a:pPr indent="0" lvl="0" marL="0" rtl="0" algn="just">
              <a:lnSpc>
                <a:spcPct val="107000"/>
              </a:lnSpc>
              <a:spcBef>
                <a:spcPts val="0"/>
              </a:spcBef>
              <a:spcAft>
                <a:spcPts val="0"/>
              </a:spcAft>
              <a:buNone/>
            </a:pPr>
            <a:r>
              <a:t/>
            </a:r>
            <a:endParaRPr sz="1200">
              <a:latin typeface="Cambria"/>
              <a:ea typeface="Cambria"/>
              <a:cs typeface="Cambria"/>
              <a:sym typeface="Cambria"/>
            </a:endParaRPr>
          </a:p>
          <a:p>
            <a:pPr indent="0" lvl="0" marL="0" rtl="0" algn="just">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47" name="Google Shape;247;p31"/>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48" name="Google Shape;248;p31"/>
          <p:cNvGraphicFramePr/>
          <p:nvPr/>
        </p:nvGraphicFramePr>
        <p:xfrm>
          <a:off x="3017313" y="3676500"/>
          <a:ext cx="3000000" cy="3000000"/>
        </p:xfrm>
        <a:graphic>
          <a:graphicData uri="http://schemas.openxmlformats.org/drawingml/2006/table">
            <a:tbl>
              <a:tblPr>
                <a:noFill/>
                <a:tableStyleId>{BF136021-7255-42B7-A7E7-87A8D8FFE9CA}</a:tableStyleId>
              </a:tblPr>
              <a:tblGrid>
                <a:gridCol w="6062675"/>
              </a:tblGrid>
              <a:tr h="1160900">
                <a:tc>
                  <a:txBody>
                    <a:bodyPr/>
                    <a:lstStyle/>
                    <a:p>
                      <a:pPr indent="0" lvl="0" marL="0" rtl="0" algn="l">
                        <a:spcBef>
                          <a:spcPts val="0"/>
                        </a:spcBef>
                        <a:spcAft>
                          <a:spcPts val="0"/>
                        </a:spcAft>
                        <a:buNone/>
                      </a:pPr>
                      <a:r>
                        <a:rPr lang="es-ES" sz="1200">
                          <a:solidFill>
                            <a:srgbClr val="4F81BD"/>
                          </a:solidFill>
                          <a:latin typeface="Calibri"/>
                          <a:ea typeface="Calibri"/>
                          <a:cs typeface="Calibri"/>
                          <a:sym typeface="Calibri"/>
                        </a:rPr>
                        <a:t>package ec.edu.monster.modelos.utilidades;</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public interface IConversor&lt;T&gt;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public double convertir(double valor, T unidadInicial, T unidadFinal);</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2"/>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54" name="Google Shape;254;p32"/>
          <p:cNvSpPr txBox="1"/>
          <p:nvPr>
            <p:ph idx="1" type="body"/>
          </p:nvPr>
        </p:nvSpPr>
        <p:spPr>
          <a:xfrm>
            <a:off x="581200" y="3037175"/>
            <a:ext cx="2132400" cy="2605800"/>
          </a:xfrm>
          <a:prstGeom prst="rect">
            <a:avLst/>
          </a:prstGeom>
          <a:noFill/>
          <a:ln>
            <a:noFill/>
          </a:ln>
        </p:spPr>
        <p:txBody>
          <a:bodyPr anchorCtr="0" anchor="ctr" bIns="45700" lIns="91425" spcFirstLastPara="1" rIns="91425" wrap="square" tIns="45700">
            <a:normAutofit lnSpcReduction="10000"/>
          </a:bodyPr>
          <a:lstStyle/>
          <a:p>
            <a:pPr indent="0" lvl="0" marL="0" rtl="0" algn="just">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55" name="Google Shape;255;p32"/>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56" name="Google Shape;256;p32"/>
          <p:cNvGraphicFramePr/>
          <p:nvPr/>
        </p:nvGraphicFramePr>
        <p:xfrm>
          <a:off x="3017313" y="1838175"/>
          <a:ext cx="3000000" cy="3000000"/>
        </p:xfrm>
        <a:graphic>
          <a:graphicData uri="http://schemas.openxmlformats.org/drawingml/2006/table">
            <a:tbl>
              <a:tblPr>
                <a:noFill/>
                <a:tableStyleId>{BF136021-7255-42B7-A7E7-87A8D8FFE9CA}</a:tableStyleId>
              </a:tblPr>
              <a:tblGrid>
                <a:gridCol w="6062675"/>
              </a:tblGrid>
              <a:tr h="1160900">
                <a:tc>
                  <a:txBody>
                    <a:bodyPr/>
                    <a:lstStyle/>
                    <a:p>
                      <a:pPr indent="0" lvl="0" marL="0" rtl="0" algn="l">
                        <a:spcBef>
                          <a:spcPts val="0"/>
                        </a:spcBef>
                        <a:spcAft>
                          <a:spcPts val="0"/>
                        </a:spcAft>
                        <a:buNone/>
                      </a:pPr>
                      <a:r>
                        <a:rPr lang="es-ES" sz="1000">
                          <a:solidFill>
                            <a:srgbClr val="4F81BD"/>
                          </a:solidFill>
                          <a:latin typeface="Calibri"/>
                          <a:ea typeface="Calibri"/>
                          <a:cs typeface="Calibri"/>
                          <a:sym typeface="Calibri"/>
                        </a:rPr>
                        <a:t>package ec.edu.monster.modelos.utilidades;</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ec.edu.monster.modelos.utilidades.enums.UnidadLongitud;</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java.util.Map;</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public class ConversorLongitud implements IConversor&lt;UnidadLongitud&gt;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private final Map&lt;UnidadLongitud, Double&gt; factores = Map.of(</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UnidadLongitud.MILIMETRO, 0.001,</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UnidadLongitud.CENTIMETRO, 0.01,</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UnidadLongitud.METRO, 1.0,</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UnidadLongitud.KILOMETRO, 1000.0,</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UnidadLongitud.YARDA, 0.9144</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ConversorLongitud()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@Override</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double convertir(double valor, UnidadLongitud unidadOrigen, UnidadLongitud unidadFinal)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if (unidadOrigen == null || unidadFinal == null)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throw new IllegalArgumentException("Las unidades no pueden ser null");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if (!factores.containsKey(unidadOrigen) || !factores.containsKey(unidadFinal))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throw new IllegalArgumentException("Unidad no soportada");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double valorEnBase = valor * factores.get(unidadOrigen);</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return valorEnBase / factores.get(unidadFinal);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a:t>
                      </a:r>
                      <a:endParaRPr sz="10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3"/>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62" name="Google Shape;262;p33"/>
          <p:cNvSpPr txBox="1"/>
          <p:nvPr>
            <p:ph idx="1" type="body"/>
          </p:nvPr>
        </p:nvSpPr>
        <p:spPr>
          <a:xfrm>
            <a:off x="581200" y="3037175"/>
            <a:ext cx="2132400" cy="2605800"/>
          </a:xfrm>
          <a:prstGeom prst="rect">
            <a:avLst/>
          </a:prstGeom>
          <a:noFill/>
          <a:ln>
            <a:noFill/>
          </a:ln>
        </p:spPr>
        <p:txBody>
          <a:bodyPr anchorCtr="0" anchor="ctr" bIns="45700" lIns="91425" spcFirstLastPara="1" rIns="91425" wrap="square" tIns="45700">
            <a:normAutofit lnSpcReduction="10000"/>
          </a:bodyPr>
          <a:lstStyle/>
          <a:p>
            <a:pPr indent="0" lvl="0" marL="0" rtl="0" algn="just">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63" name="Google Shape;263;p33"/>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64" name="Google Shape;264;p33"/>
          <p:cNvGraphicFramePr/>
          <p:nvPr/>
        </p:nvGraphicFramePr>
        <p:xfrm>
          <a:off x="3017313" y="1838175"/>
          <a:ext cx="3000000" cy="3000000"/>
        </p:xfrm>
        <a:graphic>
          <a:graphicData uri="http://schemas.openxmlformats.org/drawingml/2006/table">
            <a:tbl>
              <a:tblPr>
                <a:noFill/>
                <a:tableStyleId>{BF136021-7255-42B7-A7E7-87A8D8FFE9CA}</a:tableStyleId>
              </a:tblPr>
              <a:tblGrid>
                <a:gridCol w="6062675"/>
              </a:tblGrid>
              <a:tr h="1160900">
                <a:tc>
                  <a:txBody>
                    <a:bodyPr/>
                    <a:lstStyle/>
                    <a:p>
                      <a:pPr indent="0" lvl="0" marL="0" rtl="0" algn="l">
                        <a:spcBef>
                          <a:spcPts val="0"/>
                        </a:spcBef>
                        <a:spcAft>
                          <a:spcPts val="0"/>
                        </a:spcAft>
                        <a:buNone/>
                      </a:pPr>
                      <a:r>
                        <a:rPr lang="es-ES" sz="1000">
                          <a:solidFill>
                            <a:srgbClr val="4F81BD"/>
                          </a:solidFill>
                          <a:latin typeface="Calibri"/>
                          <a:ea typeface="Calibri"/>
                          <a:cs typeface="Calibri"/>
                          <a:sym typeface="Calibri"/>
                        </a:rPr>
                        <a:t>package ec.edu.monster.modelos.utilidades;</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ec.edu.monster.modelos.utilidades.enums.UnidadMasa;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java.util.Map;</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public class ConversorMasa implements IConversor&lt;UnidadMasa&gt;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private final Map&lt;UnidadMasa, Double&gt; factores = Map.of(</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UnidadMasa.MILIGRAMO, 0.001,</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UnidadMasa.GRAMO, 1.0,</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UnidadMasa.KILOGRAMO, 1000.0,</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UnidadMasa.TONELADA, 1_000_000.0,</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UnidadMasa.ONZA, 28.3495</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ConversorMasa()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@Override</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double convertir(double valor, UnidadMasa unidadOrigen, UnidadMasa unidadFinal)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if (unidadOrigen == null || unidadFinal == null)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throw new IllegalArgumentException("Las unidades no pueden ser null");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if (!factores.containsKey(unidadOrigen) || !factores.containsKey(unidadFinal))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throw new IllegalArgumentException("Unidad no soportada");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double valorEnBase = valor * factores.get(unidadOrigen);</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return valorEnBase / factores.get(unidadFinal);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a:t>
                      </a:r>
                      <a:endParaRPr sz="10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70" name="Google Shape;270;p34"/>
          <p:cNvSpPr txBox="1"/>
          <p:nvPr>
            <p:ph idx="1" type="body"/>
          </p:nvPr>
        </p:nvSpPr>
        <p:spPr>
          <a:xfrm>
            <a:off x="581200" y="3037175"/>
            <a:ext cx="2132400" cy="2605800"/>
          </a:xfrm>
          <a:prstGeom prst="rect">
            <a:avLst/>
          </a:prstGeom>
          <a:noFill/>
          <a:ln>
            <a:noFill/>
          </a:ln>
        </p:spPr>
        <p:txBody>
          <a:bodyPr anchorCtr="0" anchor="ctr" bIns="45700" lIns="91425" spcFirstLastPara="1" rIns="91425" wrap="square" tIns="45700">
            <a:normAutofit lnSpcReduction="10000"/>
          </a:bodyPr>
          <a:lstStyle/>
          <a:p>
            <a:pPr indent="0" lvl="0" marL="0" rtl="0" algn="just">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71" name="Google Shape;271;p34"/>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72" name="Google Shape;272;p34"/>
          <p:cNvGraphicFramePr/>
          <p:nvPr/>
        </p:nvGraphicFramePr>
        <p:xfrm>
          <a:off x="2891513" y="2209650"/>
          <a:ext cx="3000000" cy="3000000"/>
        </p:xfrm>
        <a:graphic>
          <a:graphicData uri="http://schemas.openxmlformats.org/drawingml/2006/table">
            <a:tbl>
              <a:tblPr>
                <a:noFill/>
                <a:tableStyleId>{BF136021-7255-42B7-A7E7-87A8D8FFE9CA}</a:tableStyleId>
              </a:tblPr>
              <a:tblGrid>
                <a:gridCol w="6062675"/>
              </a:tblGrid>
              <a:tr h="1160900">
                <a:tc>
                  <a:txBody>
                    <a:bodyPr/>
                    <a:lstStyle/>
                    <a:p>
                      <a:pPr indent="0" lvl="0" marL="0" rtl="0" algn="l">
                        <a:spcBef>
                          <a:spcPts val="0"/>
                        </a:spcBef>
                        <a:spcAft>
                          <a:spcPts val="0"/>
                        </a:spcAft>
                        <a:buNone/>
                      </a:pPr>
                      <a:r>
                        <a:rPr lang="es-ES" sz="1200">
                          <a:solidFill>
                            <a:srgbClr val="4F81BD"/>
                          </a:solidFill>
                          <a:latin typeface="Calibri"/>
                          <a:ea typeface="Calibri"/>
                          <a:cs typeface="Calibri"/>
                          <a:sym typeface="Calibri"/>
                        </a:rPr>
                        <a:t>package ec.edu.monster.modelos.utilidades;</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import ec.edu.monster.modelos.utilidades.enums.UnidadTemperatura;</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import static ec.edu.monster.modelos.utilidades.enums.UnidadTemperatura.CELSIUS;</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import static ec.edu.monster.modelos.utilidades.enums.UnidadTemperatura.FAHRENHEIT;</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import static ec.edu.monster.modelos.utilidades.enums.UnidadTemperatura.KELVIN;</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import static ec.edu.monster.modelos.utilidades.enums.UnidadTemperatura.RANKINE;</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public class ConversorTemperatura implements IConversor&lt;UnidadTemperatura&gt;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public ConversorTemperatura()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@Override</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public double convertir(double valor, UnidadTemperatura origen, UnidadTemperatura destino)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if (origen == null || destino == null)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throw new IllegalArgumentException("Las unidades no pueden ser null");</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if (origen == destino)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return valor;</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78" name="Google Shape;278;p35"/>
          <p:cNvSpPr txBox="1"/>
          <p:nvPr>
            <p:ph idx="1" type="body"/>
          </p:nvPr>
        </p:nvSpPr>
        <p:spPr>
          <a:xfrm>
            <a:off x="581200" y="3037175"/>
            <a:ext cx="2132400" cy="2605800"/>
          </a:xfrm>
          <a:prstGeom prst="rect">
            <a:avLst/>
          </a:prstGeom>
          <a:noFill/>
          <a:ln>
            <a:noFill/>
          </a:ln>
        </p:spPr>
        <p:txBody>
          <a:bodyPr anchorCtr="0" anchor="ctr" bIns="45700" lIns="91425" spcFirstLastPara="1" rIns="91425" wrap="square" tIns="45700">
            <a:normAutofit lnSpcReduction="10000"/>
          </a:bodyPr>
          <a:lstStyle/>
          <a:p>
            <a:pPr indent="0" lvl="0" marL="0" rtl="0" algn="just">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79" name="Google Shape;279;p3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80" name="Google Shape;280;p35"/>
          <p:cNvGraphicFramePr/>
          <p:nvPr/>
        </p:nvGraphicFramePr>
        <p:xfrm>
          <a:off x="2891513" y="1838175"/>
          <a:ext cx="3000000" cy="3000000"/>
        </p:xfrm>
        <a:graphic>
          <a:graphicData uri="http://schemas.openxmlformats.org/drawingml/2006/table">
            <a:tbl>
              <a:tblPr>
                <a:noFill/>
                <a:tableStyleId>{BF136021-7255-42B7-A7E7-87A8D8FFE9CA}</a:tableStyleId>
              </a:tblPr>
              <a:tblGrid>
                <a:gridCol w="6062675"/>
              </a:tblGrid>
              <a:tr h="1160900">
                <a:tc>
                  <a:txBody>
                    <a:bodyPr/>
                    <a:lstStyle/>
                    <a:p>
                      <a:pPr indent="0" lvl="0" marL="0" rtl="0" algn="l">
                        <a:spcBef>
                          <a:spcPts val="0"/>
                        </a:spcBef>
                        <a:spcAft>
                          <a:spcPts val="0"/>
                        </a:spcAft>
                        <a:buNone/>
                      </a:pPr>
                      <a:r>
                        <a:rPr lang="es-ES" sz="1000">
                          <a:solidFill>
                            <a:srgbClr val="4F81BD"/>
                          </a:solidFill>
                          <a:latin typeface="Calibri"/>
                          <a:ea typeface="Calibri"/>
                          <a:cs typeface="Calibri"/>
                          <a:sym typeface="Calibri"/>
                        </a:rPr>
                        <a:t>return switch (origen)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CELSIUS -&gt; switch (destino)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FAHRENHEIT -&gt; (valor * 9 / 5) + 32;</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KELVIN -&gt; valor + 273.15;</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RANKINE -&gt; (valor + 273.15) * 9 / 5;</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default -&gt; throw new IllegalArgumentException("Conversión no soportada");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FAHRENHEIT -&gt; switch (destino)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CELSIUS -&gt; (valor - 32) * 5 / 9;</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KELVIN -&gt; (valor - 32) * 5 / 9 + 273.15;</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RANKINE -&gt; valor + 459.67;</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default -&gt; throw new IllegalArgumentException("Conversión no soportada");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KELVIN -&gt; switch (destino)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CELSIUS -&gt; valor - 273.15;</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FAHRENHEIT -&gt; (valor - 273.15) * 9 / 5 + 32;</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RANKINE -&gt; valor * 9 / 5;</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default -&gt; throw new IllegalArgumentException("Conversión no soportada");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RANKINE -&gt; switch (destino)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CELSIUS -&gt; (valor - 491.67) * 5 / 9;</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FAHRENHEIT -&gt; valor - 459.67;</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KELVIN -&gt; valor * 5 / 9;</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default -&gt; throw new IllegalArgumentException("Conversión no soportada");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a:t>
                      </a:r>
                      <a:endParaRPr sz="8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86" name="Google Shape;286;p36"/>
          <p:cNvSpPr txBox="1"/>
          <p:nvPr>
            <p:ph idx="1" type="body"/>
          </p:nvPr>
        </p:nvSpPr>
        <p:spPr>
          <a:xfrm>
            <a:off x="581200" y="3037175"/>
            <a:ext cx="2132400" cy="2605800"/>
          </a:xfrm>
          <a:prstGeom prst="rect">
            <a:avLst/>
          </a:prstGeom>
          <a:noFill/>
          <a:ln>
            <a:noFill/>
          </a:ln>
        </p:spPr>
        <p:txBody>
          <a:bodyPr anchorCtr="0" anchor="ctr" bIns="45700" lIns="91425" spcFirstLastPara="1" rIns="91425" wrap="square" tIns="45700">
            <a:normAutofit/>
          </a:bodyPr>
          <a:lstStyle/>
          <a:p>
            <a:pPr indent="0" lvl="0" marL="0" rtl="0" algn="just">
              <a:lnSpc>
                <a:spcPct val="107000"/>
              </a:lnSpc>
              <a:spcBef>
                <a:spcPts val="0"/>
              </a:spcBef>
              <a:spcAft>
                <a:spcPts val="0"/>
              </a:spcAft>
              <a:buNone/>
            </a:pPr>
            <a:r>
              <a:rPr lang="es-ES" sz="1200">
                <a:latin typeface="Cambria"/>
                <a:ea typeface="Cambria"/>
                <a:cs typeface="Cambria"/>
                <a:sym typeface="Cambria"/>
              </a:rPr>
              <a:t>Aplicando una interfaz con el fin de hacer que el servicio pueda inyectar cualquier tipo de conversión sin limitarse a uno en concreto como se puede ver en la Tabla del Servicio</a:t>
            </a:r>
            <a:endParaRPr sz="1300">
              <a:latin typeface="Cambria"/>
              <a:ea typeface="Cambria"/>
              <a:cs typeface="Cambria"/>
              <a:sym typeface="Cambria"/>
            </a:endParaRPr>
          </a:p>
        </p:txBody>
      </p:sp>
      <p:sp>
        <p:nvSpPr>
          <p:cNvPr id="287" name="Google Shape;287;p3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88" name="Google Shape;288;p36"/>
          <p:cNvGraphicFramePr/>
          <p:nvPr/>
        </p:nvGraphicFramePr>
        <p:xfrm>
          <a:off x="2891513" y="2557313"/>
          <a:ext cx="3000000" cy="3000000"/>
        </p:xfrm>
        <a:graphic>
          <a:graphicData uri="http://schemas.openxmlformats.org/drawingml/2006/table">
            <a:tbl>
              <a:tblPr>
                <a:noFill/>
                <a:tableStyleId>{BF136021-7255-42B7-A7E7-87A8D8FFE9CA}</a:tableStyleId>
              </a:tblPr>
              <a:tblGrid>
                <a:gridCol w="6062675"/>
              </a:tblGrid>
              <a:tr h="1160900">
                <a:tc>
                  <a:txBody>
                    <a:bodyPr/>
                    <a:lstStyle/>
                    <a:p>
                      <a:pPr indent="0" lvl="0" marL="0" rtl="0" algn="l">
                        <a:spcBef>
                          <a:spcPts val="0"/>
                        </a:spcBef>
                        <a:spcAft>
                          <a:spcPts val="0"/>
                        </a:spcAft>
                        <a:buNone/>
                      </a:pPr>
                      <a:r>
                        <a:rPr lang="es-ES" sz="1200">
                          <a:solidFill>
                            <a:srgbClr val="4F81BD"/>
                          </a:solidFill>
                          <a:latin typeface="Calibri"/>
                          <a:ea typeface="Calibri"/>
                          <a:cs typeface="Calibri"/>
                          <a:sym typeface="Calibri"/>
                        </a:rPr>
                        <a:t>package ec.edu.monster.servicios;</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import ec.edu.monster.modelos.utilidades.IConversor;</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public class ServicioConversor&lt;T&gt;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private final IConversor&lt;T&gt; conversor;</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public ServicioConversor(IConversor&lt;T&gt; conversor)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this.conversor = conversor;</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public double convertir(double valor, T origen, T destino)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if (conversor == null)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throw new IllegalStateException("No se ha inyectado un conversor");</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return conversor.convertir(valor, origen, destino);</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a:t>
                      </a:r>
                      <a:endParaRPr sz="12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94" name="Google Shape;294;p37"/>
          <p:cNvSpPr txBox="1"/>
          <p:nvPr>
            <p:ph idx="1" type="body"/>
          </p:nvPr>
        </p:nvSpPr>
        <p:spPr>
          <a:xfrm>
            <a:off x="581200" y="2018775"/>
            <a:ext cx="2685600" cy="45588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1.2.6 	Ejecución en Servidor</a:t>
            </a:r>
            <a:endParaRPr>
              <a:latin typeface="Cambria"/>
              <a:ea typeface="Cambria"/>
              <a:cs typeface="Cambria"/>
              <a:sym typeface="Cambria"/>
            </a:endParaRPr>
          </a:p>
          <a:p>
            <a:pPr indent="-323850" lvl="0" marL="342900" marR="0" rtl="0" algn="just">
              <a:lnSpc>
                <a:spcPct val="107000"/>
              </a:lnSpc>
              <a:spcBef>
                <a:spcPts val="0"/>
              </a:spcBef>
              <a:spcAft>
                <a:spcPts val="0"/>
              </a:spcAft>
              <a:buSzPts val="1356"/>
              <a:buFont typeface="Cambria"/>
              <a:buChar char="∙"/>
            </a:pPr>
            <a:r>
              <a:rPr lang="es-ES" sz="1500">
                <a:latin typeface="Cambria"/>
                <a:ea typeface="Cambria"/>
                <a:cs typeface="Cambria"/>
                <a:sym typeface="Cambria"/>
              </a:rPr>
              <a:t>Se ejecuta el programa corriendo en nuestro servidor payara y se comprueba que el contrato WSDL esté correcto en la ruta (Dejamos anteriormente que Payara corra por defecto en 8080): http://localhost:8080/WS_ConUni_Java_SOAP/WSConversorUnidades?wsdl</a:t>
            </a:r>
            <a:endParaRPr sz="1500">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295" name="Google Shape;295;p37"/>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96" name="Google Shape;296;p37"/>
          <p:cNvPicPr preferRelativeResize="0"/>
          <p:nvPr/>
        </p:nvPicPr>
        <p:blipFill>
          <a:blip r:embed="rId3">
            <a:alphaModFix/>
          </a:blip>
          <a:stretch>
            <a:fillRect/>
          </a:stretch>
        </p:blipFill>
        <p:spPr>
          <a:xfrm>
            <a:off x="3728750" y="1878563"/>
            <a:ext cx="5192894" cy="48392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8"/>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chemeClr val="accent2"/>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SERVIDOR SOAP</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PROYECTO – CLIENTE CONSOLA</a:t>
            </a:r>
            <a:endParaRPr b="1" i="0" sz="1200" u="none" cap="none" strike="noStrike">
              <a:solidFill>
                <a:srgbClr val="FFFF00"/>
              </a:solidFill>
              <a:latin typeface="Gill Sans"/>
              <a:ea typeface="Gill Sans"/>
              <a:cs typeface="Gill Sans"/>
              <a:sym typeface="Gill Sans"/>
            </a:endParaRPr>
          </a:p>
          <a:p>
            <a:pPr indent="-312096" lvl="1" marL="763200" marR="0" rtl="0" algn="l">
              <a:lnSpc>
                <a:spcPct val="100000"/>
              </a:lnSpc>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3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03" name="Google Shape;303;p38"/>
          <p:cNvSpPr txBox="1"/>
          <p:nvPr>
            <p:ph idx="1" type="body"/>
          </p:nvPr>
        </p:nvSpPr>
        <p:spPr>
          <a:xfrm>
            <a:off x="581200" y="1983000"/>
            <a:ext cx="8581500" cy="2149500"/>
          </a:xfrm>
          <a:prstGeom prst="rect">
            <a:avLst/>
          </a:prstGeom>
          <a:noFill/>
          <a:ln>
            <a:noFill/>
          </a:ln>
        </p:spPr>
        <p:txBody>
          <a:bodyPr anchorCtr="0" anchor="ctr" bIns="45700" lIns="91425" spcFirstLastPara="1" rIns="91425" wrap="square" tIns="45700">
            <a:normAutofit fontScale="92500" lnSpcReduction="10000"/>
          </a:bodyPr>
          <a:lstStyle/>
          <a:p>
            <a:pPr indent="0" lvl="0" marL="0" rtl="0" algn="l">
              <a:lnSpc>
                <a:spcPct val="115000"/>
              </a:lnSpc>
              <a:spcBef>
                <a:spcPts val="1200"/>
              </a:spcBef>
              <a:spcAft>
                <a:spcPts val="0"/>
              </a:spcAft>
              <a:buClr>
                <a:schemeClr val="dk1"/>
              </a:buClr>
              <a:buSzPct val="70332"/>
              <a:buFont typeface="Arial"/>
              <a:buNone/>
            </a:pPr>
            <a:r>
              <a:rPr b="1" lang="es-ES" sz="1564">
                <a:latin typeface="Cambria"/>
                <a:ea typeface="Cambria"/>
                <a:cs typeface="Cambria"/>
                <a:sym typeface="Cambria"/>
              </a:rPr>
              <a:t>1.3 	CREACIÓN DEL PROYECTO CLIENTE CONSOLA</a:t>
            </a:r>
            <a:endParaRPr b="1" sz="1564">
              <a:latin typeface="Cambria"/>
              <a:ea typeface="Cambria"/>
              <a:cs typeface="Cambria"/>
              <a:sym typeface="Cambria"/>
            </a:endParaRPr>
          </a:p>
          <a:p>
            <a:pPr indent="0" lvl="0" marL="0" rtl="0" algn="l">
              <a:lnSpc>
                <a:spcPct val="115000"/>
              </a:lnSpc>
              <a:spcBef>
                <a:spcPts val="1200"/>
              </a:spcBef>
              <a:spcAft>
                <a:spcPts val="0"/>
              </a:spcAft>
              <a:buClr>
                <a:schemeClr val="dk1"/>
              </a:buClr>
              <a:buSzPct val="70332"/>
              <a:buFont typeface="Arial"/>
              <a:buNone/>
            </a:pPr>
            <a:r>
              <a:t/>
            </a:r>
            <a:endParaRPr b="1" sz="1564">
              <a:latin typeface="Cambria"/>
              <a:ea typeface="Cambria"/>
              <a:cs typeface="Cambria"/>
              <a:sym typeface="Cambria"/>
            </a:endParaRPr>
          </a:p>
          <a:p>
            <a:pPr indent="-320524" lvl="0" marL="457200" rtl="0" algn="l">
              <a:lnSpc>
                <a:spcPct val="115000"/>
              </a:lnSpc>
              <a:spcBef>
                <a:spcPts val="0"/>
              </a:spcBef>
              <a:spcAft>
                <a:spcPts val="0"/>
              </a:spcAft>
              <a:buSzPct val="100064"/>
              <a:buFont typeface="Cambria"/>
              <a:buChar char="◼"/>
            </a:pPr>
            <a:r>
              <a:rPr lang="es-ES" sz="1564">
                <a:latin typeface="Cambria"/>
                <a:ea typeface="Cambria"/>
                <a:cs typeface="Cambria"/>
                <a:sym typeface="Cambria"/>
              </a:rPr>
              <a:t>Para el cliente consola se uso NetBeans en el cual se debe crear un nuevo proyecto para ello se seleccionó el gestor de proyectos Java with Maven, el tipo de aplicativo que se usa es Java </a:t>
            </a:r>
            <a:r>
              <a:rPr lang="es-ES" sz="1564">
                <a:latin typeface="Cambria"/>
                <a:ea typeface="Cambria"/>
                <a:cs typeface="Cambria"/>
                <a:sym typeface="Cambria"/>
              </a:rPr>
              <a:t>Application</a:t>
            </a:r>
            <a:r>
              <a:rPr lang="es-ES" sz="1564">
                <a:latin typeface="Cambria"/>
                <a:ea typeface="Cambria"/>
                <a:cs typeface="Cambria"/>
                <a:sym typeface="Cambria"/>
              </a:rPr>
              <a:t>.</a:t>
            </a:r>
            <a:endParaRPr sz="1564">
              <a:latin typeface="Cambria"/>
              <a:ea typeface="Cambria"/>
              <a:cs typeface="Cambria"/>
              <a:sym typeface="Cambria"/>
            </a:endParaRPr>
          </a:p>
          <a:p>
            <a:pPr indent="-320465" lvl="0" marL="457200" rtl="0" algn="l">
              <a:lnSpc>
                <a:spcPct val="115000"/>
              </a:lnSpc>
              <a:spcBef>
                <a:spcPts val="0"/>
              </a:spcBef>
              <a:spcAft>
                <a:spcPts val="0"/>
              </a:spcAft>
              <a:buSzPct val="100000"/>
              <a:buFont typeface="Cambria"/>
              <a:buChar char="◼"/>
            </a:pPr>
            <a:r>
              <a:rPr lang="es-ES" sz="1564">
                <a:latin typeface="Cambria"/>
                <a:ea typeface="Cambria"/>
                <a:cs typeface="Cambria"/>
                <a:sym typeface="Cambria"/>
              </a:rPr>
              <a:t>Se asigna un nombre al proyecto, se da una ubicacion, y se configura el group id con el que se quiere nombrar.</a:t>
            </a:r>
            <a:endParaRPr sz="1564">
              <a:latin typeface="Cambria"/>
              <a:ea typeface="Cambria"/>
              <a:cs typeface="Cambria"/>
              <a:sym typeface="Cambria"/>
            </a:endParaRPr>
          </a:p>
          <a:p>
            <a:pPr indent="0" lvl="0" marL="0" rtl="0" algn="l">
              <a:lnSpc>
                <a:spcPct val="115000"/>
              </a:lnSpc>
              <a:spcBef>
                <a:spcPts val="1200"/>
              </a:spcBef>
              <a:spcAft>
                <a:spcPts val="1200"/>
              </a:spcAft>
              <a:buSzPct val="99162"/>
              <a:buNone/>
            </a:pPr>
            <a:r>
              <a:t/>
            </a:r>
            <a:endParaRPr sz="1670">
              <a:latin typeface="Cambria"/>
              <a:ea typeface="Cambria"/>
              <a:cs typeface="Cambria"/>
              <a:sym typeface="Cambria"/>
            </a:endParaRPr>
          </a:p>
        </p:txBody>
      </p:sp>
      <p:pic>
        <p:nvPicPr>
          <p:cNvPr id="304" name="Google Shape;304;p38"/>
          <p:cNvPicPr preferRelativeResize="0"/>
          <p:nvPr/>
        </p:nvPicPr>
        <p:blipFill>
          <a:blip r:embed="rId3">
            <a:alphaModFix/>
          </a:blip>
          <a:stretch>
            <a:fillRect/>
          </a:stretch>
        </p:blipFill>
        <p:spPr>
          <a:xfrm>
            <a:off x="581200" y="3907425"/>
            <a:ext cx="3704150" cy="2528925"/>
          </a:xfrm>
          <a:prstGeom prst="rect">
            <a:avLst/>
          </a:prstGeom>
          <a:noFill/>
          <a:ln>
            <a:noFill/>
          </a:ln>
        </p:spPr>
      </p:pic>
      <p:pic>
        <p:nvPicPr>
          <p:cNvPr id="305" name="Google Shape;305;p38"/>
          <p:cNvPicPr preferRelativeResize="0"/>
          <p:nvPr/>
        </p:nvPicPr>
        <p:blipFill>
          <a:blip r:embed="rId4">
            <a:alphaModFix/>
          </a:blip>
          <a:stretch>
            <a:fillRect/>
          </a:stretch>
        </p:blipFill>
        <p:spPr>
          <a:xfrm>
            <a:off x="4900125" y="3765892"/>
            <a:ext cx="3704150" cy="259360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chemeClr val="accent2"/>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SERVIDOR SOAP</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PROYECTO – CLIENTE CONSOLA</a:t>
            </a:r>
            <a:endParaRPr b="1" i="0" sz="1200" u="none" cap="none" strike="noStrike">
              <a:solidFill>
                <a:srgbClr val="FFFF00"/>
              </a:solidFill>
              <a:latin typeface="Gill Sans"/>
              <a:ea typeface="Gill Sans"/>
              <a:cs typeface="Gill Sans"/>
              <a:sym typeface="Gill Sans"/>
            </a:endParaRPr>
          </a:p>
          <a:p>
            <a:pPr indent="-312096" lvl="1" marL="763200" marR="0" rtl="0" algn="l">
              <a:lnSpc>
                <a:spcPct val="100000"/>
              </a:lnSpc>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3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12" name="Google Shape;312;p39"/>
          <p:cNvSpPr txBox="1"/>
          <p:nvPr>
            <p:ph idx="1" type="body"/>
          </p:nvPr>
        </p:nvSpPr>
        <p:spPr>
          <a:xfrm>
            <a:off x="581200" y="1983000"/>
            <a:ext cx="8581500" cy="2149500"/>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b="1" lang="es-ES" sz="1564">
                <a:latin typeface="Cambria"/>
                <a:ea typeface="Cambria"/>
                <a:cs typeface="Cambria"/>
                <a:sym typeface="Cambria"/>
              </a:rPr>
              <a:t>1.3 	CREACIÓN DEL PROYECTO CLIENTE CONSOLA</a:t>
            </a:r>
            <a:endParaRPr b="1" sz="1564">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t/>
            </a:r>
            <a:endParaRPr b="1" sz="1564">
              <a:latin typeface="Cambria"/>
              <a:ea typeface="Cambria"/>
              <a:cs typeface="Cambria"/>
              <a:sym typeface="Cambria"/>
            </a:endParaRPr>
          </a:p>
          <a:p>
            <a:pPr indent="-327914" lvl="0" marL="457200" rtl="0" algn="l">
              <a:lnSpc>
                <a:spcPct val="115000"/>
              </a:lnSpc>
              <a:spcBef>
                <a:spcPts val="0"/>
              </a:spcBef>
              <a:spcAft>
                <a:spcPts val="0"/>
              </a:spcAft>
              <a:buSzPts val="1564"/>
              <a:buFont typeface="Cambria"/>
              <a:buChar char="◼"/>
            </a:pPr>
            <a:r>
              <a:rPr lang="es-ES" sz="1564">
                <a:latin typeface="Cambria"/>
                <a:ea typeface="Cambria"/>
                <a:cs typeface="Cambria"/>
                <a:sym typeface="Cambria"/>
              </a:rPr>
              <a:t>Una vez que se creó el proyecto se debe generar los diferentes paquetes, donde se colocarán los archivos con código fuente.</a:t>
            </a:r>
            <a:endParaRPr sz="1564">
              <a:latin typeface="Cambria"/>
              <a:ea typeface="Cambria"/>
              <a:cs typeface="Cambria"/>
              <a:sym typeface="Cambria"/>
            </a:endParaRPr>
          </a:p>
          <a:p>
            <a:pPr indent="0" lvl="0" marL="0" rtl="0" algn="l">
              <a:lnSpc>
                <a:spcPct val="115000"/>
              </a:lnSpc>
              <a:spcBef>
                <a:spcPts val="1200"/>
              </a:spcBef>
              <a:spcAft>
                <a:spcPts val="1200"/>
              </a:spcAft>
              <a:buSzPts val="1656"/>
              <a:buNone/>
            </a:pPr>
            <a:r>
              <a:t/>
            </a:r>
            <a:endParaRPr sz="1670">
              <a:latin typeface="Cambria"/>
              <a:ea typeface="Cambria"/>
              <a:cs typeface="Cambria"/>
              <a:sym typeface="Cambria"/>
            </a:endParaRPr>
          </a:p>
        </p:txBody>
      </p:sp>
      <p:pic>
        <p:nvPicPr>
          <p:cNvPr id="313" name="Google Shape;313;p39"/>
          <p:cNvPicPr preferRelativeResize="0"/>
          <p:nvPr/>
        </p:nvPicPr>
        <p:blipFill>
          <a:blip r:embed="rId3">
            <a:alphaModFix/>
          </a:blip>
          <a:stretch>
            <a:fillRect/>
          </a:stretch>
        </p:blipFill>
        <p:spPr>
          <a:xfrm>
            <a:off x="2668875" y="3950625"/>
            <a:ext cx="3743325" cy="24098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0"/>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19" name="Google Shape;319;p40"/>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20" name="Google Shape;320;p40"/>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321" name="Google Shape;321;p40"/>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4701300">
                <a:tc>
                  <a:txBody>
                    <a:bodyPr/>
                    <a:lstStyle/>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package client.ws;</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jakarta.jws.WebMethod;</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jakarta.jws.WebParam;</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jakarta.jws.WebResult;</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jakarta.jws.WebService;</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jakarta.jws.soap.SOAPBinding;</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@WebService(name = "WSConversorUnidades", targetNamespace = "http://ws.controladores.monster.edu.ec/")</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@SOAPBinding(parameterStyle = SOAPBinding.ParameterStyle.WRAPPED)</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public interface ContratoWSConversor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@WebMethod(operationName = "login")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@WebResult(name = "return")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String login(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@WebParam(name = "usuario") String usuario,</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@WebParam(name = "contrasenia") String contrasenia);</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@WebMethod(operationName = "convertirLongitud")</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@WebResult(name = "return")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double convertirLongitud(</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@WebParam(name = "valor") double valor,</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@WebParam(name = "unidadInicial") String unidadInicial,</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@WebParam(name = "unidadFinal") String unidadFinal);</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27" name="Google Shape;327;p41"/>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28" name="Google Shape;328;p41"/>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329" name="Google Shape;329;p41"/>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4701300">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@WebMethod(operationName = "convertirMasa")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@WebResult(name = "return")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double convertirMasa(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@WebParam(name = "valor") double valor,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@WebParam(name = "unidadInicial") String unidadInicial,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@WebParam(name = "unidadFinal") String unidadFinal);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@WebMethod(operationName = "convertirTemperatura")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@WebResult(name = "return")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double convertirTemperatura(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@WebParam(name = "valor") double valor,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@WebParam(name = "unidadInicial") String unidadInicial,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@WebParam(name = "unidadFinal") String unidadFinal);</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2"/>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35" name="Google Shape;335;p42"/>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36" name="Google Shape;336;p42"/>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337" name="Google Shape;337;p42"/>
          <p:cNvGraphicFramePr/>
          <p:nvPr/>
        </p:nvGraphicFramePr>
        <p:xfrm>
          <a:off x="2278500" y="1818850"/>
          <a:ext cx="3000000" cy="3000000"/>
        </p:xfrm>
        <a:graphic>
          <a:graphicData uri="http://schemas.openxmlformats.org/drawingml/2006/table">
            <a:tbl>
              <a:tblPr>
                <a:noFill/>
                <a:tableStyleId>{BF136021-7255-42B7-A7E7-87A8D8FFE9CA}</a:tableStyleId>
              </a:tblPr>
              <a:tblGrid>
                <a:gridCol w="5439425"/>
              </a:tblGrid>
              <a:tr h="4701300">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package client.ws;</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jakarta.xml.ws.Binding;</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jakarta.xml.ws.BindingProvider;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jakarta.xml.ws.Service;</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jakarta.xml.ws.handler.Handler;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java.net.URL;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java.util.ArrayList;</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java.util.List;</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javax.xml.namespace.QName;</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public class ClienteWSConversor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static final String ESPACIO_NOMBRES = "http://ws.controladores.monster.edu.ec/";</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static final String PROPIEDAD_BASE_WS = "ws.base.url";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static final String VARIABLE_BASE_WS = "WS_BASE_URL";</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static final QName QNOMBRE_SERVICIO = new QName(ESPACIO_NOMBRES, "WSConversorUnidades");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static final QName QNOMBRE_PUERTO = new QName(ESPACIO_NOMBRES, "WSConversorUnidadesPort");</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static final List&lt;String&gt; BASES_URL_POR_DEFECTO = List.of(</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"http://localhost:8080/04.SERVIDOR",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"http://localhost:8080/WS_ConUni_Java_GR5",</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"http://localhost:8080/WS_ConUni_Java_GR5-1.0-SNAPSHOT"</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3"/>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43" name="Google Shape;343;p43"/>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44" name="Google Shape;344;p43"/>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345" name="Google Shape;345;p43"/>
          <p:cNvGraphicFramePr/>
          <p:nvPr/>
        </p:nvGraphicFramePr>
        <p:xfrm>
          <a:off x="2043325" y="2041263"/>
          <a:ext cx="3000000" cy="3000000"/>
        </p:xfrm>
        <a:graphic>
          <a:graphicData uri="http://schemas.openxmlformats.org/drawingml/2006/table">
            <a:tbl>
              <a:tblPr>
                <a:noFill/>
                <a:tableStyleId>{BF136021-7255-42B7-A7E7-87A8D8FFE9CA}</a:tableStyleId>
              </a:tblPr>
              <a:tblGrid>
                <a:gridCol w="3522650"/>
              </a:tblGrid>
              <a:tr h="3972225">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 private final ContratoWSConversor puerto;</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String tokenSesion;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String endpointActivo;</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ClienteWSConversor()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this.puerto = inicializarPuerto();</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ContratoWSConversor inicializarPuerto()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List&lt;String&gt; basesUrl = construirBasesUrl();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List&lt;String&gt; wsdlsIntentados = new ArrayList&lt;&gt;();</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for (String baseUrl : basesUrl)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String endpoint = baseUrl + "/WSConversorUnidades";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List&lt;String&gt; wsdlsCandidatos = List.of(</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endpoint + "?WSDL",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endpoint + "?wsdl"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T="63500" marB="63500" marR="63500" marL="63500"/>
                </a:tc>
              </a:tr>
            </a:tbl>
          </a:graphicData>
        </a:graphic>
      </p:graphicFrame>
      <p:graphicFrame>
        <p:nvGraphicFramePr>
          <p:cNvPr id="346" name="Google Shape;346;p43"/>
          <p:cNvGraphicFramePr/>
          <p:nvPr/>
        </p:nvGraphicFramePr>
        <p:xfrm>
          <a:off x="5684675" y="2041263"/>
          <a:ext cx="3000000" cy="3000000"/>
        </p:xfrm>
        <a:graphic>
          <a:graphicData uri="http://schemas.openxmlformats.org/drawingml/2006/table">
            <a:tbl>
              <a:tblPr>
                <a:noFill/>
                <a:tableStyleId>{BF136021-7255-42B7-A7E7-87A8D8FFE9CA}</a:tableStyleId>
              </a:tblPr>
              <a:tblGrid>
                <a:gridCol w="3699025"/>
              </a:tblGrid>
              <a:tr h="3972225">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       for (String wsdl : wsdlsCandidatos)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try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Service servicio = Service.create(new URL(wsdl), QNOMBRE_SERVICIO);</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ContratoWSConversor puertoTemporal = servicio.getPort(QNOMBRE_PUERTO, ContratoWSConversor.class);</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BindingProvider proveedor = (BindingProvider) puertoTemporal;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proveedor.getRequestContext().put(BindingProvider.ENDPOINT_ADDRESS_PROPERTY, endpoint);</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configurarManejadorToken(proveedor);</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this.endpointActivo = endpoint;</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puertoTemporal;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 catch (Exception ex)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wsdlsIntentados.add(wsdl);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52" name="Google Shape;352;p44"/>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53" name="Google Shape;353;p44"/>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354" name="Google Shape;354;p44"/>
          <p:cNvGraphicFramePr/>
          <p:nvPr/>
        </p:nvGraphicFramePr>
        <p:xfrm>
          <a:off x="2043325" y="2041263"/>
          <a:ext cx="3000000" cy="3000000"/>
        </p:xfrm>
        <a:graphic>
          <a:graphicData uri="http://schemas.openxmlformats.org/drawingml/2006/table">
            <a:tbl>
              <a:tblPr>
                <a:noFill/>
                <a:tableStyleId>{BF136021-7255-42B7-A7E7-87A8D8FFE9CA}</a:tableStyleId>
              </a:tblPr>
              <a:tblGrid>
                <a:gridCol w="3522650"/>
              </a:tblGrid>
              <a:tr h="3972225">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  throw new IllegalStateException(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"No fue posible inicializar el cliente SOAP.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 "No se encontro el WSDL en ninguna URL candidata: " + String.join(", ", wsdlsIntentados)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 ". Verifique que 04. SERVIDOR este desplegado y activo en Payara."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List&lt;String&gt; construirBasesUrl()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List&lt;String&gt; basesUrl = new ArrayList&lt;&gt;();</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String baseConfigurada = obtenerBaseConfigurada();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if (baseConfigurada != null &amp;&amp; !baseConfigurada.isBlank())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basesUrl.add(normalizarBase(baseConfigurada));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for (String baseDefecto : BASES_URL_POR_DEFECTO)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if (!basesUrl.contains(baseDefecto))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basesUrl.add(baseDefecto);</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basesUrl;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T="63500" marB="63500" marR="63500" marL="63500"/>
                </a:tc>
              </a:tr>
            </a:tbl>
          </a:graphicData>
        </a:graphic>
      </p:graphicFrame>
      <p:graphicFrame>
        <p:nvGraphicFramePr>
          <p:cNvPr id="355" name="Google Shape;355;p44"/>
          <p:cNvGraphicFramePr/>
          <p:nvPr/>
        </p:nvGraphicFramePr>
        <p:xfrm>
          <a:off x="5684675" y="2041263"/>
          <a:ext cx="3000000" cy="3000000"/>
        </p:xfrm>
        <a:graphic>
          <a:graphicData uri="http://schemas.openxmlformats.org/drawingml/2006/table">
            <a:tbl>
              <a:tblPr>
                <a:noFill/>
                <a:tableStyleId>{BF136021-7255-42B7-A7E7-87A8D8FFE9CA}</a:tableStyleId>
              </a:tblPr>
              <a:tblGrid>
                <a:gridCol w="3699025"/>
              </a:tblGrid>
              <a:tr h="3972225">
                <a:tc>
                  <a:txBody>
                    <a:bodyPr/>
                    <a:lstStyle/>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String obtenerBaseConfigurada()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String desdePropiedad = System.getProperty(PROPIEDAD_BASE_WS);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if (desdePropiedad != null &amp;&amp; !desdePropiedad.isBlank())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desdePropiedad;</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String desdeVariable = System.getenv(VARIABLE_BASE_WS);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if (desdeVariable != null &amp;&amp; !desdeVariable.isBlank())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desdeVariable;</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null;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String normalizarBase(String base)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String baseNormalizada = base.trim();</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while (baseNormalizada.endsWith("/"))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baseNormalizada = baseNormalizada.substring(0, baseNormalizada.length() - 1);</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baseNormalizada;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61" name="Google Shape;361;p45"/>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62" name="Google Shape;362;p4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363" name="Google Shape;363;p45"/>
          <p:cNvGraphicFramePr/>
          <p:nvPr/>
        </p:nvGraphicFramePr>
        <p:xfrm>
          <a:off x="2043325" y="2041263"/>
          <a:ext cx="3000000" cy="3000000"/>
        </p:xfrm>
        <a:graphic>
          <a:graphicData uri="http://schemas.openxmlformats.org/drawingml/2006/table">
            <a:tbl>
              <a:tblPr>
                <a:noFill/>
                <a:tableStyleId>{BF136021-7255-42B7-A7E7-87A8D8FFE9CA}</a:tableStyleId>
              </a:tblPr>
              <a:tblGrid>
                <a:gridCol w="3522650"/>
              </a:tblGrid>
              <a:tr h="3972225">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void configurarManejadorToken(BindingProvider proveedor)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Binding enlace = proveedor.getBinding();</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List&lt;Handler&gt; cadenaManejadores = new ArrayList&lt;&gt;(enlace.getHandlerChain());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cadenaManejadores.add(new ManejadorTokenSOAP(() -&gt; tokenSesion));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enlace.setHandlerChain(cadenaManejadores);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String login(String usuario, String contrasenia)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this.tokenSesion = puerto.login(usuario, contrasenia);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this.tokenSesion;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double convertirLongitud(double valor, String unidadInicial, String unidadFinal)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puerto.convertirLongitud(valor, unidadInicial, unidadFinal);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double convertirMasa(double valor, String unidadInicial, String unidadFinal)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puerto.convertirMasa(valor, unidadInicial, unidadFinal);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T="63500" marB="63500" marR="63500" marL="63500"/>
                </a:tc>
              </a:tr>
            </a:tbl>
          </a:graphicData>
        </a:graphic>
      </p:graphicFrame>
      <p:graphicFrame>
        <p:nvGraphicFramePr>
          <p:cNvPr id="364" name="Google Shape;364;p45"/>
          <p:cNvGraphicFramePr/>
          <p:nvPr/>
        </p:nvGraphicFramePr>
        <p:xfrm>
          <a:off x="5684675" y="2041263"/>
          <a:ext cx="3000000" cy="3000000"/>
        </p:xfrm>
        <a:graphic>
          <a:graphicData uri="http://schemas.openxmlformats.org/drawingml/2006/table">
            <a:tbl>
              <a:tblPr>
                <a:noFill/>
                <a:tableStyleId>{BF136021-7255-42B7-A7E7-87A8D8FFE9CA}</a:tableStyleId>
              </a:tblPr>
              <a:tblGrid>
                <a:gridCol w="3699025"/>
              </a:tblGrid>
              <a:tr h="3972225">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public double convertirTemperatura(double valor, String unidadInicial, String unidadFinal)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puerto.convertirTemperatura(valor, unidadInicial, unidadFinal);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String getTokenSesion()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tokenSesion;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String getEndpointActivo()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endpointActivo;</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void cerrarSesion()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this.tokenSesion = null;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70" name="Google Shape;370;p46"/>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Se puede verificar que el cliente funciona de forma correcta, se levanta y tiene comunicación </a:t>
            </a:r>
            <a:endParaRPr b="1" sz="1400">
              <a:solidFill>
                <a:srgbClr val="17365D"/>
              </a:solidFill>
              <a:latin typeface="Calibri"/>
              <a:ea typeface="Calibri"/>
              <a:cs typeface="Calibri"/>
              <a:sym typeface="Calibri"/>
            </a:endParaRPr>
          </a:p>
          <a:p>
            <a:pPr indent="-298450" lvl="0" marL="457200" rtl="0" algn="l">
              <a:lnSpc>
                <a:spcPct val="150000"/>
              </a:lnSpc>
              <a:spcBef>
                <a:spcPts val="0"/>
              </a:spcBef>
              <a:spcAft>
                <a:spcPts val="0"/>
              </a:spcAft>
              <a:buClr>
                <a:schemeClr val="dk1"/>
              </a:buClr>
              <a:buSzPts val="1100"/>
              <a:buFont typeface="Calibri"/>
              <a:buChar char="∙"/>
            </a:pPr>
            <a:r>
              <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71" name="Google Shape;371;p4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372" name="Google Shape;372;p46"/>
          <p:cNvPicPr preferRelativeResize="0"/>
          <p:nvPr/>
        </p:nvPicPr>
        <p:blipFill>
          <a:blip r:embed="rId3">
            <a:alphaModFix/>
          </a:blip>
          <a:stretch>
            <a:fillRect/>
          </a:stretch>
        </p:blipFill>
        <p:spPr>
          <a:xfrm>
            <a:off x="3228913" y="2794000"/>
            <a:ext cx="5734050" cy="25050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78" name="Google Shape;378;p47"/>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379" name="Google Shape;379;p47"/>
          <p:cNvSpPr txBox="1"/>
          <p:nvPr>
            <p:ph idx="1" type="body"/>
          </p:nvPr>
        </p:nvSpPr>
        <p:spPr>
          <a:xfrm>
            <a:off x="581200" y="1902979"/>
            <a:ext cx="8589300" cy="1170900"/>
          </a:xfrm>
          <a:prstGeom prst="rect">
            <a:avLst/>
          </a:prstGeom>
          <a:noFill/>
          <a:ln>
            <a:noFill/>
          </a:ln>
        </p:spPr>
        <p:txBody>
          <a:bodyPr anchorCtr="0" anchor="ctr" bIns="45700" lIns="91425" spcFirstLastPara="1" rIns="91425" wrap="square" tIns="45700">
            <a:normAutofit fontScale="92500"/>
          </a:bodyPr>
          <a:lstStyle/>
          <a:p>
            <a:pPr indent="-320524" lvl="0" marL="457200" marR="0" rtl="0" algn="l">
              <a:lnSpc>
                <a:spcPct val="115000"/>
              </a:lnSpc>
              <a:spcBef>
                <a:spcPts val="0"/>
              </a:spcBef>
              <a:spcAft>
                <a:spcPts val="0"/>
              </a:spcAft>
              <a:buSzPct val="100064"/>
              <a:buFont typeface="Cambria"/>
              <a:buChar char="◼"/>
            </a:pPr>
            <a:r>
              <a:rPr lang="es-ES" sz="1564">
                <a:latin typeface="Cambria"/>
                <a:ea typeface="Cambria"/>
                <a:cs typeface="Cambria"/>
                <a:sym typeface="Cambria"/>
              </a:rPr>
              <a:t>Para este caso, para poder optimizar el tiempo se optó por usar el framework de MAUI el cual permite crear un proyecto central el cual después puede adaptarse a las distintas plataformas(web, mobile y Desktop)</a:t>
            </a:r>
            <a:endParaRPr sz="1564">
              <a:latin typeface="Cambria"/>
              <a:ea typeface="Cambria"/>
              <a:cs typeface="Cambria"/>
              <a:sym typeface="Cambria"/>
            </a:endParaRPr>
          </a:p>
          <a:p>
            <a:pPr indent="-320524" lvl="0" marL="457200" marR="0" rtl="0" algn="l">
              <a:lnSpc>
                <a:spcPct val="115000"/>
              </a:lnSpc>
              <a:spcBef>
                <a:spcPts val="0"/>
              </a:spcBef>
              <a:spcAft>
                <a:spcPts val="0"/>
              </a:spcAft>
              <a:buSzPct val="100064"/>
              <a:buFont typeface="Cambria"/>
              <a:buChar char="◼"/>
            </a:pPr>
            <a:r>
              <a:rPr lang="es-ES" sz="1564">
                <a:latin typeface="Cambria"/>
                <a:ea typeface="Cambria"/>
                <a:cs typeface="Cambria"/>
                <a:sym typeface="Cambria"/>
              </a:rPr>
              <a:t>Para empezar se debe crear el proyecto en visual studio, para ello se selecciona una </a:t>
            </a:r>
            <a:r>
              <a:rPr lang="es-ES" sz="1564">
                <a:latin typeface="Cambria"/>
                <a:ea typeface="Cambria"/>
                <a:cs typeface="Cambria"/>
                <a:sym typeface="Cambria"/>
              </a:rPr>
              <a:t>solución</a:t>
            </a:r>
            <a:r>
              <a:rPr lang="es-ES" sz="1564">
                <a:latin typeface="Cambria"/>
                <a:ea typeface="Cambria"/>
                <a:cs typeface="Cambria"/>
                <a:sym typeface="Cambria"/>
              </a:rPr>
              <a:t> en blanco.</a:t>
            </a:r>
            <a:endParaRPr sz="1564">
              <a:latin typeface="Cambria"/>
              <a:ea typeface="Cambria"/>
              <a:cs typeface="Cambria"/>
              <a:sym typeface="Cambria"/>
            </a:endParaRPr>
          </a:p>
        </p:txBody>
      </p:sp>
      <p:pic>
        <p:nvPicPr>
          <p:cNvPr id="380" name="Google Shape;380;p47"/>
          <p:cNvPicPr preferRelativeResize="0"/>
          <p:nvPr/>
        </p:nvPicPr>
        <p:blipFill>
          <a:blip r:embed="rId3">
            <a:alphaModFix/>
          </a:blip>
          <a:stretch>
            <a:fillRect/>
          </a:stretch>
        </p:blipFill>
        <p:spPr>
          <a:xfrm>
            <a:off x="2087175" y="3158725"/>
            <a:ext cx="5734050" cy="35909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86" name="Google Shape;386;p48"/>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387" name="Google Shape;387;p48"/>
          <p:cNvSpPr txBox="1"/>
          <p:nvPr>
            <p:ph idx="1" type="body"/>
          </p:nvPr>
        </p:nvSpPr>
        <p:spPr>
          <a:xfrm>
            <a:off x="581200" y="1902979"/>
            <a:ext cx="8589300" cy="1170900"/>
          </a:xfrm>
          <a:prstGeom prst="rect">
            <a:avLst/>
          </a:prstGeom>
          <a:noFill/>
          <a:ln>
            <a:noFill/>
          </a:ln>
        </p:spPr>
        <p:txBody>
          <a:bodyPr anchorCtr="0" anchor="ctr" bIns="45700" lIns="91425" spcFirstLastPara="1" rIns="91425" wrap="square" tIns="45700">
            <a:normAutofit/>
          </a:bodyPr>
          <a:lstStyle/>
          <a:p>
            <a:pPr indent="-327978" lvl="0" marL="457200" marR="0" rtl="0" algn="l">
              <a:lnSpc>
                <a:spcPct val="115000"/>
              </a:lnSpc>
              <a:spcBef>
                <a:spcPts val="0"/>
              </a:spcBef>
              <a:spcAft>
                <a:spcPts val="0"/>
              </a:spcAft>
              <a:buSzPts val="1565"/>
              <a:buFont typeface="Cambria"/>
              <a:buChar char="◼"/>
            </a:pPr>
            <a:r>
              <a:rPr lang="es-ES" sz="1564">
                <a:latin typeface="Cambria"/>
                <a:ea typeface="Cambria"/>
                <a:cs typeface="Cambria"/>
                <a:sym typeface="Cambria"/>
              </a:rPr>
              <a:t>Se debe asignar un nombre al proyecto y asignarle un directorio donde se va a guardar el mismo, y solo queda dar clic en crear</a:t>
            </a:r>
            <a:endParaRPr sz="1564">
              <a:latin typeface="Cambria"/>
              <a:ea typeface="Cambria"/>
              <a:cs typeface="Cambria"/>
              <a:sym typeface="Cambria"/>
            </a:endParaRPr>
          </a:p>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Con la solución en blanco vamos a ir agregando los diferentes proyectos necesarios para todos los tipos de clientes, primero se debe agregar un nuevo proyecto. </a:t>
            </a:r>
            <a:endParaRPr sz="1564">
              <a:latin typeface="Cambria"/>
              <a:ea typeface="Cambria"/>
              <a:cs typeface="Cambria"/>
              <a:sym typeface="Cambria"/>
            </a:endParaRPr>
          </a:p>
        </p:txBody>
      </p:sp>
      <p:pic>
        <p:nvPicPr>
          <p:cNvPr id="388" name="Google Shape;388;p48"/>
          <p:cNvPicPr preferRelativeResize="0"/>
          <p:nvPr/>
        </p:nvPicPr>
        <p:blipFill>
          <a:blip r:embed="rId3">
            <a:alphaModFix/>
          </a:blip>
          <a:stretch>
            <a:fillRect/>
          </a:stretch>
        </p:blipFill>
        <p:spPr>
          <a:xfrm>
            <a:off x="226825" y="3803100"/>
            <a:ext cx="4002875" cy="2581000"/>
          </a:xfrm>
          <a:prstGeom prst="rect">
            <a:avLst/>
          </a:prstGeom>
          <a:noFill/>
          <a:ln>
            <a:noFill/>
          </a:ln>
        </p:spPr>
      </p:pic>
      <p:pic>
        <p:nvPicPr>
          <p:cNvPr id="389" name="Google Shape;389;p48"/>
          <p:cNvPicPr preferRelativeResize="0"/>
          <p:nvPr/>
        </p:nvPicPr>
        <p:blipFill>
          <a:blip r:embed="rId4">
            <a:alphaModFix/>
          </a:blip>
          <a:stretch>
            <a:fillRect/>
          </a:stretch>
        </p:blipFill>
        <p:spPr>
          <a:xfrm>
            <a:off x="4423175" y="4002275"/>
            <a:ext cx="4747325" cy="189407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9"/>
          <p:cNvSpPr txBox="1"/>
          <p:nvPr>
            <p:ph type="title"/>
          </p:nvPr>
        </p:nvSpPr>
        <p:spPr>
          <a:xfrm>
            <a:off x="514217" y="68780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95" name="Google Shape;395;p49"/>
          <p:cNvSpPr/>
          <p:nvPr/>
        </p:nvSpPr>
        <p:spPr>
          <a:xfrm>
            <a:off x="9316722" y="-3"/>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396" name="Google Shape;396;p49"/>
          <p:cNvPicPr preferRelativeResize="0"/>
          <p:nvPr/>
        </p:nvPicPr>
        <p:blipFill>
          <a:blip r:embed="rId3">
            <a:alphaModFix/>
          </a:blip>
          <a:stretch>
            <a:fillRect/>
          </a:stretch>
        </p:blipFill>
        <p:spPr>
          <a:xfrm>
            <a:off x="66975" y="3452938"/>
            <a:ext cx="4507325" cy="2874750"/>
          </a:xfrm>
          <a:prstGeom prst="rect">
            <a:avLst/>
          </a:prstGeom>
          <a:noFill/>
          <a:ln>
            <a:noFill/>
          </a:ln>
        </p:spPr>
      </p:pic>
      <p:pic>
        <p:nvPicPr>
          <p:cNvPr id="397" name="Google Shape;397;p49"/>
          <p:cNvPicPr preferRelativeResize="0"/>
          <p:nvPr/>
        </p:nvPicPr>
        <p:blipFill>
          <a:blip r:embed="rId4">
            <a:alphaModFix/>
          </a:blip>
          <a:stretch>
            <a:fillRect/>
          </a:stretch>
        </p:blipFill>
        <p:spPr>
          <a:xfrm>
            <a:off x="4772900" y="3452950"/>
            <a:ext cx="4460247" cy="2874725"/>
          </a:xfrm>
          <a:prstGeom prst="rect">
            <a:avLst/>
          </a:prstGeom>
          <a:noFill/>
          <a:ln>
            <a:noFill/>
          </a:ln>
        </p:spPr>
      </p:pic>
      <p:sp>
        <p:nvSpPr>
          <p:cNvPr id="398" name="Google Shape;398;p49"/>
          <p:cNvSpPr txBox="1"/>
          <p:nvPr>
            <p:ph idx="1" type="body"/>
          </p:nvPr>
        </p:nvSpPr>
        <p:spPr>
          <a:xfrm>
            <a:off x="514225" y="1888629"/>
            <a:ext cx="8589300" cy="1170900"/>
          </a:xfrm>
          <a:prstGeom prst="rect">
            <a:avLst/>
          </a:prstGeom>
          <a:noFill/>
          <a:ln>
            <a:noFill/>
          </a:ln>
        </p:spPr>
        <p:txBody>
          <a:bodyPr anchorCtr="0" anchor="ctr" bIns="45700" lIns="91425" spcFirstLastPara="1" rIns="91425" wrap="square" tIns="45700">
            <a:normAutofit/>
          </a:bodyPr>
          <a:lstStyle/>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Pero para este caso en la plantilla se debe seleccionar Aplicación web de Blazor </a:t>
            </a:r>
            <a:endParaRPr sz="1564">
              <a:latin typeface="Cambria"/>
              <a:ea typeface="Cambria"/>
              <a:cs typeface="Cambria"/>
              <a:sym typeface="Cambria"/>
            </a:endParaRPr>
          </a:p>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A fin de poder identificar el proyecto este terminara con .web y su ubicacion sera en el directorio correspondiente a ese cliente</a:t>
            </a:r>
            <a:endParaRPr sz="1564">
              <a:latin typeface="Cambria"/>
              <a:ea typeface="Cambria"/>
              <a:cs typeface="Cambria"/>
              <a:sym typeface="Cambri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0"/>
          <p:cNvSpPr txBox="1"/>
          <p:nvPr>
            <p:ph type="title"/>
          </p:nvPr>
        </p:nvSpPr>
        <p:spPr>
          <a:xfrm>
            <a:off x="514217" y="68780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04" name="Google Shape;404;p50"/>
          <p:cNvSpPr/>
          <p:nvPr/>
        </p:nvSpPr>
        <p:spPr>
          <a:xfrm>
            <a:off x="9316722" y="-3"/>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405" name="Google Shape;405;p50"/>
          <p:cNvSpPr txBox="1"/>
          <p:nvPr>
            <p:ph idx="1" type="body"/>
          </p:nvPr>
        </p:nvSpPr>
        <p:spPr>
          <a:xfrm>
            <a:off x="514225" y="1888629"/>
            <a:ext cx="8589300" cy="1170900"/>
          </a:xfrm>
          <a:prstGeom prst="rect">
            <a:avLst/>
          </a:prstGeom>
          <a:noFill/>
          <a:ln>
            <a:noFill/>
          </a:ln>
        </p:spPr>
        <p:txBody>
          <a:bodyPr anchorCtr="0" anchor="ctr" bIns="45700" lIns="91425" spcFirstLastPara="1" rIns="91425" wrap="square" tIns="45700">
            <a:normAutofit/>
          </a:bodyPr>
          <a:lstStyle/>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De igual manera se usara .Net 10.0 como versión del framework, este proyecto generar 2 el .web que definimos y no .web.client.</a:t>
            </a:r>
            <a:endParaRPr sz="1564">
              <a:latin typeface="Cambria"/>
              <a:ea typeface="Cambria"/>
              <a:cs typeface="Cambria"/>
              <a:sym typeface="Cambria"/>
            </a:endParaRPr>
          </a:p>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Para el caso de clientes mobile y desktop se va a crear un proyecto afín para estas plataformas, por lo que una vez más es necesario agregar un nuevo proyecto.</a:t>
            </a:r>
            <a:endParaRPr sz="1564">
              <a:latin typeface="Cambria"/>
              <a:ea typeface="Cambria"/>
              <a:cs typeface="Cambria"/>
              <a:sym typeface="Cambria"/>
            </a:endParaRPr>
          </a:p>
        </p:txBody>
      </p:sp>
      <p:pic>
        <p:nvPicPr>
          <p:cNvPr id="406" name="Google Shape;406;p50"/>
          <p:cNvPicPr preferRelativeResize="0"/>
          <p:nvPr/>
        </p:nvPicPr>
        <p:blipFill>
          <a:blip r:embed="rId3">
            <a:alphaModFix/>
          </a:blip>
          <a:stretch>
            <a:fillRect/>
          </a:stretch>
        </p:blipFill>
        <p:spPr>
          <a:xfrm>
            <a:off x="256575" y="3246650"/>
            <a:ext cx="3705225" cy="3581400"/>
          </a:xfrm>
          <a:prstGeom prst="rect">
            <a:avLst/>
          </a:prstGeom>
          <a:noFill/>
          <a:ln>
            <a:noFill/>
          </a:ln>
        </p:spPr>
      </p:pic>
      <p:pic>
        <p:nvPicPr>
          <p:cNvPr id="407" name="Google Shape;407;p50"/>
          <p:cNvPicPr preferRelativeResize="0"/>
          <p:nvPr/>
        </p:nvPicPr>
        <p:blipFill>
          <a:blip r:embed="rId4">
            <a:alphaModFix/>
          </a:blip>
          <a:stretch>
            <a:fillRect/>
          </a:stretch>
        </p:blipFill>
        <p:spPr>
          <a:xfrm>
            <a:off x="4326425" y="3793250"/>
            <a:ext cx="4625675" cy="18455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51"/>
          <p:cNvSpPr txBox="1"/>
          <p:nvPr>
            <p:ph type="title"/>
          </p:nvPr>
        </p:nvSpPr>
        <p:spPr>
          <a:xfrm>
            <a:off x="514217" y="68780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13" name="Google Shape;413;p51"/>
          <p:cNvSpPr/>
          <p:nvPr/>
        </p:nvSpPr>
        <p:spPr>
          <a:xfrm>
            <a:off x="9316722" y="-3"/>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414" name="Google Shape;414;p51"/>
          <p:cNvSpPr txBox="1"/>
          <p:nvPr>
            <p:ph idx="1" type="body"/>
          </p:nvPr>
        </p:nvSpPr>
        <p:spPr>
          <a:xfrm>
            <a:off x="514225" y="1888629"/>
            <a:ext cx="8589300" cy="1170900"/>
          </a:xfrm>
          <a:prstGeom prst="rect">
            <a:avLst/>
          </a:prstGeom>
          <a:noFill/>
          <a:ln>
            <a:noFill/>
          </a:ln>
        </p:spPr>
        <p:txBody>
          <a:bodyPr anchorCtr="0" anchor="ctr" bIns="45700" lIns="91425" spcFirstLastPara="1" rIns="91425" wrap="square" tIns="45700">
            <a:normAutofit/>
          </a:bodyPr>
          <a:lstStyle/>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la plantilla para este caso es la de aplicación de .NET MAUI Blazor Hybrid la cual permite fusionar la plataforma desktop y mobile.</a:t>
            </a:r>
            <a:endParaRPr sz="1564">
              <a:latin typeface="Cambria"/>
              <a:ea typeface="Cambria"/>
              <a:cs typeface="Cambria"/>
              <a:sym typeface="Cambria"/>
            </a:endParaRPr>
          </a:p>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A esta plantilla colocaremos un nombre que finalice .Maui</a:t>
            </a:r>
            <a:endParaRPr sz="1564">
              <a:latin typeface="Cambria"/>
              <a:ea typeface="Cambria"/>
              <a:cs typeface="Cambria"/>
              <a:sym typeface="Cambria"/>
            </a:endParaRPr>
          </a:p>
        </p:txBody>
      </p:sp>
      <p:pic>
        <p:nvPicPr>
          <p:cNvPr id="415" name="Google Shape;415;p51"/>
          <p:cNvPicPr preferRelativeResize="0"/>
          <p:nvPr/>
        </p:nvPicPr>
        <p:blipFill>
          <a:blip r:embed="rId3">
            <a:alphaModFix/>
          </a:blip>
          <a:stretch>
            <a:fillRect/>
          </a:stretch>
        </p:blipFill>
        <p:spPr>
          <a:xfrm>
            <a:off x="107750" y="3471275"/>
            <a:ext cx="4476750" cy="2895600"/>
          </a:xfrm>
          <a:prstGeom prst="rect">
            <a:avLst/>
          </a:prstGeom>
          <a:noFill/>
          <a:ln>
            <a:noFill/>
          </a:ln>
        </p:spPr>
      </p:pic>
      <p:pic>
        <p:nvPicPr>
          <p:cNvPr id="416" name="Google Shape;416;p51"/>
          <p:cNvPicPr preferRelativeResize="0"/>
          <p:nvPr/>
        </p:nvPicPr>
        <p:blipFill>
          <a:blip r:embed="rId4">
            <a:alphaModFix/>
          </a:blip>
          <a:stretch>
            <a:fillRect/>
          </a:stretch>
        </p:blipFill>
        <p:spPr>
          <a:xfrm>
            <a:off x="4823813" y="3471275"/>
            <a:ext cx="4253601" cy="27053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2"/>
          <p:cNvSpPr txBox="1"/>
          <p:nvPr>
            <p:ph type="title"/>
          </p:nvPr>
        </p:nvSpPr>
        <p:spPr>
          <a:xfrm>
            <a:off x="514217" y="68780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22" name="Google Shape;422;p52"/>
          <p:cNvSpPr/>
          <p:nvPr/>
        </p:nvSpPr>
        <p:spPr>
          <a:xfrm>
            <a:off x="9316722" y="-3"/>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423" name="Google Shape;423;p52"/>
          <p:cNvSpPr txBox="1"/>
          <p:nvPr>
            <p:ph idx="1" type="body"/>
          </p:nvPr>
        </p:nvSpPr>
        <p:spPr>
          <a:xfrm>
            <a:off x="514225" y="1888629"/>
            <a:ext cx="8589300" cy="1170900"/>
          </a:xfrm>
          <a:prstGeom prst="rect">
            <a:avLst/>
          </a:prstGeom>
          <a:noFill/>
          <a:ln>
            <a:noFill/>
          </a:ln>
        </p:spPr>
        <p:txBody>
          <a:bodyPr anchorCtr="0" anchor="ctr" bIns="45700" lIns="91425" spcFirstLastPara="1" rIns="91425" wrap="square" tIns="45700">
            <a:normAutofit/>
          </a:bodyPr>
          <a:lstStyle/>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Se debe referenciar el proyecto central a los proyectos que se acaban de crear esto tanto para el proyecto web como para que es para desktop y mobile.</a:t>
            </a:r>
            <a:endParaRPr sz="1564">
              <a:latin typeface="Cambria"/>
              <a:ea typeface="Cambria"/>
              <a:cs typeface="Cambria"/>
              <a:sym typeface="Cambria"/>
            </a:endParaRPr>
          </a:p>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Con esto se debe buscar el proyecto shared(proyecto central) para que los proyectos adyacentes sepan a donde apuntar</a:t>
            </a:r>
            <a:endParaRPr sz="1564">
              <a:latin typeface="Cambria"/>
              <a:ea typeface="Cambria"/>
              <a:cs typeface="Cambria"/>
              <a:sym typeface="Cambria"/>
            </a:endParaRPr>
          </a:p>
        </p:txBody>
      </p:sp>
      <p:pic>
        <p:nvPicPr>
          <p:cNvPr id="424" name="Google Shape;424;p52"/>
          <p:cNvPicPr preferRelativeResize="0"/>
          <p:nvPr/>
        </p:nvPicPr>
        <p:blipFill>
          <a:blip r:embed="rId3">
            <a:alphaModFix/>
          </a:blip>
          <a:stretch>
            <a:fillRect/>
          </a:stretch>
        </p:blipFill>
        <p:spPr>
          <a:xfrm>
            <a:off x="167300" y="3910850"/>
            <a:ext cx="4107051" cy="1826175"/>
          </a:xfrm>
          <a:prstGeom prst="rect">
            <a:avLst/>
          </a:prstGeom>
          <a:noFill/>
          <a:ln>
            <a:noFill/>
          </a:ln>
        </p:spPr>
      </p:pic>
      <p:pic>
        <p:nvPicPr>
          <p:cNvPr id="425" name="Google Shape;425;p52"/>
          <p:cNvPicPr preferRelativeResize="0"/>
          <p:nvPr/>
        </p:nvPicPr>
        <p:blipFill>
          <a:blip r:embed="rId4">
            <a:alphaModFix/>
          </a:blip>
          <a:stretch>
            <a:fillRect/>
          </a:stretch>
        </p:blipFill>
        <p:spPr>
          <a:xfrm>
            <a:off x="4429438" y="3317241"/>
            <a:ext cx="4732200" cy="333298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3"/>
          <p:cNvSpPr txBox="1"/>
          <p:nvPr>
            <p:ph type="title"/>
          </p:nvPr>
        </p:nvSpPr>
        <p:spPr>
          <a:xfrm>
            <a:off x="514217" y="68780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31" name="Google Shape;431;p53"/>
          <p:cNvSpPr/>
          <p:nvPr/>
        </p:nvSpPr>
        <p:spPr>
          <a:xfrm>
            <a:off x="9316722" y="-3"/>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432" name="Google Shape;432;p53"/>
          <p:cNvSpPr txBox="1"/>
          <p:nvPr>
            <p:ph idx="1" type="body"/>
          </p:nvPr>
        </p:nvSpPr>
        <p:spPr>
          <a:xfrm>
            <a:off x="514225" y="1888629"/>
            <a:ext cx="8589300" cy="1170900"/>
          </a:xfrm>
          <a:prstGeom prst="rect">
            <a:avLst/>
          </a:prstGeom>
          <a:noFill/>
          <a:ln>
            <a:noFill/>
          </a:ln>
        </p:spPr>
        <p:txBody>
          <a:bodyPr anchorCtr="0" anchor="ctr" bIns="45700" lIns="91425" spcFirstLastPara="1" rIns="91425" wrap="square" tIns="45700">
            <a:normAutofit/>
          </a:bodyPr>
          <a:lstStyle/>
          <a:p>
            <a:pPr indent="-327914" lvl="0" marL="457200" rtl="0" algn="l">
              <a:lnSpc>
                <a:spcPct val="115000"/>
              </a:lnSpc>
              <a:spcBef>
                <a:spcPts val="0"/>
              </a:spcBef>
              <a:spcAft>
                <a:spcPts val="0"/>
              </a:spcAft>
              <a:buSzPts val="1564"/>
              <a:buFont typeface="Cambria"/>
              <a:buChar char="◼"/>
            </a:pPr>
            <a:r>
              <a:rPr lang="es-ES" sz="1564">
                <a:latin typeface="Cambria"/>
                <a:ea typeface="Cambria"/>
                <a:cs typeface="Cambria"/>
                <a:sym typeface="Cambria"/>
              </a:rPr>
              <a:t>Lo que sigue es ir creando los diferentes paquetes que se van a usar.</a:t>
            </a:r>
            <a:endParaRPr sz="1564">
              <a:latin typeface="Cambria"/>
              <a:ea typeface="Cambria"/>
              <a:cs typeface="Cambria"/>
              <a:sym typeface="Cambria"/>
            </a:endParaRPr>
          </a:p>
        </p:txBody>
      </p:sp>
      <p:pic>
        <p:nvPicPr>
          <p:cNvPr id="433" name="Google Shape;433;p53"/>
          <p:cNvPicPr preferRelativeResize="0"/>
          <p:nvPr/>
        </p:nvPicPr>
        <p:blipFill>
          <a:blip r:embed="rId3">
            <a:alphaModFix/>
          </a:blip>
          <a:stretch>
            <a:fillRect/>
          </a:stretch>
        </p:blipFill>
        <p:spPr>
          <a:xfrm>
            <a:off x="1164400" y="2905725"/>
            <a:ext cx="5611251" cy="37677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39" name="Google Shape;439;p54"/>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40" name="Google Shape;440;p54"/>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41" name="Google Shape;441;p54"/>
          <p:cNvGraphicFramePr/>
          <p:nvPr/>
        </p:nvGraphicFramePr>
        <p:xfrm>
          <a:off x="2311225" y="2755638"/>
          <a:ext cx="3000000" cy="3000000"/>
        </p:xfrm>
        <a:graphic>
          <a:graphicData uri="http://schemas.openxmlformats.org/drawingml/2006/table">
            <a:tbl>
              <a:tblPr>
                <a:noFill/>
                <a:tableStyleId>{BF136021-7255-42B7-A7E7-87A8D8FFE9CA}</a:tableStyleId>
              </a:tblPr>
              <a:tblGrid>
                <a:gridCol w="5903875"/>
              </a:tblGrid>
              <a:tr h="2513700">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namespace ec.edu.monster.Modelos;</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public static class ConstantesRed</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IP_WEB_SERVICES = "192.168.18.9";</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IP_WEB_SERVICES = "localhost";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UrlJavaSoap = $"http://{IP_WEB_SERVICES}:8080/04.SERVIDOR/WSConversorUnidades";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UrlDotNetSoap = $"http://{IP_WEB_SERVICES}:50774/WSConversorUnidades.svc";</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UrlDotNetRest = $"http://{IP_WEB_SERVICES}:52100/api";</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UrlJavaRest = $"http://{IP_WEB_SERVICES}:8080/04.SERVIDOR/api";</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5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47" name="Google Shape;447;p55"/>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48" name="Google Shape;448;p5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49" name="Google Shape;449;p55"/>
          <p:cNvGraphicFramePr/>
          <p:nvPr/>
        </p:nvGraphicFramePr>
        <p:xfrm>
          <a:off x="2311225" y="2755638"/>
          <a:ext cx="3000000" cy="3000000"/>
        </p:xfrm>
        <a:graphic>
          <a:graphicData uri="http://schemas.openxmlformats.org/drawingml/2006/table">
            <a:tbl>
              <a:tblPr>
                <a:noFill/>
                <a:tableStyleId>{BF136021-7255-42B7-A7E7-87A8D8FFE9CA}</a:tableStyleId>
              </a:tblPr>
              <a:tblGrid>
                <a:gridCol w="5903875"/>
              </a:tblGrid>
              <a:tr h="25137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using ec.edu.monster.Interfaces;</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using ec.edu.monster.Modelos;</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namespace ec.edu.monster.Servicios;</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public class FabricaEstrategiaBackend</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private readonly IEnumerable&lt;IAdaptadorConversion&gt; _adaptadoresConversion;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private readonly IEnumerable&lt;IAdaptadorAutenticacion&gt; _adaptadoresAutenticacion;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public FabricaEstrategiaBackend(</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IEnumerable&lt;IAdaptadorConversion&gt; adaptadoresConversion,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IEnumerable&lt;IAdaptadorAutenticacion&gt; adaptadoresAutenticacion)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_adaptadoresConversion = adaptadoresConversion;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_adaptadoresAutenticacion = adaptadoresAutenticacion;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public IAdaptadorConversion ObtenerAdaptadorConversion(TipoBackend tipo) =&gt;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_adaptadoresConversion.FirstOrDefault(a =&gt; a.Tipo == tipo)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 throw new NotSupportedException($"Adaptador de conversión para {tipo} no implementado.");</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public IAdaptadorAutenticacion ObtenerAdaptadorAutenticacion(TipoBackend tipo) =&gt;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_adaptadoresAutenticacion.FirstOrDefault(a =&gt; a.Tipo == tipo)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 throw new NotSupportedException($"Adaptador de autenticación para {tipo} no implementado.");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5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55" name="Google Shape;455;p56"/>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56" name="Google Shape;456;p5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57" name="Google Shape;457;p56"/>
          <p:cNvGraphicFramePr/>
          <p:nvPr/>
        </p:nvGraphicFramePr>
        <p:xfrm>
          <a:off x="2385650" y="2264513"/>
          <a:ext cx="3000000" cy="3000000"/>
        </p:xfrm>
        <a:graphic>
          <a:graphicData uri="http://schemas.openxmlformats.org/drawingml/2006/table">
            <a:tbl>
              <a:tblPr>
                <a:noFill/>
                <a:tableStyleId>{BF136021-7255-42B7-A7E7-87A8D8FFE9CA}</a:tableStyleId>
              </a:tblPr>
              <a:tblGrid>
                <a:gridCol w="5903875"/>
              </a:tblGrid>
              <a:tr h="25137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@page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@inject ec.edu.monster.Servicios.EstadoAplicacion EstadoApp</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@inject ec.edu.monster.Servicios.FabricaEstrategiaBackend Fabrica</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@inject NavigationManager NavManager</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&lt;div class="espe-background"&gt;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class="espe-card" style="width: 800px;"&gt;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class="row g-0"&gt;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class="col-md-6" style="background-color: #f8f9fa;"&gt;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&lt;img src="/sullivan_computer.jpg" class="img-fluid" style="height: 100%; object-fit: cover;" alt="Imagen Login" /&gt;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class="col-md-6 p-5 d-flex flex-column justify-content-center"&gt;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class="text-center mb-4"&gt;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&lt;h4 style="color: #0F4770;"&gt;Sistema de Conversión de Unidades&lt;/h4&gt;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&lt;small class="text-secondary"&gt;GRUPO #5&lt;/small&gt;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5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63" name="Google Shape;463;p57"/>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64" name="Google Shape;464;p57"/>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65" name="Google Shape;465;p57"/>
          <p:cNvGraphicFramePr/>
          <p:nvPr/>
        </p:nvGraphicFramePr>
        <p:xfrm>
          <a:off x="2445175" y="2026388"/>
          <a:ext cx="3000000" cy="3000000"/>
        </p:xfrm>
        <a:graphic>
          <a:graphicData uri="http://schemas.openxmlformats.org/drawingml/2006/table">
            <a:tbl>
              <a:tblPr>
                <a:noFill/>
                <a:tableStyleId>{BF136021-7255-42B7-A7E7-87A8D8FFE9CA}</a:tableStyleId>
              </a:tblPr>
              <a:tblGrid>
                <a:gridCol w="5903875"/>
              </a:tblGrid>
              <a:tr h="25137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&lt;div class="mb-4 p-3 rounded" style="background-color: #e0f2f1; border-left: 4px solid #0F4770;"&gt;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&lt;label class="fw-bold text-secondary mb-1" style="font-size: 0.85rem;"&gt;ENTORNO DE CONEXIÓN&lt;/label&gt;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&lt;select class="form-select espe-form-control bg-transparent border-0 border-bottom fw-bold"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style="color: #0F4770; box-shadow: none;"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@bind:get="EstadoApp.BackendActual"</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@bind:set="(value) =&gt; EstadoApp.EstablecerBackend(value)"&gt;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@foreach (var backend in Enum.GetValues&lt;ec.edu.monster.Modelos.TipoBackend&gt;())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&lt;option value="@backend"&gt;@backend.ToString()&lt;/option&gt;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&lt;/select&gt;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class="mb-3"&gt;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&lt;label&gt;Usuario&lt;/label&gt;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&lt;input type="text" class="form-control espe-form-control" @bind="usuario" /&gt;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class="mb-4"&gt;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&lt;label&gt;Contraseña&lt;/label&gt;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&lt;input type="password" class="form-control espe-form-control" @bind="contrasenia" /&gt;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&lt;button class="btn espe-btn-primary w-100" @onclick="HacerLogin"&gt;Iniciar sesión&lt;/button&gt;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@if (!string.IsNullOrEmpty(EstadoApp.TokenActual))</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class="alert alert-success mt-3 p-2 text-center" style="font-size: 0.8em; overflow-wrap: break-word;"&gt;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Token obtenido correctamente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71" name="Google Shape;471;p58"/>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72" name="Google Shape;472;p58"/>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73" name="Google Shape;473;p58"/>
          <p:cNvGraphicFramePr/>
          <p:nvPr/>
        </p:nvGraphicFramePr>
        <p:xfrm>
          <a:off x="2332838" y="1771213"/>
          <a:ext cx="3000000" cy="3000000"/>
        </p:xfrm>
        <a:graphic>
          <a:graphicData uri="http://schemas.openxmlformats.org/drawingml/2006/table">
            <a:tbl>
              <a:tblPr>
                <a:noFill/>
                <a:tableStyleId>{BF136021-7255-42B7-A7E7-87A8D8FFE9CA}</a:tableStyleId>
              </a:tblPr>
              <a:tblGrid>
                <a:gridCol w="6484300"/>
              </a:tblGrid>
              <a:tr h="45097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@if (!string.IsNullOrEmpty(mensajeErrorLogin))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class="alert alert-danger mt-3 p-2 text-center" style="font-size: 0.8em;"&gt;@mensajeErrorLogin&lt;/div&gt;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class="text-center mt-4"&gt;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&lt;small class="text-info" style="font-size: 0.8rem;"&gt;Servidor web listo para conexiones.&lt;/small&gt;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@code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private string usuario = "Monster";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private string contrasenia = "Monster9";</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private string mensajeErrorLogin =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private async Task HacerLogin()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mensajeErrorLogin =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try</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 patrón Strategy:</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var adaptadorAuth = Fabrica.ObtenerAdaptadorAutenticacion(EstadoApp.BackendActual);</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EstadoApp.TokenActual = await adaptadorAuth.IniciarSesionAsync(usuario, contrasenia);</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if (!string.IsNullOrEmpty(EstadoApp.TokenActual))</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NavManager.NavigateTo("/conversor");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catch (Exception ex)</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mensajeErrorLogin = ex.Message;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79" name="Google Shape;479;p59"/>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80" name="Google Shape;480;p5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81" name="Google Shape;481;p59"/>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System.Text;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System.Xml.Linq;</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ec.edu.monster.Interfaces;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ec.edu.monster.Modelos;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namespace ec.edu.monster.Adaptadores;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public class AdaptadorAutenticacionJavaSoap : IAdaptadorAutenticacion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TipoBackend Tipo =&gt; TipoBackend.JavaSoap;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private readonly HttpClient _httpClient;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AdaptadorAutenticacionJavaSoap(HttpClient 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_httpClient = 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async Task&lt;string&gt; IniciarSesionAsync(string usuario, string contrasenia)</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60"/>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87" name="Google Shape;487;p60"/>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88" name="Google Shape;488;p60"/>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89" name="Google Shape;489;p60"/>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1. Construir el sobre SOAP (Envelope)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Nota: El namespace "http://ws.monster.edu.ec/" es el que Java genera por defecto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soapXml = $@"&lt;soapenv:Envelope xmlns:soapenv=""http://schemas.xmlsoap.org/soap/envelope/"" xmlns:ws=""http://ws.controladores.monster.edu.ec/""&gt;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&lt;soapenv:Header/&gt;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&lt;ws:login&gt;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&lt;usuario&gt;{usuario}&lt;/usuario&gt;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&lt;contrasenia&gt;{contrasenia}&lt;/contrasenia&gt;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&lt;/ws:login&gt;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&lt;/soapenv:Envelope&gt;";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content = new StringContent(soapXml, Encoding.UTF8, "text/xml");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2. Enviar la petición a Payara</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response = await _httpClient.PostAsync(ConstantesRed.UrlJavaSoap, content);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if (!response.IsSuccessStatusCode)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throw new Exception($"Error HTTP: {response.StatusCode}");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3. Leer e interpretar la respuesta 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responseXml = await response.Content.ReadAsStringAsync();</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doc = XDocument.Parse(responseXml);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6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95" name="Google Shape;495;p61"/>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96" name="Google Shape;496;p61"/>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97" name="Google Shape;497;p61"/>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Buscamos la etiqueta &lt;return&gt; que contiene el token (comportamiento estándar de JAX-WS)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tokenElement = doc.Descendants().FirstOrDefault(x =&gt; x.Name.LocalName == "return");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if (tokenElement == null)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throw new Exception("No se encontró el token en la respuesta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return tokenElement.Value;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async Task&lt;string&gt; CambiarContraseniaAsync(string contraseniaActual, string contraseniaNueva, string token)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Construimos el XML respetando los @WebParam de tu Java</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soapXml = $@"&lt;soapenv:Envelope xmlns:soapenv=""http://schemas.xmlsoap.org/soap/envelope/"" xmlns:ws=""http://ws.controladores.monster.edu.ec/""&gt;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&lt;soapenv:Header/&gt;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&lt;ws:cambiarContrasenia&gt;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&lt;contraseniaActual&gt;{contraseniaActual}&lt;/contraseniaActual&gt;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&lt;contraseniaNueva&gt;{contraseniaNueva}&lt;/contraseniaNueva&gt;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&lt;/ws:cambiarContrasenia&gt;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&lt;/soapenv:Envelope&gt;";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request = new HttpRequestMessage(HttpMethod.Post, ConstantesRed.UrlJavaSoap)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Content = new StringContent(soapXml, System.Text.Encoding.UTF8, "text/xml")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62"/>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03" name="Google Shape;503;p62"/>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504" name="Google Shape;504;p62"/>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505" name="Google Shape;505;p62"/>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r>
                        <a:rPr lang="es-ES" sz="900">
                          <a:solidFill>
                            <a:srgbClr val="4F81BD"/>
                          </a:solidFill>
                          <a:latin typeface="Calibri"/>
                          <a:ea typeface="Calibri"/>
                          <a:cs typeface="Calibri"/>
                          <a:sym typeface="Calibri"/>
                        </a:rPr>
                        <a:t>request.Headers.ExpectContinue = false;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request.Headers.Add("SOAPAction",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response = await _httpClient.SendAsync(request);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responseXml = await response.Content.ReadAsStringAsync();</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if (!response.IsSuccessStatusCode)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docFault = System.Xml.Linq.XDocument.Parse(responseXml);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faultString = docFault.Descendants().FirstOrDefault(x =&gt; x.Name.LocalName == "faultstring")?.Value;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throw new Exception($"Error: {faultString ?? "No se pudo cambiar la contraseña"}");</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doc = System.Xml.Linq.XDocument.Parse(responseXml);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resultElement = doc.Descendants().FirstOrDefault(x =&gt; x.Name.LocalName == "return");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return resultElement?.Value ?? "Contraseña actualizada correctamente";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63"/>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11" name="Google Shape;511;p63"/>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512" name="Google Shape;512;p63"/>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513" name="Google Shape;513;p63"/>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System.Globalization;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System.Text;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System.Xml.Linq;</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ec.edu.monster.Interfaces;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ec.edu.monster.Modelos;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namespace ec.edu.monster.Adaptadores;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public class AdaptadorConversionJavaSoap : IAdaptadorConversion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TipoBackend Tipo =&gt; TipoBackend.JavaSoap;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private readonly HttpClient _httpClient;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AdaptadorConversionJavaSoap(HttpClient 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_httpClient = 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async Task&lt;double&gt; ConvertirAsync(PeticionConversion peticion, string token)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Determinamos qué método llamar en el Web Service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metodoWs = peticion.TipoConversion switch</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"Masa" =&gt; "convertirMasa",</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"Temperatura" =&gt; "convertirTemperatura",</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_ =&gt; "convertirLongitud"</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6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19" name="Google Shape;519;p64"/>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520" name="Google Shape;520;p64"/>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521" name="Google Shape;521;p64"/>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string valorFormateado = peticion.Valor.ToString(CultureInfo.InvariantCulture);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1. Construir el sobre SOAP incluyendo el Token en el Header</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soapXml = $@"&lt;soapenv:Envelope xmlns:soapenv=""http://schemas.xmlsoap.org/soap/envelope/"" xmlns:ws=""http://ws.controladores.monster.edu.ec/""&gt;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&lt;soapenv:Header&gt;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&lt;ws:token&gt;{token}&lt;/ws:token&gt;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&lt;/soapenv:Header&gt;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&lt;ws:{metodoWs}&gt;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&lt;valor&gt;{valorFormateado}&lt;/valor&gt;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&lt;unidadInicial&gt;{peticion.UnidadOrigen}&lt;/unidadInicial&gt;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&lt;unidadFinal&gt;{peticion.UnidadDestino}&lt;/unidadFinal&gt;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&lt;/ws:{metodoWs}&gt;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&lt;/soapenv:Envelope&gt;";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content = new StringContent(soapXml, Encoding.UTF8, "text/xml");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2. Enviar la petición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response = await _httpClient.PostAsync(ConstantesRed.UrlJavaSoap, content);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responseXml = await response.Content.ReadAsStringAsync();</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Si el token es inválido o hay un error, Java SOAP suele devolver HTTP 500 con un &lt;soapenv:Fault&gt;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if (!response.IsSuccessStatusCode)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6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27" name="Google Shape;527;p65"/>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528" name="Google Shape;528;p6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529" name="Google Shape;529;p65"/>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docFault = XDocument.Parse(responseXml);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faultString = docFault.Descendants().FirstOrDefault(x =&gt; x.Name.LocalName == "faultstring")?.Value;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throw new Exception($"Error del servidor SOAP: {faultString ?? response.StatusCode.ToString()}");</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3. Extraer el resultado double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doc = XDocument.Parse(responseXml);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resultElement = doc.Descendants().FirstOrDefault(x =&gt; x.Name.LocalName == "return");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if (resultElement != null &amp;&amp; double.TryParse(resultElement.Value, NumberStyles.Any, CultureInfo.InvariantCulture, out double resultado))</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return resultado;</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throw new Exception("No se pudo parsear el resultado matemático del 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6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35" name="Google Shape;535;p66"/>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36" name="Google Shape;536;p66"/>
          <p:cNvSpPr txBox="1"/>
          <p:nvPr>
            <p:ph idx="1" type="body"/>
          </p:nvPr>
        </p:nvSpPr>
        <p:spPr>
          <a:xfrm>
            <a:off x="581200" y="1902979"/>
            <a:ext cx="8589300" cy="1170900"/>
          </a:xfrm>
          <a:prstGeom prst="rect">
            <a:avLst/>
          </a:prstGeom>
          <a:noFill/>
          <a:ln>
            <a:noFill/>
          </a:ln>
        </p:spPr>
        <p:txBody>
          <a:bodyPr anchorCtr="0" anchor="ctr" bIns="45700" lIns="91425" spcFirstLastPara="1" rIns="91425" wrap="square" tIns="45700">
            <a:normAutofit/>
          </a:bodyPr>
          <a:lstStyle/>
          <a:p>
            <a:pPr indent="-333753" lvl="0" marL="457200" rtl="0" algn="just">
              <a:lnSpc>
                <a:spcPct val="107000"/>
              </a:lnSpc>
              <a:spcBef>
                <a:spcPts val="0"/>
              </a:spcBef>
              <a:spcAft>
                <a:spcPts val="0"/>
              </a:spcAft>
              <a:buSzPts val="1656"/>
              <a:buChar char="●"/>
            </a:pPr>
            <a:r>
              <a:rPr lang="es-ES" sz="1564">
                <a:latin typeface="Cambria"/>
                <a:ea typeface="Cambria"/>
                <a:cs typeface="Cambria"/>
                <a:sym typeface="Cambria"/>
              </a:rPr>
              <a:t>Para el cliente desktop se debe crear la instancia que llame al codigo que esta en el proyecto .shared, por lo que el codigo se ve asi, es el mismo que el de movil, sol cambiará la adaptación de la plataforma que se llame</a:t>
            </a:r>
            <a:endParaRPr>
              <a:latin typeface="Cambria"/>
              <a:ea typeface="Cambria"/>
              <a:cs typeface="Cambria"/>
              <a:sym typeface="Cambria"/>
            </a:endParaRPr>
          </a:p>
        </p:txBody>
      </p:sp>
      <p:sp>
        <p:nvSpPr>
          <p:cNvPr id="537" name="Google Shape;537;p66"/>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538" name="Google Shape;538;p66"/>
          <p:cNvGraphicFramePr/>
          <p:nvPr/>
        </p:nvGraphicFramePr>
        <p:xfrm>
          <a:off x="2332838" y="3073863"/>
          <a:ext cx="3000000" cy="3000000"/>
        </p:xfrm>
        <a:graphic>
          <a:graphicData uri="http://schemas.openxmlformats.org/drawingml/2006/table">
            <a:tbl>
              <a:tblPr>
                <a:noFill/>
                <a:tableStyleId>{BF136021-7255-42B7-A7E7-87A8D8FFE9CA}</a:tableStyleId>
              </a:tblPr>
              <a:tblGrid>
                <a:gridCol w="6484300"/>
              </a:tblGrid>
              <a:tr h="3453000">
                <a:tc>
                  <a:txBody>
                    <a:bodyPr/>
                    <a:lstStyle/>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using Microsoft.Extensions.Logging;</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using Microsoft.Extensions.DependencyInjection;</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namespace SistemaConversorUI.Maui</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public static class MauiProgram</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public static MauiApp CreateMauiApp()</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var builder = MauiApp.CreateBuilder();</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builder</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.UseMauiApp&lt;App&gt;()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.ConfigureFonts(fonts =&gt;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fonts.AddFont("OpenSans-Regular.ttf", "OpenSansRegular");</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
        <p:nvSpPr>
          <p:cNvPr id="539" name="Google Shape;539;p66"/>
          <p:cNvSpPr txBox="1"/>
          <p:nvPr/>
        </p:nvSpPr>
        <p:spPr>
          <a:xfrm>
            <a:off x="122575" y="1715850"/>
            <a:ext cx="7232400" cy="758100"/>
          </a:xfrm>
          <a:prstGeom prst="rect">
            <a:avLst/>
          </a:prstGeom>
          <a:noFill/>
          <a:ln>
            <a:noFill/>
          </a:ln>
        </p:spPr>
        <p:txBody>
          <a:bodyPr anchorCtr="0" anchor="t" bIns="91425" lIns="91425" spcFirstLastPara="1" rIns="91425" wrap="square" tIns="91425">
            <a:spAutoFit/>
          </a:bodyPr>
          <a:lstStyle/>
          <a:p>
            <a:pPr indent="0" lvl="0" marL="0" rtl="0" algn="just">
              <a:lnSpc>
                <a:spcPct val="107000"/>
              </a:lnSpc>
              <a:spcBef>
                <a:spcPts val="0"/>
              </a:spcBef>
              <a:spcAft>
                <a:spcPts val="0"/>
              </a:spcAft>
              <a:buNone/>
            </a:pPr>
            <a:r>
              <a:rPr b="1" lang="es-ES" sz="1800">
                <a:solidFill>
                  <a:schemeClr val="dk2"/>
                </a:solidFill>
                <a:latin typeface="Cambria"/>
                <a:ea typeface="Cambria"/>
                <a:cs typeface="Cambria"/>
                <a:sym typeface="Cambria"/>
              </a:rPr>
              <a:t>1.6 	CREACIÓN DEL PROYECTO – CLIENTE ESCRITORIO</a:t>
            </a:r>
            <a:br>
              <a:rPr b="1" lang="es-ES" sz="1800">
                <a:solidFill>
                  <a:schemeClr val="dk2"/>
                </a:solidFill>
                <a:latin typeface="Cambria"/>
                <a:ea typeface="Cambria"/>
                <a:cs typeface="Cambria"/>
                <a:sym typeface="Cambria"/>
              </a:rPr>
            </a:br>
            <a:endParaRPr sz="1800">
              <a:solidFill>
                <a:schemeClr val="dk2"/>
              </a:solidFill>
              <a:latin typeface="Gill Sans"/>
              <a:ea typeface="Gill Sans"/>
              <a:cs typeface="Gill Sans"/>
              <a:sym typeface="Gill San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6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45" name="Google Shape;545;p67"/>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46" name="Google Shape;546;p67"/>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547" name="Google Shape;547;p67"/>
          <p:cNvGraphicFramePr/>
          <p:nvPr/>
        </p:nvGraphicFramePr>
        <p:xfrm>
          <a:off x="2332838" y="2136238"/>
          <a:ext cx="3000000" cy="3000000"/>
        </p:xfrm>
        <a:graphic>
          <a:graphicData uri="http://schemas.openxmlformats.org/drawingml/2006/table">
            <a:tbl>
              <a:tblPr>
                <a:noFill/>
                <a:tableStyleId>{BF136021-7255-42B7-A7E7-87A8D8FFE9CA}</a:tableStyleId>
              </a:tblPr>
              <a:tblGrid>
                <a:gridCol w="6484300"/>
              </a:tblGrid>
              <a:tr h="4023900">
                <a:tc>
                  <a:txBody>
                    <a:bodyPr/>
                    <a:lstStyle/>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builder.Services.AddMauiBlazorWebView();</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1. Cliente HTTP</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builder.Services.AddHttpClient();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2. SERVICIOS CORE</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builder.Services.AddScoped&lt;ec.edu.monster.Servicios.EstadoAplicacion&gt;();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builder.Services.AddScoped&lt;ec.edu.monster.Servicios.FabricaEstrategiaBackend&gt;();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3. ADAPTADORES (Igual que en la Web)</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ec.edu.monster.Adaptadores.AdaptadorAutenticacionDotNetSoap&gt;();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ec.edu.monster.Adaptadores.AdaptadorAutenticacionDotNetRest&gt;();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ec.edu.monster.Adaptadores.AdaptadorAutenticacionJavaRest&gt;();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6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53" name="Google Shape;553;p68"/>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54" name="Google Shape;554;p68"/>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555" name="Google Shape;555;p68"/>
          <p:cNvGraphicFramePr/>
          <p:nvPr/>
        </p:nvGraphicFramePr>
        <p:xfrm>
          <a:off x="2332838" y="2136238"/>
          <a:ext cx="3000000" cy="3000000"/>
        </p:xfrm>
        <a:graphic>
          <a:graphicData uri="http://schemas.openxmlformats.org/drawingml/2006/table">
            <a:tbl>
              <a:tblPr>
                <a:noFill/>
                <a:tableStyleId>{BF136021-7255-42B7-A7E7-87A8D8FFE9CA}</a:tableStyleId>
              </a:tblPr>
              <a:tblGrid>
                <a:gridCol w="6484300"/>
              </a:tblGrid>
              <a:tr h="4023900">
                <a:tc>
                  <a:txBody>
                    <a:bodyPr/>
                    <a:lstStyle/>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ec.edu.monster.Adaptadores.AdaptadorConversionDotNetSoap&gt;();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ec.edu.monster.Adaptadores.AdaptadorConversionDotNetRest&gt;();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ec.edu.monster.Adaptadores.AdaptadorConversionJavaRest&gt;();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#if DEBUG</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builder.Services.AddBlazorWebViewDeveloperTools();</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builder.Logging.AddDebug();</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#endif</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 AUTENTICACIÓN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1100">
                        <a:solidFill>
                          <a:schemeClr val="dk1"/>
                        </a:solidFill>
                      </a:endParaRPr>
                    </a:p>
                  </a:txBody>
                  <a:tcPr marT="63500" marB="63500" marR="63500" marL="63500"/>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6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61" name="Google Shape;561;p69"/>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62" name="Google Shape;562;p69"/>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563" name="Google Shape;563;p69"/>
          <p:cNvGraphicFramePr/>
          <p:nvPr/>
        </p:nvGraphicFramePr>
        <p:xfrm>
          <a:off x="2332825" y="1914088"/>
          <a:ext cx="3000000" cy="3000000"/>
        </p:xfrm>
        <a:graphic>
          <a:graphicData uri="http://schemas.openxmlformats.org/drawingml/2006/table">
            <a:tbl>
              <a:tblPr>
                <a:noFill/>
                <a:tableStyleId>{BF136021-7255-42B7-A7E7-87A8D8FFE9CA}</a:tableStyleId>
              </a:tblPr>
              <a:tblGrid>
                <a:gridCol w="6484300"/>
              </a:tblGrid>
              <a:tr h="4023900">
                <a:tc>
                  <a:txBody>
                    <a:bodyPr/>
                    <a:lstStyle/>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LOS MOCKS (Para los que aún no construimos):</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ec.edu.monster.Adaptadores.AdaptadorAutenticacionMock(ec.edu.monster.Modelos.TipoBackend.JavaRest));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ec.edu.monster.Adaptadores.AdaptadorAutenticacionMock(ec.edu.monster.Modelos.TipoBackend.DotNetSoap));</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ec.edu.monster.Adaptadores.AdaptadorAutenticacionMock(ec.edu.monster.Modelos.TipoBackend.DotNetRest));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 CONVERSIÓN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LOS MOCKS:</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ec.edu.monster.Adaptadores.AdaptadorConversionMock(ec.edu.monster.Modelos.TipoBackend.JavaRest));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ec.edu.monster.Adaptadores.AdaptadorConversionMock(ec.edu.monster.Modelos.TipoBackend.DotNetSoap));</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ec.edu.monster.Adaptadores.AdaptadorConversionMock(ec.edu.monster.Modelos.TipoBackend.DotNetRest));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return builder.Build();</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a:t>
                      </a:r>
                      <a:endParaRPr sz="1100">
                        <a:solidFill>
                          <a:schemeClr val="dk1"/>
                        </a:solidFill>
                      </a:endParaRPr>
                    </a:p>
                  </a:txBody>
                  <a:tcPr marT="63500" marB="63500" marR="63500" marL="63500"/>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70"/>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69" name="Google Shape;569;p70"/>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570" name="Google Shape;570;p70"/>
          <p:cNvPicPr preferRelativeResize="0"/>
          <p:nvPr/>
        </p:nvPicPr>
        <p:blipFill>
          <a:blip r:embed="rId3">
            <a:alphaModFix/>
          </a:blip>
          <a:stretch>
            <a:fillRect/>
          </a:stretch>
        </p:blipFill>
        <p:spPr>
          <a:xfrm>
            <a:off x="1863925" y="2920600"/>
            <a:ext cx="5734050" cy="3476625"/>
          </a:xfrm>
          <a:prstGeom prst="rect">
            <a:avLst/>
          </a:prstGeom>
          <a:noFill/>
          <a:ln>
            <a:noFill/>
          </a:ln>
        </p:spPr>
      </p:pic>
      <p:sp>
        <p:nvSpPr>
          <p:cNvPr id="571" name="Google Shape;571;p70"/>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login</a:t>
            </a:r>
            <a:endParaRPr b="0" i="0" sz="2000" u="none" cap="none" strike="noStrike">
              <a:solidFill>
                <a:srgbClr val="3D3D3D"/>
              </a:solidFill>
              <a:latin typeface="Cambria"/>
              <a:ea typeface="Cambria"/>
              <a:cs typeface="Cambria"/>
              <a:sym typeface="Cambria"/>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7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77" name="Google Shape;577;p71"/>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78" name="Google Shape;578;p71"/>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login</a:t>
            </a:r>
            <a:endParaRPr b="0" i="0" sz="2000" u="none" cap="none" strike="noStrike">
              <a:solidFill>
                <a:srgbClr val="3D3D3D"/>
              </a:solidFill>
              <a:latin typeface="Cambria"/>
              <a:ea typeface="Cambria"/>
              <a:cs typeface="Cambria"/>
              <a:sym typeface="Cambria"/>
            </a:endParaRPr>
          </a:p>
        </p:txBody>
      </p:sp>
      <p:pic>
        <p:nvPicPr>
          <p:cNvPr id="579" name="Google Shape;579;p71"/>
          <p:cNvPicPr preferRelativeResize="0"/>
          <p:nvPr/>
        </p:nvPicPr>
        <p:blipFill>
          <a:blip r:embed="rId3">
            <a:alphaModFix/>
          </a:blip>
          <a:stretch>
            <a:fillRect/>
          </a:stretch>
        </p:blipFill>
        <p:spPr>
          <a:xfrm>
            <a:off x="2057925" y="2610550"/>
            <a:ext cx="5734050" cy="34671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72"/>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85" name="Google Shape;585;p72"/>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86" name="Google Shape;586;p72"/>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login</a:t>
            </a:r>
            <a:endParaRPr b="0" i="0" sz="2000" u="none" cap="none" strike="noStrike">
              <a:solidFill>
                <a:srgbClr val="3D3D3D"/>
              </a:solidFill>
              <a:latin typeface="Cambria"/>
              <a:ea typeface="Cambria"/>
              <a:cs typeface="Cambria"/>
              <a:sym typeface="Cambria"/>
            </a:endParaRPr>
          </a:p>
        </p:txBody>
      </p:sp>
      <p:pic>
        <p:nvPicPr>
          <p:cNvPr id="587" name="Google Shape;587;p72"/>
          <p:cNvPicPr preferRelativeResize="0"/>
          <p:nvPr/>
        </p:nvPicPr>
        <p:blipFill>
          <a:blip r:embed="rId3">
            <a:alphaModFix/>
          </a:blip>
          <a:stretch>
            <a:fillRect/>
          </a:stretch>
        </p:blipFill>
        <p:spPr>
          <a:xfrm>
            <a:off x="2176450" y="2610550"/>
            <a:ext cx="5734050" cy="34956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73"/>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93" name="Google Shape;593;p73"/>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94" name="Google Shape;594;p73"/>
          <p:cNvSpPr txBox="1"/>
          <p:nvPr>
            <p:ph idx="1" type="body"/>
          </p:nvPr>
        </p:nvSpPr>
        <p:spPr>
          <a:xfrm>
            <a:off x="581200" y="1902979"/>
            <a:ext cx="8589300" cy="1170900"/>
          </a:xfrm>
          <a:prstGeom prst="rect">
            <a:avLst/>
          </a:prstGeom>
          <a:noFill/>
          <a:ln>
            <a:noFill/>
          </a:ln>
        </p:spPr>
        <p:txBody>
          <a:bodyPr anchorCtr="0" anchor="ctr" bIns="45700" lIns="91425" spcFirstLastPara="1" rIns="91425" wrap="square" tIns="45700">
            <a:normAutofit/>
          </a:bodyPr>
          <a:lstStyle/>
          <a:p>
            <a:pPr indent="-333753" lvl="0" marL="457200" rtl="0" algn="just">
              <a:lnSpc>
                <a:spcPct val="107000"/>
              </a:lnSpc>
              <a:spcBef>
                <a:spcPts val="0"/>
              </a:spcBef>
              <a:spcAft>
                <a:spcPts val="0"/>
              </a:spcAft>
              <a:buSzPts val="1656"/>
              <a:buChar char="●"/>
            </a:pPr>
            <a:r>
              <a:rPr lang="es-ES" sz="1564">
                <a:latin typeface="Cambria"/>
                <a:ea typeface="Cambria"/>
                <a:cs typeface="Cambria"/>
                <a:sym typeface="Cambria"/>
              </a:rPr>
              <a:t>Para el cliente web se debe crear la instancia que llame al codigo que esta en el proyecto .shared, por lo que el codigo se ve asi:</a:t>
            </a:r>
            <a:endParaRPr>
              <a:latin typeface="Cambria"/>
              <a:ea typeface="Cambria"/>
              <a:cs typeface="Cambria"/>
              <a:sym typeface="Cambria"/>
            </a:endParaRPr>
          </a:p>
        </p:txBody>
      </p:sp>
      <p:sp>
        <p:nvSpPr>
          <p:cNvPr id="595" name="Google Shape;595;p73"/>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596" name="Google Shape;596;p73"/>
          <p:cNvGraphicFramePr/>
          <p:nvPr/>
        </p:nvGraphicFramePr>
        <p:xfrm>
          <a:off x="2332838" y="3073863"/>
          <a:ext cx="3000000" cy="3000000"/>
        </p:xfrm>
        <a:graphic>
          <a:graphicData uri="http://schemas.openxmlformats.org/drawingml/2006/table">
            <a:tbl>
              <a:tblPr>
                <a:noFill/>
                <a:tableStyleId>{BF136021-7255-42B7-A7E7-87A8D8FFE9CA}</a:tableStyleId>
              </a:tblPr>
              <a:tblGrid>
                <a:gridCol w="6484300"/>
              </a:tblGrid>
              <a:tr h="3453000">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SistemaConversorUI.Web.Client.Pages;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ec.edu.monster.Components;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var builder = WebApplication.CreateBuilder(args);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builder.Services.AddAntiforgery();</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1. Servicios base de Blazor y Seguridad</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builder.Services.AddRazorComponents()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.AddInteractiveServerComponents();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builder.Services.AddAntiforgery();</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2. SERVICIOS CORE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builder.Services.AddScoped&lt;ec.edu.monster.Servicios.EstadoAplicacion&gt;();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builder.Services.AddScoped&lt;ec.edu.monster.Servicios.FabricaEstrategiaBackend&gt;();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7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02" name="Google Shape;602;p74"/>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03" name="Google Shape;603;p74"/>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604" name="Google Shape;604;p74"/>
          <p:cNvGraphicFramePr/>
          <p:nvPr/>
        </p:nvGraphicFramePr>
        <p:xfrm>
          <a:off x="2332838" y="2061838"/>
          <a:ext cx="3000000" cy="3000000"/>
        </p:xfrm>
        <a:graphic>
          <a:graphicData uri="http://schemas.openxmlformats.org/drawingml/2006/table">
            <a:tbl>
              <a:tblPr>
                <a:noFill/>
                <a:tableStyleId>{BF136021-7255-42B7-A7E7-87A8D8FFE9CA}</a:tableStyleId>
              </a:tblPr>
              <a:tblGrid>
                <a:gridCol w="6484300"/>
              </a:tblGrid>
              <a:tr h="4465025">
                <a:tc>
                  <a:txBody>
                    <a:bodyPr/>
                    <a:lstStyle/>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3. ADAPTADORES DE AUTENTICACIÓN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El Real (Java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El Real (.NET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ec.edu.monster.Adaptadores.AdaptadorAutenticacionDotNetSoap&gt;();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ec.edu.monster.Adaptadores.AdaptadorAutenticacionDotNetRest&gt;();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Los Mocks (Para los demás):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ec.edu.monster.Adaptadores.AdaptadorAutenticacionJavaRest&gt;();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4. ADAPTADORES DE CONVERSIÓN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El Real (Java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El Real (.NET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ec.edu.monster.Adaptadores.AdaptadorConversionDotNetSoap&gt;();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7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10" name="Google Shape;610;p75"/>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11" name="Google Shape;611;p75"/>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612" name="Google Shape;612;p75"/>
          <p:cNvGraphicFramePr/>
          <p:nvPr/>
        </p:nvGraphicFramePr>
        <p:xfrm>
          <a:off x="2332825" y="1795025"/>
          <a:ext cx="3000000" cy="3000000"/>
        </p:xfrm>
        <a:graphic>
          <a:graphicData uri="http://schemas.openxmlformats.org/drawingml/2006/table">
            <a:tbl>
              <a:tblPr>
                <a:noFill/>
                <a:tableStyleId>{BF136021-7255-42B7-A7E7-87A8D8FFE9CA}</a:tableStyleId>
              </a:tblPr>
              <a:tblGrid>
                <a:gridCol w="6484300"/>
              </a:tblGrid>
              <a:tr h="446502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ec.edu.monster.Adaptadores.AdaptadorConversionDotNetRest&gt;();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Los Mocks: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ec.edu.monster.Adaptadores.AdaptadorConversionJavaRest&gt;();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FIN DE LOS SERVICIOS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var app = builder.Build();</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Configure the HTTP request pipeline.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if (app.Environment.IsDevelopment())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app.UseWebAssemblyDebugging();</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else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app.UseExceptionHandler("/Error", createScopeForErrors: true);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The default HSTS value is 30 days. You may want to change this for production scenarios, see https://aka.ms/aspnetcore-hsts.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app.UseHsts();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app.UseStatusCodePagesWithReExecute("/not-found", createScopeForStatusCodePages: true);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app.UseHttpsRedirection();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app.UseAntiforgery();</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app.MapStaticAssets();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app.MapRazorComponents&lt;App&gt;()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.AddInteractiveServerRenderMode()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.AddAdditionalAssemblies(typeof(SistemaConversorUI.Web.Client._Imports).Assembly);</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app.Run();</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7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18" name="Google Shape;618;p76"/>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solidFill>
                <a:srgbClr val="FFFF00"/>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619" name="Google Shape;619;p76"/>
          <p:cNvPicPr preferRelativeResize="0"/>
          <p:nvPr/>
        </p:nvPicPr>
        <p:blipFill>
          <a:blip r:embed="rId3">
            <a:alphaModFix/>
          </a:blip>
          <a:stretch>
            <a:fillRect/>
          </a:stretch>
        </p:blipFill>
        <p:spPr>
          <a:xfrm>
            <a:off x="1863925" y="2920600"/>
            <a:ext cx="5734050" cy="3476625"/>
          </a:xfrm>
          <a:prstGeom prst="rect">
            <a:avLst/>
          </a:prstGeom>
          <a:noFill/>
          <a:ln>
            <a:noFill/>
          </a:ln>
        </p:spPr>
      </p:pic>
      <p:sp>
        <p:nvSpPr>
          <p:cNvPr id="620" name="Google Shape;620;p76"/>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login</a:t>
            </a:r>
            <a:endParaRPr b="0" i="0" sz="2000" u="none" cap="none" strike="noStrike">
              <a:solidFill>
                <a:srgbClr val="3D3D3D"/>
              </a:solidFill>
              <a:latin typeface="Cambria"/>
              <a:ea typeface="Cambria"/>
              <a:cs typeface="Cambria"/>
              <a:sym typeface="Cambria"/>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7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26" name="Google Shape;626;p77"/>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solidFill>
                <a:srgbClr val="FFFF00"/>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27" name="Google Shape;627;p77"/>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Conversor</a:t>
            </a:r>
            <a:endParaRPr b="0" i="0" sz="2000" u="none" cap="none" strike="noStrike">
              <a:solidFill>
                <a:srgbClr val="3D3D3D"/>
              </a:solidFill>
              <a:latin typeface="Cambria"/>
              <a:ea typeface="Cambria"/>
              <a:cs typeface="Cambria"/>
              <a:sym typeface="Cambria"/>
            </a:endParaRPr>
          </a:p>
        </p:txBody>
      </p:sp>
      <p:pic>
        <p:nvPicPr>
          <p:cNvPr id="628" name="Google Shape;628;p77"/>
          <p:cNvPicPr preferRelativeResize="0"/>
          <p:nvPr/>
        </p:nvPicPr>
        <p:blipFill>
          <a:blip r:embed="rId3">
            <a:alphaModFix/>
          </a:blip>
          <a:stretch>
            <a:fillRect/>
          </a:stretch>
        </p:blipFill>
        <p:spPr>
          <a:xfrm>
            <a:off x="989425" y="2522350"/>
            <a:ext cx="7615825" cy="389647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7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34" name="Google Shape;634;p78"/>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solidFill>
                <a:srgbClr val="FFFF00"/>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35" name="Google Shape;635;p78"/>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Cambiar </a:t>
            </a:r>
            <a:r>
              <a:rPr b="1" lang="es-ES" sz="1800">
                <a:solidFill>
                  <a:srgbClr val="3D3D3D"/>
                </a:solidFill>
                <a:latin typeface="Cambria"/>
                <a:ea typeface="Cambria"/>
                <a:cs typeface="Cambria"/>
                <a:sym typeface="Cambria"/>
              </a:rPr>
              <a:t>contraseña</a:t>
            </a:r>
            <a:endParaRPr b="0" i="0" sz="2000" u="none" cap="none" strike="noStrike">
              <a:solidFill>
                <a:srgbClr val="3D3D3D"/>
              </a:solidFill>
              <a:latin typeface="Cambria"/>
              <a:ea typeface="Cambria"/>
              <a:cs typeface="Cambria"/>
              <a:sym typeface="Cambria"/>
            </a:endParaRPr>
          </a:p>
        </p:txBody>
      </p:sp>
      <p:pic>
        <p:nvPicPr>
          <p:cNvPr id="636" name="Google Shape;636;p78"/>
          <p:cNvPicPr preferRelativeResize="0"/>
          <p:nvPr/>
        </p:nvPicPr>
        <p:blipFill>
          <a:blip r:embed="rId3">
            <a:alphaModFix/>
          </a:blip>
          <a:stretch>
            <a:fillRect/>
          </a:stretch>
        </p:blipFill>
        <p:spPr>
          <a:xfrm>
            <a:off x="1223950" y="2763050"/>
            <a:ext cx="7317725" cy="37318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graphicFrame>
        <p:nvGraphicFramePr>
          <p:cNvPr id="641" name="Google Shape;641;p79"/>
          <p:cNvGraphicFramePr/>
          <p:nvPr/>
        </p:nvGraphicFramePr>
        <p:xfrm>
          <a:off x="2332838" y="2865288"/>
          <a:ext cx="3000000" cy="3000000"/>
        </p:xfrm>
        <a:graphic>
          <a:graphicData uri="http://schemas.openxmlformats.org/drawingml/2006/table">
            <a:tbl>
              <a:tblPr>
                <a:noFill/>
                <a:tableStyleId>{BF136021-7255-42B7-A7E7-87A8D8FFE9CA}</a:tableStyleId>
              </a:tblPr>
              <a:tblGrid>
                <a:gridCol w="6484300"/>
              </a:tblGrid>
              <a:tr h="3661575">
                <a:tc>
                  <a:txBody>
                    <a:bodyPr/>
                    <a:lstStyle/>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using Microsoft.Extensions.Logging;</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using Microsoft.Extensions.DependencyInjection;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namespace SistemaConversorUI.Maui</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public static class MauiProgram</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public static MauiApp CreateMauiApp()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var builder = MauiApp.CreateBuilder();</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builder</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.UseMauiApp&lt;App&gt;()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.ConfigureFonts(fonts =&gt;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fonts.AddFont("OpenSans-Regular.ttf", "OpenSansRegular");</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builder.Services.AddMauiBlazorWebView();</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 1. Cliente HTTP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builder.Services.AddHttpClient();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
        <p:nvSpPr>
          <p:cNvPr id="642" name="Google Shape;642;p7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43" name="Google Shape;643;p7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MOVIL</a:t>
            </a:r>
            <a:endParaRPr>
              <a:solidFill>
                <a:srgbClr val="FFFF00"/>
              </a:solidFill>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44" name="Google Shape;644;p79"/>
          <p:cNvSpPr txBox="1"/>
          <p:nvPr/>
        </p:nvSpPr>
        <p:spPr>
          <a:xfrm>
            <a:off x="406975" y="1921878"/>
            <a:ext cx="8576700" cy="737400"/>
          </a:xfrm>
          <a:prstGeom prst="rect">
            <a:avLst/>
          </a:prstGeom>
          <a:noFill/>
          <a:ln>
            <a:noFill/>
          </a:ln>
        </p:spPr>
        <p:txBody>
          <a:bodyPr anchorCtr="0" anchor="ctr" bIns="45700" lIns="91425" spcFirstLastPara="1" rIns="91425" wrap="square" tIns="45700">
            <a:normAutofit/>
          </a:bodyPr>
          <a:lstStyle/>
          <a:p>
            <a:pPr indent="0" lvl="0" marL="0" marR="0" rtl="0" algn="just">
              <a:lnSpc>
                <a:spcPct val="107000"/>
              </a:lnSpc>
              <a:spcBef>
                <a:spcPts val="0"/>
              </a:spcBef>
              <a:spcAft>
                <a:spcPts val="0"/>
              </a:spcAft>
              <a:buClr>
                <a:srgbClr val="000000"/>
              </a:buClr>
              <a:buSzPts val="1800"/>
              <a:buFont typeface="Arial"/>
              <a:buNone/>
            </a:pPr>
            <a:r>
              <a:rPr b="1" lang="es-ES" sz="1800">
                <a:solidFill>
                  <a:srgbClr val="3D3D3D"/>
                </a:solidFill>
                <a:latin typeface="Cambria"/>
                <a:ea typeface="Cambria"/>
                <a:cs typeface="Cambria"/>
                <a:sym typeface="Cambria"/>
              </a:rPr>
              <a:t>1.6</a:t>
            </a:r>
            <a:r>
              <a:rPr b="1" i="0" lang="es-ES" sz="1800" u="none" cap="none" strike="noStrike">
                <a:solidFill>
                  <a:srgbClr val="3D3D3D"/>
                </a:solidFill>
                <a:latin typeface="Cambria"/>
                <a:ea typeface="Cambria"/>
                <a:cs typeface="Cambria"/>
                <a:sym typeface="Cambria"/>
              </a:rPr>
              <a:t> 	CREACIÓN DEL PROYECTO – CLIENTE MÓVIL</a:t>
            </a:r>
            <a:br>
              <a:rPr b="1" i="0" lang="es-ES" sz="1800" u="none" cap="none" strike="noStrike">
                <a:solidFill>
                  <a:srgbClr val="3D3D3D"/>
                </a:solidFill>
                <a:latin typeface="Cambria"/>
                <a:ea typeface="Cambria"/>
                <a:cs typeface="Cambria"/>
                <a:sym typeface="Cambria"/>
              </a:rPr>
            </a:br>
            <a:endParaRPr b="0" i="0" sz="1800" u="none" cap="none" strike="noStrike">
              <a:solidFill>
                <a:srgbClr val="3D3D3D"/>
              </a:solidFill>
              <a:latin typeface="Gill Sans"/>
              <a:ea typeface="Gill Sans"/>
              <a:cs typeface="Gill Sans"/>
              <a:sym typeface="Gill Sans"/>
            </a:endParaRPr>
          </a:p>
        </p:txBody>
      </p:sp>
      <p:sp>
        <p:nvSpPr>
          <p:cNvPr id="645" name="Google Shape;645;p79"/>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646" name="Google Shape;646;p79"/>
          <p:cNvSpPr txBox="1"/>
          <p:nvPr>
            <p:ph idx="1" type="body"/>
          </p:nvPr>
        </p:nvSpPr>
        <p:spPr>
          <a:xfrm>
            <a:off x="581200" y="1902979"/>
            <a:ext cx="8589300" cy="1170900"/>
          </a:xfrm>
          <a:prstGeom prst="rect">
            <a:avLst/>
          </a:prstGeom>
          <a:noFill/>
          <a:ln>
            <a:noFill/>
          </a:ln>
        </p:spPr>
        <p:txBody>
          <a:bodyPr anchorCtr="0" anchor="ctr" bIns="45700" lIns="91425" spcFirstLastPara="1" rIns="91425" wrap="square" tIns="45700">
            <a:normAutofit/>
          </a:bodyPr>
          <a:lstStyle/>
          <a:p>
            <a:pPr indent="-333753" lvl="0" marL="457200" rtl="0" algn="just">
              <a:lnSpc>
                <a:spcPct val="107000"/>
              </a:lnSpc>
              <a:spcBef>
                <a:spcPts val="0"/>
              </a:spcBef>
              <a:spcAft>
                <a:spcPts val="0"/>
              </a:spcAft>
              <a:buSzPts val="1656"/>
              <a:buChar char="●"/>
            </a:pPr>
            <a:r>
              <a:rPr lang="es-ES" sz="1564">
                <a:latin typeface="Cambria"/>
                <a:ea typeface="Cambria"/>
                <a:cs typeface="Cambria"/>
                <a:sym typeface="Cambria"/>
              </a:rPr>
              <a:t>Para el cliente móvil se debe crear la instancia que llame al codigo que esta en el proyecto .shared, por lo que el código se ve así:</a:t>
            </a:r>
            <a:endParaRPr>
              <a:latin typeface="Cambria"/>
              <a:ea typeface="Cambria"/>
              <a:cs typeface="Cambria"/>
              <a:sym typeface="Cambria"/>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graphicFrame>
        <p:nvGraphicFramePr>
          <p:cNvPr id="651" name="Google Shape;651;p80"/>
          <p:cNvGraphicFramePr/>
          <p:nvPr/>
        </p:nvGraphicFramePr>
        <p:xfrm>
          <a:off x="2332838" y="2061638"/>
          <a:ext cx="3000000" cy="3000000"/>
        </p:xfrm>
        <a:graphic>
          <a:graphicData uri="http://schemas.openxmlformats.org/drawingml/2006/table">
            <a:tbl>
              <a:tblPr>
                <a:noFill/>
                <a:tableStyleId>{BF136021-7255-42B7-A7E7-87A8D8FFE9CA}</a:tableStyleId>
              </a:tblPr>
              <a:tblGrid>
                <a:gridCol w="6484300"/>
              </a:tblGrid>
              <a:tr h="4493000">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2. SERVICIOS CORE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builder.Services.AddScoped&lt;ec.edu.monster.Servicios.EstadoAplicacion&gt;();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builder.Services.AddScoped&lt;ec.edu.monster.Servicios.FabricaEstrategiaBackend&gt;();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3. ADAPTADORES (Igual que en la Web)</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#if DEBUG</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builder.Services.AddBlazorWebViewDeveloperTools();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builder.Logging.AddDebug();</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#endif</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
        <p:nvSpPr>
          <p:cNvPr id="652" name="Google Shape;652;p80"/>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53" name="Google Shape;653;p80"/>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MOVIL</a:t>
            </a:r>
            <a:endParaRPr>
              <a:solidFill>
                <a:srgbClr val="FFFF00"/>
              </a:solidFill>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54" name="Google Shape;654;p80"/>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graphicFrame>
        <p:nvGraphicFramePr>
          <p:cNvPr id="659" name="Google Shape;659;p81"/>
          <p:cNvGraphicFramePr/>
          <p:nvPr/>
        </p:nvGraphicFramePr>
        <p:xfrm>
          <a:off x="2332825" y="1795025"/>
          <a:ext cx="3000000" cy="3000000"/>
        </p:xfrm>
        <a:graphic>
          <a:graphicData uri="http://schemas.openxmlformats.org/drawingml/2006/table">
            <a:tbl>
              <a:tblPr>
                <a:noFill/>
                <a:tableStyleId>{BF136021-7255-42B7-A7E7-87A8D8FFE9CA}</a:tableStyleId>
              </a:tblPr>
              <a:tblGrid>
                <a:gridCol w="6484300"/>
              </a:tblGrid>
              <a:tr h="4493000">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 AUTENTICACIÓN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LOS MOCKS (Para los que aún no construimos):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ec.edu.monster.Adaptadores.AdaptadorAutenticacionMock(ec.edu.monster.Modelos.TipoBackend.JavaRest));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ec.edu.monster.Adaptadores.AdaptadorAutenticacionMock(ec.edu.monster.Modelos.TipoBackend.DotNetRest));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 CONVERSIÓN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LOS MOCKS: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ec.edu.monster.Adaptadores.AdaptadorConversionMock(ec.edu.monster.Modelos.TipoBackend.JavaRest));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ec.edu.monster.Adaptadores.AdaptadorConversionMock(ec.edu.monster.Modelos.TipoBackend.DotNetRest));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return builder.Build();</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
        <p:nvSpPr>
          <p:cNvPr id="660" name="Google Shape;660;p8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61" name="Google Shape;661;p81"/>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MOVIL</a:t>
            </a:r>
            <a:endParaRPr>
              <a:solidFill>
                <a:srgbClr val="FFFF00"/>
              </a:solidFill>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62" name="Google Shape;662;p81"/>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82"/>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68" name="Google Shape;668;p82"/>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MOVIL</a:t>
            </a:r>
            <a:endParaRPr>
              <a:solidFill>
                <a:srgbClr val="FFFF00"/>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solidFill>
                <a:schemeClr val="dk1"/>
              </a:solidFill>
            </a:endParaRPr>
          </a:p>
        </p:txBody>
      </p:sp>
      <p:sp>
        <p:nvSpPr>
          <p:cNvPr id="669" name="Google Shape;669;p82"/>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login</a:t>
            </a:r>
            <a:endParaRPr b="0" i="0" sz="2000" u="none" cap="none" strike="noStrike">
              <a:solidFill>
                <a:srgbClr val="3D3D3D"/>
              </a:solidFill>
              <a:latin typeface="Cambria"/>
              <a:ea typeface="Cambria"/>
              <a:cs typeface="Cambria"/>
              <a:sym typeface="Cambria"/>
            </a:endParaRPr>
          </a:p>
        </p:txBody>
      </p:sp>
      <p:pic>
        <p:nvPicPr>
          <p:cNvPr id="670" name="Google Shape;670;p82"/>
          <p:cNvPicPr preferRelativeResize="0"/>
          <p:nvPr/>
        </p:nvPicPr>
        <p:blipFill>
          <a:blip r:embed="rId3">
            <a:alphaModFix/>
          </a:blip>
          <a:stretch>
            <a:fillRect/>
          </a:stretch>
        </p:blipFill>
        <p:spPr>
          <a:xfrm>
            <a:off x="3843225" y="1715850"/>
            <a:ext cx="2484925" cy="490240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83"/>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76" name="Google Shape;676;p83"/>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MOVIL</a:t>
            </a:r>
            <a:endParaRPr>
              <a:solidFill>
                <a:srgbClr val="FFFF00"/>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solidFill>
                <a:schemeClr val="dk1"/>
              </a:solidFill>
            </a:endParaRPr>
          </a:p>
        </p:txBody>
      </p:sp>
      <p:sp>
        <p:nvSpPr>
          <p:cNvPr id="677" name="Google Shape;677;p83"/>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Conversor de </a:t>
            </a:r>
            <a:r>
              <a:rPr b="1" lang="es-ES" sz="1800">
                <a:solidFill>
                  <a:srgbClr val="3D3D3D"/>
                </a:solidFill>
                <a:latin typeface="Cambria"/>
                <a:ea typeface="Cambria"/>
                <a:cs typeface="Cambria"/>
                <a:sym typeface="Cambria"/>
              </a:rPr>
              <a:t>unidades</a:t>
            </a:r>
            <a:endParaRPr b="0" i="0" sz="2000" u="none" cap="none" strike="noStrike">
              <a:solidFill>
                <a:srgbClr val="3D3D3D"/>
              </a:solidFill>
              <a:latin typeface="Cambria"/>
              <a:ea typeface="Cambria"/>
              <a:cs typeface="Cambria"/>
              <a:sym typeface="Cambria"/>
            </a:endParaRPr>
          </a:p>
        </p:txBody>
      </p:sp>
      <p:pic>
        <p:nvPicPr>
          <p:cNvPr id="678" name="Google Shape;678;p83"/>
          <p:cNvPicPr preferRelativeResize="0"/>
          <p:nvPr/>
        </p:nvPicPr>
        <p:blipFill>
          <a:blip r:embed="rId3">
            <a:alphaModFix/>
          </a:blip>
          <a:stretch>
            <a:fillRect/>
          </a:stretch>
        </p:blipFill>
        <p:spPr>
          <a:xfrm>
            <a:off x="5149825" y="1868350"/>
            <a:ext cx="2413600" cy="4716675"/>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8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84" name="Google Shape;684;p84"/>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MOVIL</a:t>
            </a:r>
            <a:endParaRPr>
              <a:solidFill>
                <a:srgbClr val="FFFF00"/>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solidFill>
                <a:schemeClr val="dk1"/>
              </a:solidFill>
            </a:endParaRPr>
          </a:p>
        </p:txBody>
      </p:sp>
      <p:sp>
        <p:nvSpPr>
          <p:cNvPr id="685" name="Google Shape;685;p84"/>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cambio de contraseña</a:t>
            </a:r>
            <a:endParaRPr b="0" i="0" sz="2000" u="none" cap="none" strike="noStrike">
              <a:solidFill>
                <a:srgbClr val="3D3D3D"/>
              </a:solidFill>
              <a:latin typeface="Cambria"/>
              <a:ea typeface="Cambria"/>
              <a:cs typeface="Cambria"/>
              <a:sym typeface="Cambria"/>
            </a:endParaRPr>
          </a:p>
        </p:txBody>
      </p:sp>
      <p:pic>
        <p:nvPicPr>
          <p:cNvPr id="686" name="Google Shape;686;p84"/>
          <p:cNvPicPr preferRelativeResize="0"/>
          <p:nvPr/>
        </p:nvPicPr>
        <p:blipFill>
          <a:blip r:embed="rId3">
            <a:alphaModFix/>
          </a:blip>
          <a:stretch>
            <a:fillRect/>
          </a:stretch>
        </p:blipFill>
        <p:spPr>
          <a:xfrm>
            <a:off x="5042825" y="1868350"/>
            <a:ext cx="2520625" cy="515650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8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CONCLUSIONES</a:t>
            </a:r>
            <a:endParaRPr/>
          </a:p>
        </p:txBody>
      </p:sp>
      <p:sp>
        <p:nvSpPr>
          <p:cNvPr id="692" name="Google Shape;692;p85"/>
          <p:cNvSpPr txBox="1"/>
          <p:nvPr>
            <p:ph idx="1" type="body"/>
          </p:nvPr>
        </p:nvSpPr>
        <p:spPr>
          <a:xfrm>
            <a:off x="581192" y="2180496"/>
            <a:ext cx="8589300" cy="3678300"/>
          </a:xfrm>
          <a:prstGeom prst="rect">
            <a:avLst/>
          </a:prstGeom>
          <a:noFill/>
          <a:ln>
            <a:noFill/>
          </a:ln>
        </p:spPr>
        <p:txBody>
          <a:bodyPr anchorCtr="0" anchor="ctr" bIns="45700" lIns="91425" spcFirstLastPara="1" rIns="91425" wrap="square" tIns="45700">
            <a:normAutofit/>
          </a:bodyPr>
          <a:lstStyle/>
          <a:p>
            <a:pPr indent="0" lvl="0" marL="0" marR="0" rtl="0" algn="just">
              <a:lnSpc>
                <a:spcPct val="107000"/>
              </a:lnSpc>
              <a:spcBef>
                <a:spcPts val="0"/>
              </a:spcBef>
              <a:spcAft>
                <a:spcPts val="0"/>
              </a:spcAft>
              <a:buSzPts val="1656"/>
              <a:buNone/>
            </a:pPr>
            <a:r>
              <a:rPr lang="es-ES" sz="1900">
                <a:latin typeface="Cambria"/>
                <a:ea typeface="Cambria"/>
                <a:cs typeface="Cambria"/>
                <a:sym typeface="Cambria"/>
              </a:rPr>
              <a:t>La culminación de este proyecto evidencia la efectividad de una Arquitectura Orientada a Servicios (SOA) al integrar exitosamente un servidor SOAP robusto, desarrollado en Java y alojado en Payara Server, con un ecosistema de clientes multiplataforma (web, móvil, escritorio y consola) mediante el uso de .NET MAUI. Esta integración técnica se validó mediante la implementación de un sistema de seguridad desacoplado basado en tokens y manejadores de mensajes (Message Handlers), junto con la aplicación del patrón Strategy en el cliente, lo que garantiza una solución de software interoperable, escalable y alineada con los estándares de desarrollo empresarial modernos.</a:t>
            </a:r>
            <a:endParaRPr sz="1900"/>
          </a:p>
        </p:txBody>
      </p:sp>
      <p:sp>
        <p:nvSpPr>
          <p:cNvPr id="693" name="Google Shape;693;p8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chemeClr val="lt1"/>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SERVIDOR SOAP</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CONCLUSIONES</a:t>
            </a:r>
            <a:endParaRPr b="0" i="0" sz="1400" u="none" cap="none" strike="noStrike">
              <a:solidFill>
                <a:srgbClr val="FFFF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8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RECOMENDACIONES</a:t>
            </a:r>
            <a:endParaRPr/>
          </a:p>
        </p:txBody>
      </p:sp>
      <p:sp>
        <p:nvSpPr>
          <p:cNvPr id="699" name="Google Shape;699;p86"/>
          <p:cNvSpPr txBox="1"/>
          <p:nvPr>
            <p:ph idx="1" type="body"/>
          </p:nvPr>
        </p:nvSpPr>
        <p:spPr>
          <a:xfrm>
            <a:off x="581200" y="2025325"/>
            <a:ext cx="8500800" cy="4291200"/>
          </a:xfrm>
          <a:prstGeom prst="rect">
            <a:avLst/>
          </a:prstGeom>
          <a:noFill/>
          <a:ln>
            <a:noFill/>
          </a:ln>
        </p:spPr>
        <p:txBody>
          <a:bodyPr anchorCtr="0" anchor="ctr" bIns="45700" lIns="91425" spcFirstLastPara="1" rIns="91425" wrap="square" tIns="45700">
            <a:normAutofit/>
          </a:bodyPr>
          <a:lstStyle/>
          <a:p>
            <a:pPr indent="0" lvl="0" marL="0" rtl="0" algn="just">
              <a:lnSpc>
                <a:spcPct val="107000"/>
              </a:lnSpc>
              <a:spcBef>
                <a:spcPts val="0"/>
              </a:spcBef>
              <a:spcAft>
                <a:spcPts val="0"/>
              </a:spcAft>
              <a:buNone/>
            </a:pPr>
            <a:r>
              <a:rPr lang="es-ES" sz="1900">
                <a:latin typeface="Cambria"/>
                <a:ea typeface="Cambria"/>
                <a:cs typeface="Cambria"/>
                <a:sym typeface="Cambria"/>
              </a:rPr>
              <a:t>Integrar una base de datos (BDD) formal para reemplazar el manejo de credenciales quemadas en código y permitir el almacenamiento histórico personal de las conversiones de manera persistente y escalable.</a:t>
            </a:r>
            <a:endParaRPr sz="1900">
              <a:latin typeface="Cambria"/>
              <a:ea typeface="Cambria"/>
              <a:cs typeface="Cambria"/>
              <a:sym typeface="Cambria"/>
            </a:endParaRPr>
          </a:p>
          <a:p>
            <a:pPr indent="0" lvl="0" marL="0" rtl="0" algn="just">
              <a:lnSpc>
                <a:spcPct val="107000"/>
              </a:lnSpc>
              <a:spcBef>
                <a:spcPts val="0"/>
              </a:spcBef>
              <a:spcAft>
                <a:spcPts val="0"/>
              </a:spcAft>
              <a:buNone/>
            </a:pPr>
            <a:r>
              <a:t/>
            </a:r>
            <a:endParaRPr sz="1900">
              <a:latin typeface="Cambria"/>
              <a:ea typeface="Cambria"/>
              <a:cs typeface="Cambria"/>
              <a:sym typeface="Cambria"/>
            </a:endParaRPr>
          </a:p>
          <a:p>
            <a:pPr indent="0" lvl="0" marL="0" rtl="0" algn="just">
              <a:lnSpc>
                <a:spcPct val="107000"/>
              </a:lnSpc>
              <a:spcBef>
                <a:spcPts val="0"/>
              </a:spcBef>
              <a:spcAft>
                <a:spcPts val="0"/>
              </a:spcAft>
              <a:buNone/>
            </a:pPr>
            <a:r>
              <a:rPr lang="es-ES" sz="1900">
                <a:latin typeface="Cambria"/>
                <a:ea typeface="Cambria"/>
                <a:cs typeface="Cambria"/>
                <a:sym typeface="Cambria"/>
              </a:rPr>
              <a:t>Integrar protocolos de cifrado a nivel de mensaje (WS-Security) y el uso de HTTPS en entornos de producción para proteger la integridad del token de seguridad y los datos sensibles durante el tránsito en la red. </a:t>
            </a:r>
            <a:endParaRPr sz="1900">
              <a:latin typeface="Cambria"/>
              <a:ea typeface="Cambria"/>
              <a:cs typeface="Cambria"/>
              <a:sym typeface="Cambria"/>
            </a:endParaRPr>
          </a:p>
          <a:p>
            <a:pPr indent="0" lvl="0" marL="0" rtl="0" algn="just">
              <a:lnSpc>
                <a:spcPct val="107000"/>
              </a:lnSpc>
              <a:spcBef>
                <a:spcPts val="0"/>
              </a:spcBef>
              <a:spcAft>
                <a:spcPts val="0"/>
              </a:spcAft>
              <a:buNone/>
            </a:pPr>
            <a:r>
              <a:rPr lang="es-ES" sz="1900">
                <a:latin typeface="Cambria"/>
                <a:ea typeface="Cambria"/>
                <a:cs typeface="Cambria"/>
                <a:sym typeface="Cambria"/>
              </a:rPr>
              <a:t> </a:t>
            </a:r>
            <a:endParaRPr sz="1900">
              <a:latin typeface="Cambria"/>
              <a:ea typeface="Cambria"/>
              <a:cs typeface="Cambria"/>
              <a:sym typeface="Cambria"/>
            </a:endParaRPr>
          </a:p>
          <a:p>
            <a:pPr indent="0" lvl="0" marL="0" rtl="0" algn="just">
              <a:lnSpc>
                <a:spcPct val="107000"/>
              </a:lnSpc>
              <a:spcBef>
                <a:spcPts val="0"/>
              </a:spcBef>
              <a:spcAft>
                <a:spcPts val="0"/>
              </a:spcAft>
              <a:buNone/>
            </a:pPr>
            <a:r>
              <a:rPr lang="es-ES" sz="1900">
                <a:latin typeface="Cambria"/>
                <a:ea typeface="Cambria"/>
                <a:cs typeface="Cambria"/>
                <a:sym typeface="Cambria"/>
              </a:rPr>
              <a:t>Incorporar herramientas de análisis estático de código automatizadas dentro del ciclo de vida de desarrollo para monitorear la calidad del software y asegurar que las nuevas funcionalidades no rompan la compatibilidad con el contrato WSDL expuesto.</a:t>
            </a:r>
            <a:endParaRPr sz="1900">
              <a:latin typeface="Cambria"/>
              <a:ea typeface="Cambria"/>
              <a:cs typeface="Cambria"/>
              <a:sym typeface="Cambria"/>
            </a:endParaRPr>
          </a:p>
        </p:txBody>
      </p:sp>
      <p:sp>
        <p:nvSpPr>
          <p:cNvPr id="700" name="Google Shape;700;p8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chemeClr val="lt1"/>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SERVIDOR SOAP</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RECOMENDACIONES</a:t>
            </a:r>
            <a:endParaRPr b="0" i="0" sz="1400" u="none" cap="none" strike="noStrike">
              <a:solidFill>
                <a:srgbClr val="FFFF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