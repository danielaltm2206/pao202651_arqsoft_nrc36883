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sldSz cx="12192000" cy="6858000"/>
  <p:notesSz cx="6858000" cy="9144000"/>
  <p:embeddedFontLst>
    <p:embeddedFont>
      <p:font typeface="Cambria" panose="02040503050406030204" pitchFamily="18" charset="0"/>
      <p:regular r:id="rId77"/>
      <p:bold r:id="rId78"/>
      <p:italic r:id="rId79"/>
      <p:boldItalic r:id="rId80"/>
    </p:embeddedFont>
    <p:embeddedFont>
      <p:font typeface="Gill Sans" panose="020B0604020202020204" charset="0"/>
      <p:regular r:id="rId81"/>
      <p:bold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136021-7255-42B7-A7E7-87A8D8FFE9CA}">
  <a:tblStyle styleId="{BF136021-7255-42B7-A7E7-87A8D8FFE9CA}"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69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3.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4.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8526227be_0_4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3a8526227be_0_4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8526227be_0_4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3a8526227be_0_43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a8526227be_0_4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g3a8526227be_0_43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a8526227be_0_4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g3a8526227be_0_4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8526227be_0_4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g3a8526227be_0_45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a8526227be_0_4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g3a8526227be_0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8526227be_0_4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g3a8526227be_0_4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8526227be_0_4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g3a8526227be_0_47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8526227be_0_4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g3a8526227be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8526227be_0_4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g3a8526227be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8526227be_0_4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g3a8526227be_0_4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8526227be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a8526227be_0_5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g3a8526227be_0_5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a8526227be_0_5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8" name="Google Shape;218;g3a8526227be_0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8526227be_0_5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a8526227be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a8526227be_0_5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g3a8526227be_0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8526227be_0_5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3" name="Google Shape;243;g3a8526227be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a8526227be_0_5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1" name="Google Shape;251;g3a8526227be_0_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a8526227be_0_5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g3a8526227be_0_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a8526227be_0_5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g3a8526227be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a8526227be_0_5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5" name="Google Shape;275;g3a8526227be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a8526227be_0_5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 name="Google Shape;283;g3a8526227be_0_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a8526227be_0_5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1" name="Google Shape;291;g3a8526227be_0_58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8526227be_0_5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9" name="Google Shape;299;g3a8526227be_0_58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a854632a9a_2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8" name="Google Shape;308;g3a854632a9a_2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a854632a9a_2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6" name="Google Shape;316;g3a854632a9a_2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a854632a9a_2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4" name="Google Shape;324;g3a854632a9a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a854632a9a_2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2" name="Google Shape;332;g3a854632a9a_2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a854632a9a_2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a854632a9a_2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a854632a9a_2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a854632a9a_2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a854632a9a_2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8" name="Google Shape;358;g3a854632a9a_2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a854632a9a_2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a8526227be_0_5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5" name="Google Shape;375;g3a8526227be_0_5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a854632a9a_2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3" name="Google Shape;383;g3a854632a9a_2_8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a854632a9a_2_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2" name="Google Shape;392;g3a854632a9a_2_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a854632a9a_2_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1" name="Google Shape;401;g3a854632a9a_2_1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a854632a9a_2_1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0" name="Google Shape;410;g3a854632a9a_2_1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a854632a9a_2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9" name="Google Shape;419;g3a854632a9a_2_1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a854632a9a_2_1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8" name="Google Shape;428;g3a854632a9a_2_15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a854632a9a_2_1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6" name="Google Shape;436;g3a854632a9a_2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a854632a9a_2_1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4" name="Google Shape;444;g3a854632a9a_2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a854632a9a_2_1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2" name="Google Shape;452;g3a854632a9a_2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a854632a9a_2_1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0" name="Google Shape;460;g3a854632a9a_2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a854632a9a_2_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8" name="Google Shape;468;g3a854632a9a_2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a854632a9a_2_3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6" name="Google Shape;476;g3a854632a9a_2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a854632a9a_2_3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4" name="Google Shape;484;g3a854632a9a_2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a854632a9a_2_3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2" name="Google Shape;492;g3a854632a9a_2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a854632a9a_2_3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0" name="Google Shape;500;g3a854632a9a_2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a854632a9a_2_3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8" name="Google Shape;508;g3a854632a9a_2_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a854632a9a_2_3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6" name="Google Shape;516;g3a854632a9a_2_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3a854632a9a_2_3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4" name="Google Shape;524;g3a854632a9a_2_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a854632a9a_2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2" name="Google Shape;532;g3a854632a9a_2_7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a854632a9a_2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2" name="Google Shape;542;g3a854632a9a_2_2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3a854632a9a_2_2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0" name="Google Shape;550;g3a854632a9a_2_2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a854632a9a_2_2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8" name="Google Shape;558;g3a854632a9a_2_2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a854632a9a_2_2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6" name="Google Shape;566;g3a854632a9a_2_2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a854632a9a_2_2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4" name="Google Shape;574;g3a854632a9a_2_2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3a854632a9a_2_2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2" name="Google Shape;582;g3a854632a9a_2_24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a854632a9a_2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0" name="Google Shape;590;g3a854632a9a_2_25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a854632a9a_2_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9" name="Google Shape;599;g3a854632a9a_2_26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3a854632a9a_2_2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7" name="Google Shape;607;g3a854632a9a_2_27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a854632a9a_2_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5" name="Google Shape;615;g3a854632a9a_2_28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a854632a9a_2_2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3" name="Google Shape;623;g3a854632a9a_2_29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a854632a9a_2_2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1" name="Google Shape;631;g3a854632a9a_2_28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a8526227be_0_6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9" name="Google Shape;639;g3a8526227be_0_6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a854632a9a_2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9" name="Google Shape;649;g3a854632a9a_2_3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3a854632a9a_2_3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7" name="Google Shape;657;g3a854632a9a_2_3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a854632a9a_2_3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5" name="Google Shape;665;g3a854632a9a_2_3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a854632a9a_2_3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3" name="Google Shape;673;g3a854632a9a_2_33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a854632a9a_2_3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1" name="Google Shape;681;g3a854632a9a_2_34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a8526227be_0_6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9" name="Google Shape;689;g3a8526227be_0_6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3a8526227be_0_6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6" name="Google Shape;696;g3a8526227be_0_6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 name="Google Shape;18;p2"/>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5" name="Google Shape;25;p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2" name="Google Shape;32;p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9" name="Google Shape;39;p5"/>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0" name="Google Shape;40;p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7" name="Google Shape;47;p6"/>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8" name="Google Shape;48;p6"/>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9" name="Google Shape;49;p6"/>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p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7"/>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9"/>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7" name="Google Shape;67;p9"/>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68" name="Google Shape;68;p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a:spLocks noGrp="1"/>
          </p:cNvSpPr>
          <p:nvPr>
            <p:ph type="pic" idx="2"/>
          </p:nvPr>
        </p:nvSpPr>
        <p:spPr>
          <a:xfrm>
            <a:off x="447817" y="599725"/>
            <a:ext cx="11290859" cy="3557252"/>
          </a:xfrm>
          <a:prstGeom prst="rect">
            <a:avLst/>
          </a:prstGeom>
          <a:noFill/>
          <a:ln>
            <a:noFill/>
          </a:ln>
        </p:spPr>
      </p:sp>
      <p:sp>
        <p:nvSpPr>
          <p:cNvPr id="74" name="Google Shape;74;p10"/>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5" name="Google Shape;75;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4"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2" name="Google Shape;82;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2"/>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9" name="Google Shape;89;p12"/>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4"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ec.edu"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ctrTitle"/>
          </p:nvPr>
        </p:nvSpPr>
        <p:spPr>
          <a:xfrm>
            <a:off x="599226" y="3158569"/>
            <a:ext cx="10993549" cy="1578409"/>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3600"/>
              <a:buFont typeface="Gill Sans"/>
              <a:buNone/>
            </a:pPr>
            <a:r>
              <a:rPr lang="es-ES">
                <a:solidFill>
                  <a:schemeClr val="lt1"/>
                </a:solidFill>
              </a:rPr>
              <a:t>MANUAL</a:t>
            </a:r>
            <a:br>
              <a:rPr lang="es-ES">
                <a:solidFill>
                  <a:schemeClr val="lt1"/>
                </a:solidFill>
              </a:rPr>
            </a:br>
            <a:r>
              <a:rPr lang="es-ES">
                <a:solidFill>
                  <a:schemeClr val="lt1"/>
                </a:solidFill>
              </a:rPr>
              <a:t>CONVERSIÓN UNIDADES SOAP JAVA</a:t>
            </a:r>
            <a:endParaRPr/>
          </a:p>
        </p:txBody>
      </p:sp>
      <p:sp>
        <p:nvSpPr>
          <p:cNvPr id="97" name="Google Shape;97;p13"/>
          <p:cNvSpPr txBox="1">
            <a:spLocks noGrp="1"/>
          </p:cNvSpPr>
          <p:nvPr>
            <p:ph type="subTitle" idx="1"/>
          </p:nvPr>
        </p:nvSpPr>
        <p:spPr>
          <a:xfrm>
            <a:off x="599226" y="4572000"/>
            <a:ext cx="4261531" cy="18127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endParaRPr b="1" dirty="0">
              <a:solidFill>
                <a:schemeClr val="lt1"/>
              </a:solidFill>
            </a:endParaRPr>
          </a:p>
          <a:p>
            <a:pPr marL="0" lvl="0" indent="0" algn="l" rtl="0">
              <a:lnSpc>
                <a:spcPct val="100000"/>
              </a:lnSpc>
              <a:spcBef>
                <a:spcPts val="920"/>
              </a:spcBef>
              <a:spcAft>
                <a:spcPts val="0"/>
              </a:spcAft>
              <a:buSzPts val="1472"/>
              <a:buNone/>
            </a:pPr>
            <a:r>
              <a:rPr lang="es-ES" b="1" dirty="0">
                <a:solidFill>
                  <a:schemeClr val="lt1"/>
                </a:solidFill>
              </a:rPr>
              <a:t>INTEGRANTES:</a:t>
            </a:r>
            <a:r>
              <a:rPr lang="es-ES" dirty="0">
                <a:solidFill>
                  <a:schemeClr val="lt1"/>
                </a:solidFill>
              </a:rPr>
              <a:t> 	DANIELA TITUAÑA </a:t>
            </a:r>
          </a:p>
          <a:p>
            <a:pPr marL="0" lvl="0" indent="0" algn="l" rtl="0">
              <a:lnSpc>
                <a:spcPct val="100000"/>
              </a:lnSpc>
              <a:spcBef>
                <a:spcPts val="920"/>
              </a:spcBef>
              <a:spcAft>
                <a:spcPts val="0"/>
              </a:spcAft>
              <a:buSzPts val="1472"/>
              <a:buNone/>
            </a:pPr>
            <a:r>
              <a:rPr lang="es-ES" dirty="0">
                <a:solidFill>
                  <a:schemeClr val="lt1"/>
                </a:solidFill>
              </a:rPr>
              <a:t>		STIVEN MOLINA</a:t>
            </a:r>
            <a:endParaRPr dirty="0">
              <a:solidFill>
                <a:schemeClr val="lt1"/>
              </a:solidFill>
            </a:endParaRPr>
          </a:p>
        </p:txBody>
      </p:sp>
      <p:pic>
        <p:nvPicPr>
          <p:cNvPr id="98" name="Google Shape;98;p13"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pPr>
            <a:r>
              <a:rPr lang="es-ES" sz="1600" b="1" i="0" u="none" strike="noStrike" cap="none">
                <a:solidFill>
                  <a:srgbClr val="FFFFFF"/>
                </a:solidFill>
                <a:latin typeface="Gill Sans"/>
                <a:ea typeface="Gill Sans"/>
                <a:cs typeface="Gill Sans"/>
                <a:sym typeface="Gill Sans"/>
              </a:rPr>
              <a:t>FECHA:  27</a:t>
            </a:r>
            <a:r>
              <a:rPr lang="es-ES" sz="1600" b="1">
                <a:solidFill>
                  <a:srgbClr val="FFFFFF"/>
                </a:solidFill>
                <a:latin typeface="Gill Sans"/>
                <a:ea typeface="Gill Sans"/>
                <a:cs typeface="Gill Sans"/>
                <a:sym typeface="Gill Sans"/>
              </a:rPr>
              <a:t>/10/2025</a:t>
            </a:r>
            <a:endParaRPr sz="1600" b="0" i="0" u="none" strike="noStrike" cap="none" dirty="0">
              <a:solidFill>
                <a:srgbClr val="FFFFFF"/>
              </a:solidFill>
              <a:latin typeface="Gill Sans"/>
              <a:ea typeface="Gill Sans"/>
              <a:cs typeface="Gill Sans"/>
              <a:sym typeface="Gill Sans"/>
            </a:endParaRPr>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ING: </a:t>
            </a:r>
            <a:r>
              <a:rPr lang="es-ES" sz="1600" b="0" i="0" u="none" strike="noStrike" cap="none" dirty="0">
                <a:solidFill>
                  <a:srgbClr val="FFFFFF"/>
                </a:solidFill>
                <a:latin typeface="Gill Sans"/>
                <a:ea typeface="Gill Sans"/>
                <a:cs typeface="Gill Sans"/>
                <a:sym typeface="Gill Sans"/>
              </a:rPr>
              <a:t>CAMPAÑA MAURICIO</a:t>
            </a:r>
            <a:endParaRPr sz="1600" b="1" i="0" u="none" strike="noStrike" cap="none" dirty="0">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07" name="Google Shape;107;p14"/>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lnSpcReduction="10000"/>
          </a:bodyPr>
          <a:lstStyle/>
          <a:p>
            <a:pPr marL="306000" lvl="0" indent="-306000" algn="l" rtl="0">
              <a:lnSpc>
                <a:spcPct val="100000"/>
              </a:lnSpc>
              <a:spcBef>
                <a:spcPts val="0"/>
              </a:spcBef>
              <a:spcAft>
                <a:spcPts val="0"/>
              </a:spcAft>
              <a:buSzPts val="1656"/>
              <a:buChar char="◼"/>
            </a:pPr>
            <a:r>
              <a:rPr lang="es-ES">
                <a:solidFill>
                  <a:schemeClr val="lt1"/>
                </a:solidFill>
              </a:rPr>
              <a:t>DESARROLLO</a:t>
            </a:r>
            <a:endParaRPr/>
          </a:p>
          <a:p>
            <a:pPr marL="630000" lvl="1" indent="-320020" algn="l" rtl="0">
              <a:lnSpc>
                <a:spcPct val="100000"/>
              </a:lnSpc>
              <a:spcBef>
                <a:spcPts val="872"/>
              </a:spcBef>
              <a:spcAft>
                <a:spcPts val="0"/>
              </a:spcAft>
              <a:buSzPts val="1472"/>
              <a:buChar char="◼"/>
            </a:pPr>
            <a:r>
              <a:rPr lang="es-ES">
                <a:solidFill>
                  <a:schemeClr val="lt1"/>
                </a:solidFill>
              </a:rPr>
              <a:t>OBJETIVO</a:t>
            </a:r>
            <a:endParaRPr/>
          </a:p>
          <a:p>
            <a:pPr marL="630000" lvl="1" indent="-320020" algn="l" rtl="0">
              <a:lnSpc>
                <a:spcPct val="100000"/>
              </a:lnSpc>
              <a:spcBef>
                <a:spcPts val="872"/>
              </a:spcBef>
              <a:spcAft>
                <a:spcPts val="0"/>
              </a:spcAft>
              <a:buSzPts val="1472"/>
              <a:buChar char="◼"/>
            </a:pPr>
            <a:r>
              <a:rPr lang="es-ES">
                <a:solidFill>
                  <a:schemeClr val="lt1"/>
                </a:solidFill>
              </a:rPr>
              <a:t>CREACIÓN DEL SERVIDOR SOAP EN JAVA</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CONSOLA</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ESCRITORIO</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WEB</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MÓVIL</a:t>
            </a:r>
            <a:endParaRPr/>
          </a:p>
          <a:p>
            <a:pPr marL="306000" marR="0" lvl="0" indent="-306000" algn="l" rtl="0">
              <a:lnSpc>
                <a:spcPct val="100000"/>
              </a:lnSpc>
              <a:spcBef>
                <a:spcPts val="906"/>
              </a:spcBef>
              <a:spcAft>
                <a:spcPts val="0"/>
              </a:spcAft>
              <a:buSzPts val="1656"/>
              <a:buChar char="◼"/>
            </a:pPr>
            <a:r>
              <a:rPr lang="es-ES">
                <a:solidFill>
                  <a:schemeClr val="lt1"/>
                </a:solidFill>
              </a:rPr>
              <a:t>CONCLUSIONES</a:t>
            </a:r>
            <a:endParaRPr/>
          </a:p>
          <a:p>
            <a:pPr marL="306000" marR="0" lvl="0" indent="-306000" algn="l" rtl="0">
              <a:lnSpc>
                <a:spcPct val="100000"/>
              </a:lnSpc>
              <a:spcBef>
                <a:spcPts val="906"/>
              </a:spcBef>
              <a:spcAft>
                <a:spcPts val="0"/>
              </a:spcAft>
              <a:buSzPts val="1656"/>
              <a:buChar char="◼"/>
            </a:pPr>
            <a:r>
              <a:rPr lang="es-ES">
                <a:solidFill>
                  <a:schemeClr val="lt1"/>
                </a:solidFill>
              </a:rPr>
              <a:t>RECOMENDACIONES</a:t>
            </a:r>
            <a:endParaRPr/>
          </a:p>
        </p:txBody>
      </p:sp>
      <p:pic>
        <p:nvPicPr>
          <p:cNvPr id="108" name="Google Shape;108;p14"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Char char="∙"/>
            </a:pPr>
            <a:r>
              <a:rPr lang="es-ES" b="1">
                <a:latin typeface="Cambria"/>
                <a:ea typeface="Cambria"/>
                <a:cs typeface="Cambria"/>
                <a:sym typeface="Cambria"/>
              </a:rPr>
              <a:t>1</a:t>
            </a:r>
            <a:r>
              <a:rPr lang="es-ES" sz="1800" b="1">
                <a:latin typeface="Cambria"/>
                <a:ea typeface="Cambria"/>
                <a:cs typeface="Cambria"/>
                <a:sym typeface="Cambria"/>
              </a:rPr>
              <a:t>.1	OBJETIVO</a:t>
            </a:r>
            <a:endParaRPr b="1"/>
          </a:p>
          <a:p>
            <a:pPr marL="342900" marR="0" lvl="0" indent="-237744"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a:p>
            <a:pPr marL="457200" lvl="0" indent="-333756" algn="just" rtl="0">
              <a:lnSpc>
                <a:spcPct val="107000"/>
              </a:lnSpc>
              <a:spcBef>
                <a:spcPts val="0"/>
              </a:spcBef>
              <a:spcAft>
                <a:spcPts val="0"/>
              </a:spcAft>
              <a:buSzPts val="1656"/>
              <a:buChar char="∙"/>
            </a:pPr>
            <a:r>
              <a:rPr lang="es-ES">
                <a:latin typeface="Cambria"/>
                <a:ea typeface="Cambria"/>
                <a:cs typeface="Cambria"/>
                <a:sym typeface="Cambria"/>
              </a:rPr>
              <a:t>Desarrollar e implementar un Web Service utilizando SOAP mediante JAVA para realizar conversiones de unidades.</a:t>
            </a:r>
            <a:endParaRPr>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OBJETIVO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200" y="2180500"/>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1.2.1 	Servidor Payara</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En primer lugar, en NetBeans 29, en la sección de Servicios se crea un servidor, específicamente Payara.</a:t>
            </a:r>
            <a:endParaRPr>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24" name="Google Shape;124;p16"/>
          <p:cNvPicPr preferRelativeResize="0"/>
          <p:nvPr/>
        </p:nvPicPr>
        <p:blipFill>
          <a:blip r:embed="rId3">
            <a:alphaModFix/>
          </a:blip>
          <a:stretch>
            <a:fillRect/>
          </a:stretch>
        </p:blipFill>
        <p:spPr>
          <a:xfrm>
            <a:off x="2594613" y="3539075"/>
            <a:ext cx="4562475" cy="3143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0" name="Google Shape;130;p17"/>
          <p:cNvSpPr txBox="1">
            <a:spLocks noGrp="1"/>
          </p:cNvSpPr>
          <p:nvPr>
            <p:ph type="body" idx="1"/>
          </p:nvPr>
        </p:nvSpPr>
        <p:spPr>
          <a:xfrm>
            <a:off x="581200" y="1781575"/>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Se selecciona la versión 7.2026.4, se aceptan los términos de condiciones y se selecciona un directorio donde instalar el servidor.</a:t>
            </a:r>
            <a:endParaRPr>
              <a:latin typeface="Cambria"/>
              <a:ea typeface="Cambria"/>
              <a:cs typeface="Cambria"/>
              <a:sym typeface="Cambria"/>
            </a:endParaRPr>
          </a:p>
        </p:txBody>
      </p:sp>
      <p:sp>
        <p:nvSpPr>
          <p:cNvPr id="131" name="Google Shape;131;p1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32" name="Google Shape;132;p17"/>
          <p:cNvPicPr preferRelativeResize="0"/>
          <p:nvPr/>
        </p:nvPicPr>
        <p:blipFill>
          <a:blip r:embed="rId3">
            <a:alphaModFix/>
          </a:blip>
          <a:stretch>
            <a:fillRect/>
          </a:stretch>
        </p:blipFill>
        <p:spPr>
          <a:xfrm>
            <a:off x="2542225" y="3200392"/>
            <a:ext cx="4667250" cy="3257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8" name="Google Shape;138;p18"/>
          <p:cNvSpPr txBox="1">
            <a:spLocks noGrp="1"/>
          </p:cNvSpPr>
          <p:nvPr>
            <p:ph type="body" idx="1"/>
          </p:nvPr>
        </p:nvSpPr>
        <p:spPr>
          <a:xfrm>
            <a:off x="581192" y="2180497"/>
            <a:ext cx="8589300" cy="1248600"/>
          </a:xfrm>
          <a:prstGeom prst="rect">
            <a:avLst/>
          </a:prstGeom>
          <a:noFill/>
          <a:ln>
            <a:noFill/>
          </a:ln>
        </p:spPr>
        <p:txBody>
          <a:bodyPr spcFirstLastPara="1" wrap="square" lIns="91425" tIns="45700" rIns="91425" bIns="45700" anchor="ctr" anchorCtr="0">
            <a:normAutofit/>
          </a:bodyPr>
          <a:lstStyle/>
          <a:p>
            <a:pPr marL="457200" lvl="0" indent="-333756" algn="just" rtl="0">
              <a:lnSpc>
                <a:spcPct val="107000"/>
              </a:lnSpc>
              <a:spcBef>
                <a:spcPts val="0"/>
              </a:spcBef>
              <a:spcAft>
                <a:spcPts val="0"/>
              </a:spcAft>
              <a:buSzPts val="1656"/>
              <a:buChar char="∙"/>
            </a:pPr>
            <a:r>
              <a:rPr lang="es-ES" sz="1300">
                <a:latin typeface="Cambria"/>
                <a:ea typeface="Cambria"/>
                <a:cs typeface="Cambria"/>
                <a:sym typeface="Cambria"/>
              </a:rPr>
              <a:t>Para terminar la configuración del servidor de payara se configura un nombre de dominio, un host (en nuestro caso, loopback) y se cambian los puertos si se desea.</a:t>
            </a:r>
            <a:endParaRPr sz="1300">
              <a:latin typeface="Cambria"/>
              <a:ea typeface="Cambria"/>
              <a:cs typeface="Cambria"/>
              <a:sym typeface="Cambria"/>
            </a:endParaRPr>
          </a:p>
        </p:txBody>
      </p:sp>
      <p:sp>
        <p:nvSpPr>
          <p:cNvPr id="139" name="Google Shape;139;p1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40" name="Google Shape;140;p18"/>
          <p:cNvPicPr preferRelativeResize="0"/>
          <p:nvPr/>
        </p:nvPicPr>
        <p:blipFill>
          <a:blip r:embed="rId3">
            <a:alphaModFix/>
          </a:blip>
          <a:stretch>
            <a:fillRect/>
          </a:stretch>
        </p:blipFill>
        <p:spPr>
          <a:xfrm>
            <a:off x="2623250" y="3171650"/>
            <a:ext cx="4505325" cy="3495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46" name="Google Shape;146;p19"/>
          <p:cNvSpPr txBox="1">
            <a:spLocks noGrp="1"/>
          </p:cNvSpPr>
          <p:nvPr>
            <p:ph type="body" idx="1"/>
          </p:nvPr>
        </p:nvSpPr>
        <p:spPr>
          <a:xfrm>
            <a:off x="581200" y="2180500"/>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1.2.2 	Creación del Proyecto</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Una vez creado el servidor, se crea un proyecto Java, Web Application </a:t>
            </a:r>
            <a:endParaRPr>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47" name="Google Shape;147;p1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48" name="Google Shape;148;p19"/>
          <p:cNvPicPr preferRelativeResize="0"/>
          <p:nvPr/>
        </p:nvPicPr>
        <p:blipFill>
          <a:blip r:embed="rId3">
            <a:alphaModFix/>
          </a:blip>
          <a:stretch>
            <a:fillRect/>
          </a:stretch>
        </p:blipFill>
        <p:spPr>
          <a:xfrm>
            <a:off x="2537463" y="3549050"/>
            <a:ext cx="4676775" cy="3200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54" name="Google Shape;154;p20"/>
          <p:cNvSpPr txBox="1">
            <a:spLocks noGrp="1"/>
          </p:cNvSpPr>
          <p:nvPr>
            <p:ph type="body" idx="1"/>
          </p:nvPr>
        </p:nvSpPr>
        <p:spPr>
          <a:xfrm>
            <a:off x="581192" y="1948172"/>
            <a:ext cx="8589300" cy="1248600"/>
          </a:xfrm>
          <a:prstGeom prst="rect">
            <a:avLst/>
          </a:prstGeom>
          <a:noFill/>
          <a:ln>
            <a:noFill/>
          </a:ln>
        </p:spPr>
        <p:txBody>
          <a:bodyPr spcFirstLastPara="1" wrap="square" lIns="91425" tIns="45700" rIns="91425" bIns="45700" anchor="ctr" anchorCtr="0">
            <a:normAutofit/>
          </a:bodyPr>
          <a:lstStyle/>
          <a:p>
            <a:pPr marL="457200" lvl="0" indent="-333756" algn="just" rtl="0">
              <a:lnSpc>
                <a:spcPct val="107000"/>
              </a:lnSpc>
              <a:spcBef>
                <a:spcPts val="0"/>
              </a:spcBef>
              <a:spcAft>
                <a:spcPts val="0"/>
              </a:spcAft>
              <a:buSzPts val="1656"/>
              <a:buChar char="∙"/>
            </a:pPr>
            <a:r>
              <a:rPr lang="es-ES" sz="1300">
                <a:latin typeface="Cambria"/>
                <a:ea typeface="Cambria"/>
                <a:cs typeface="Cambria"/>
                <a:sym typeface="Cambria"/>
              </a:rPr>
              <a:t>Se aplica el nombre del proyecto como ‘WS_CON_UNI_JAVA_SOAP’, y se configura el grupo como ‘</a:t>
            </a:r>
            <a:r>
              <a:rPr lang="es-ES" sz="1300" u="sng">
                <a:solidFill>
                  <a:schemeClr val="hlink"/>
                </a:solidFill>
                <a:latin typeface="Cambria"/>
                <a:ea typeface="Cambria"/>
                <a:cs typeface="Cambria"/>
                <a:sym typeface="Cambria"/>
                <a:hlinkClick r:id="rId3"/>
              </a:rPr>
              <a:t>ec.edu</a:t>
            </a:r>
            <a:r>
              <a:rPr lang="es-ES" sz="1300">
                <a:latin typeface="Cambria"/>
                <a:ea typeface="Cambria"/>
                <a:cs typeface="Cambria"/>
                <a:sym typeface="Cambria"/>
              </a:rPr>
              <a:t>.monster’</a:t>
            </a:r>
            <a:endParaRPr sz="1300">
              <a:latin typeface="Cambria"/>
              <a:ea typeface="Cambria"/>
              <a:cs typeface="Cambria"/>
              <a:sym typeface="Cambria"/>
            </a:endParaRPr>
          </a:p>
          <a:p>
            <a:pPr marL="457200" lvl="0" indent="-311150" algn="just" rtl="0">
              <a:lnSpc>
                <a:spcPct val="107000"/>
              </a:lnSpc>
              <a:spcBef>
                <a:spcPts val="0"/>
              </a:spcBef>
              <a:spcAft>
                <a:spcPts val="0"/>
              </a:spcAft>
              <a:buSzPts val="1300"/>
              <a:buFont typeface="Cambria"/>
              <a:buChar char="∙"/>
            </a:pPr>
            <a:r>
              <a:rPr lang="es-ES" sz="1300">
                <a:latin typeface="Cambria"/>
                <a:ea typeface="Cambria"/>
                <a:cs typeface="Cambria"/>
                <a:sym typeface="Cambria"/>
              </a:rPr>
              <a:t>Se selecciona nuestro Servidor Payara creado y Jakarta EE 11 como conjunto de desarrollo de aplicaciones Java.</a:t>
            </a:r>
            <a:endParaRPr sz="1300">
              <a:latin typeface="Cambria"/>
              <a:ea typeface="Cambria"/>
              <a:cs typeface="Cambria"/>
              <a:sym typeface="Cambria"/>
            </a:endParaRPr>
          </a:p>
        </p:txBody>
      </p:sp>
      <p:sp>
        <p:nvSpPr>
          <p:cNvPr id="155" name="Google Shape;155;p2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57" name="Google Shape;157;p20"/>
          <p:cNvPicPr preferRelativeResize="0"/>
          <p:nvPr/>
        </p:nvPicPr>
        <p:blipFill>
          <a:blip r:embed="rId4">
            <a:alphaModFix/>
          </a:blip>
          <a:stretch>
            <a:fillRect/>
          </a:stretch>
        </p:blipFill>
        <p:spPr>
          <a:xfrm>
            <a:off x="4686900" y="3251850"/>
            <a:ext cx="4600575" cy="3162300"/>
          </a:xfrm>
          <a:prstGeom prst="rect">
            <a:avLst/>
          </a:prstGeom>
          <a:noFill/>
          <a:ln>
            <a:noFill/>
          </a:ln>
        </p:spPr>
      </p:pic>
      <p:pic>
        <p:nvPicPr>
          <p:cNvPr id="158" name="Picture 157" descr="05_Paso5_Propiedades_General_WS_ConUni_Java_SOAP.png"/>
          <p:cNvPicPr>
            <a:picLocks noChangeAspect="1"/>
          </p:cNvPicPr>
          <p:nvPr/>
        </p:nvPicPr>
        <p:blipFill>
          <a:blip r:embed="rId5"/>
          <a:stretch>
            <a:fillRect/>
          </a:stretch>
        </p:blipFill>
        <p:spPr>
          <a:xfrm>
            <a:off x="581200" y="3429100"/>
            <a:ext cx="4105699" cy="28078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63" name="Google Shape;163;p21"/>
          <p:cNvSpPr txBox="1">
            <a:spLocks noGrp="1"/>
          </p:cNvSpPr>
          <p:nvPr>
            <p:ph type="body" idx="1"/>
          </p:nvPr>
        </p:nvSpPr>
        <p:spPr>
          <a:xfrm>
            <a:off x="581200" y="2180500"/>
            <a:ext cx="4557900" cy="38700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77"/>
              <a:buChar char="∙"/>
            </a:pPr>
            <a:r>
              <a:rPr lang="es-ES" sz="1677" b="1">
                <a:latin typeface="Cambria"/>
                <a:ea typeface="Cambria"/>
                <a:cs typeface="Cambria"/>
                <a:sym typeface="Cambria"/>
              </a:rPr>
              <a:t>ESTRUCTURA MVC</a:t>
            </a: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677" b="1">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Aplicando un patrón arquitectónico MVC junto a otras capas se configuran los paquetes principales.</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64" name="Google Shape;164;p2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65" name="Google Shape;165;p21"/>
          <p:cNvPicPr preferRelativeResize="0"/>
          <p:nvPr/>
        </p:nvPicPr>
        <p:blipFill>
          <a:blip r:embed="rId3">
            <a:alphaModFix/>
          </a:blip>
          <a:stretch>
            <a:fillRect/>
          </a:stretch>
        </p:blipFill>
        <p:spPr>
          <a:xfrm>
            <a:off x="5651675" y="2696275"/>
            <a:ext cx="3219450" cy="2838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71" name="Google Shape;171;p22"/>
          <p:cNvSpPr txBox="1">
            <a:spLocks noGrp="1"/>
          </p:cNvSpPr>
          <p:nvPr>
            <p:ph type="body" idx="1"/>
          </p:nvPr>
        </p:nvSpPr>
        <p:spPr>
          <a:xfrm>
            <a:off x="581200" y="2180500"/>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1.2.3 	Creación del WebService</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Dentro del paquete controladores.ws se crea un webservice.</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Cambria"/>
              <a:buChar char="∙"/>
            </a:pPr>
            <a:r>
              <a:rPr lang="es-ES">
                <a:latin typeface="Cambria"/>
                <a:ea typeface="Cambria"/>
                <a:cs typeface="Cambria"/>
                <a:sym typeface="Cambria"/>
              </a:rPr>
              <a:t>Se configura el web service con su nombre WSConversorUnidades.</a:t>
            </a:r>
            <a:endParaRPr>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72" name="Google Shape;172;p2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73" name="Google Shape;173;p22"/>
          <p:cNvPicPr preferRelativeResize="0"/>
          <p:nvPr/>
        </p:nvPicPr>
        <p:blipFill>
          <a:blip r:embed="rId3">
            <a:alphaModFix/>
          </a:blip>
          <a:stretch>
            <a:fillRect/>
          </a:stretch>
        </p:blipFill>
        <p:spPr>
          <a:xfrm>
            <a:off x="958600" y="3499338"/>
            <a:ext cx="3280200" cy="3261975"/>
          </a:xfrm>
          <a:prstGeom prst="rect">
            <a:avLst/>
          </a:prstGeom>
          <a:noFill/>
          <a:ln>
            <a:noFill/>
          </a:ln>
        </p:spPr>
      </p:pic>
      <p:pic>
        <p:nvPicPr>
          <p:cNvPr id="174" name="Google Shape;174;p22"/>
          <p:cNvPicPr preferRelativeResize="0"/>
          <p:nvPr/>
        </p:nvPicPr>
        <p:blipFill>
          <a:blip r:embed="rId4">
            <a:alphaModFix/>
          </a:blip>
          <a:stretch>
            <a:fillRect/>
          </a:stretch>
        </p:blipFill>
        <p:spPr>
          <a:xfrm>
            <a:off x="5103225" y="3844438"/>
            <a:ext cx="3810000" cy="2571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0" name="Google Shape;180;p23"/>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lnSpcReduction="20000"/>
          </a:bodyPr>
          <a:lstStyle/>
          <a:p>
            <a:pPr marL="457200" lvl="0" indent="-335090" algn="just" rtl="0">
              <a:lnSpc>
                <a:spcPct val="107000"/>
              </a:lnSpc>
              <a:spcBef>
                <a:spcPts val="0"/>
              </a:spcBef>
              <a:spcAft>
                <a:spcPts val="0"/>
              </a:spcAft>
              <a:buSzPts val="1677"/>
              <a:buFont typeface="Cambria"/>
              <a:buChar char="∙"/>
            </a:pPr>
            <a:r>
              <a:rPr lang="es-ES" sz="1677" b="1">
                <a:latin typeface="Cambria"/>
                <a:ea typeface="Cambria"/>
                <a:cs typeface="Cambria"/>
                <a:sym typeface="Cambria"/>
              </a:rPr>
              <a:t>Se codifica el webservice bajo los siguientes lineamientos</a:t>
            </a:r>
            <a:endParaRPr sz="1677" b="1">
              <a:latin typeface="Cambria"/>
              <a:ea typeface="Cambria"/>
              <a:cs typeface="Cambria"/>
              <a:sym typeface="Cambria"/>
            </a:endParaRPr>
          </a:p>
          <a:p>
            <a:pPr marL="457200" lvl="0" indent="0" algn="just" rtl="0">
              <a:lnSpc>
                <a:spcPct val="107000"/>
              </a:lnSpc>
              <a:spcBef>
                <a:spcPts val="0"/>
              </a:spcBef>
              <a:spcAft>
                <a:spcPts val="0"/>
              </a:spcAft>
              <a:buNone/>
            </a:pPr>
            <a:endParaRPr sz="1677" b="1">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1. Se dejan preparadas las siguientes importaciones que se encargarán de gestionar toda la lógica.</a:t>
            </a:r>
            <a:br>
              <a:rPr lang="es-ES" sz="1677" b="1">
                <a:latin typeface="Cambria"/>
                <a:ea typeface="Cambria"/>
                <a:cs typeface="Cambria"/>
                <a:sym typeface="Cambria"/>
              </a:rPr>
            </a:b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81" name="Google Shape;181;p2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182" name="Google Shape;182;p23"/>
          <p:cNvGraphicFramePr/>
          <p:nvPr/>
        </p:nvGraphicFramePr>
        <p:xfrm>
          <a:off x="3395925" y="2866125"/>
          <a:ext cx="5400050" cy="280924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package ec.edu.monster.controladores.ws;</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ec.edu.monster.modelos.utilidades.enums.UnidadTemperatura;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ec.edu.monster.modelos.utilidades.enums.UnidadMasa;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ec.edu.monster.modelos.utilidades.enums.UnidadLongitud;</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ec.edu.monster.modelos.utilidades.ConversorTemperatura;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ec.edu.monster.modelos.utilidades.ConversorMasa;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ec.edu.monster.modelos.utilidades.ConversorLongitud;</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ec.edu.monster.servicios.ServicioConversor;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ec.edu.monster.modelos.utilidades.mapeadores.UnidadMapper;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ec.edu.monster.seguridad.AdministradorCredenciales;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ec.edu.monster.seguridad.AdministradorTokens;</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jakarta.jws.WebService;</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jakarta.jws.WebMethod;</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jakarta.jws.WebParam;</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8" name="Google Shape;188;p24"/>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2. Se configura el endpoint de nuestro servicio web.</a:t>
            </a:r>
            <a:endParaRPr sz="1677">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3. Se crean los atributos respectivos.</a:t>
            </a:r>
            <a:br>
              <a:rPr lang="es-ES" sz="1677" b="1">
                <a:latin typeface="Cambria"/>
                <a:ea typeface="Cambria"/>
                <a:cs typeface="Cambria"/>
                <a:sym typeface="Cambria"/>
              </a:rPr>
            </a:b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89" name="Google Shape;189;p2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190" name="Google Shape;190;p24"/>
          <p:cNvGraphicFramePr/>
          <p:nvPr/>
        </p:nvGraphicFramePr>
        <p:xfrm>
          <a:off x="3701450" y="2180500"/>
          <a:ext cx="5400050" cy="46228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@WebService(serviceName = "WSConversorUnidades")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public class WSConversorUnidades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191" name="Google Shape;191;p24"/>
          <p:cNvGraphicFramePr/>
          <p:nvPr/>
        </p:nvGraphicFramePr>
        <p:xfrm>
          <a:off x="3701450" y="3375275"/>
          <a:ext cx="5400050" cy="146812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private final ServicioConversor&lt;UnidadLongitud&gt; servicioLongitud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new ServicioConversor&lt;&gt;(new ConversorLongitud());</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final ServicioConversor&lt;UnidadMasa&gt; servicioMasa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new ServicioConversor&lt;&gt;(new ConversorMasa());</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final ServicioConversor&lt;UnidadTemperatura&gt; servicioTemperatura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new ServicioConversor&lt;&gt;(new ConversorTemperatura());</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97" name="Google Shape;197;p25"/>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4. Se crean los métodos respectivos, incluyendo el de autenticación y el de cambiar contraseña.</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98" name="Google Shape;198;p2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199" name="Google Shape;199;p25"/>
          <p:cNvGraphicFramePr/>
          <p:nvPr/>
        </p:nvGraphicFramePr>
        <p:xfrm>
          <a:off x="3917100" y="1928900"/>
          <a:ext cx="4894525" cy="469900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4533675">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@WebMethod(operationName = "login")</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login(</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"usuario") String usuario,</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"contrasenia") String contrasenia)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(AdministradorCredenciales.validarCredenciales(usuario, contrasenia))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AdministradorTokens.generarToken();</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RuntimeException("Credenciales incorrectas");</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@WebMethod(operationName = "cambiarContrasenia")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cambiarContrasenia(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"contraseniaActual") String contraseniaActual,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"contraseniaNueva") String contraseniaNueva)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AdministradorCredenciales.cambiarContrasenia(contraseniaActual, contraseniaNueva);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"Contrasenia actualizada correctamente";</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@WebMethod(operationName = "convertirLongitud")</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convertirLongitud(</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 origen = UnidadMapper.toLongitud(unidadInicial);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 destino = UnidadMapper.toLongitud(unidadFinal);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servicioLongitud.convertir(valor, origen, destino);</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4" name="Google Shape;204;p26"/>
          <p:cNvGraphicFramePr/>
          <p:nvPr/>
        </p:nvGraphicFramePr>
        <p:xfrm>
          <a:off x="3881150" y="2291900"/>
          <a:ext cx="4894525" cy="374290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3742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@WebMethod(operationName = "convertirMasa")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convertirMasa(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 origen = UnidadMapper.toMasa(unidadInicial);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 destino = UnidadMapper.toMasa(unidadFinal);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servicioMasa.convertir(valor, origen, destino);</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@WebMethod(operationName = "convertirTemperatura")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convertirTemperatura(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UnidadTemperatura origen = UnidadMapper.toTemperatura(unidadInicial);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UnidadTemperatura destino = UnidadMapper.toTemperatura(unidadFinal);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servicioTemperatura.convertir(valor, origen, destino);</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4. Se crean los métodos respectivos, incluyendo el de autenticación y el de cambiar contraseña.</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13" name="Google Shape;213;p27"/>
          <p:cNvSpPr txBox="1">
            <a:spLocks noGrp="1"/>
          </p:cNvSpPr>
          <p:nvPr>
            <p:ph type="body" idx="1"/>
          </p:nvPr>
        </p:nvSpPr>
        <p:spPr>
          <a:xfrm>
            <a:off x="581200" y="2018775"/>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1.2.4 	Autenticación</a:t>
            </a:r>
            <a:endParaRPr>
              <a:latin typeface="Cambria"/>
              <a:ea typeface="Cambria"/>
              <a:cs typeface="Cambria"/>
              <a:sym typeface="Cambria"/>
            </a:endParaRPr>
          </a:p>
          <a:p>
            <a:pPr marL="342900" marR="0" lvl="0" indent="-323850" algn="just" rtl="0">
              <a:lnSpc>
                <a:spcPct val="107000"/>
              </a:lnSpc>
              <a:spcBef>
                <a:spcPts val="0"/>
              </a:spcBef>
              <a:spcAft>
                <a:spcPts val="0"/>
              </a:spcAft>
              <a:buSzPts val="1356"/>
              <a:buFont typeface="Cambria"/>
              <a:buChar char="∙"/>
            </a:pPr>
            <a:r>
              <a:rPr lang="es-ES" sz="1500">
                <a:latin typeface="Cambria"/>
                <a:ea typeface="Cambria"/>
                <a:cs typeface="Cambria"/>
                <a:sym typeface="Cambria"/>
              </a:rPr>
              <a:t>Una clase importante a mencionar es el ManejadorAutenticacion.java, que sirve como un middleware en servicios SOAP con el fin de autenticar debidamente antes de permitir el paso a los métodos del WebService. Esta clase se crea en Web Services &gt; Message Handler.</a:t>
            </a:r>
            <a:endParaRPr sz="150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14" name="Google Shape;214;p2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215" name="Google Shape;215;p27"/>
          <p:cNvPicPr preferRelativeResize="0"/>
          <p:nvPr/>
        </p:nvPicPr>
        <p:blipFill>
          <a:blip r:embed="rId3">
            <a:alphaModFix/>
          </a:blip>
          <a:stretch>
            <a:fillRect/>
          </a:stretch>
        </p:blipFill>
        <p:spPr>
          <a:xfrm>
            <a:off x="2589850" y="3549050"/>
            <a:ext cx="4572000" cy="3124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21" name="Google Shape;221;p28"/>
          <p:cNvSpPr txBox="1">
            <a:spLocks noGrp="1"/>
          </p:cNvSpPr>
          <p:nvPr>
            <p:ph type="body" idx="1"/>
          </p:nvPr>
        </p:nvSpPr>
        <p:spPr>
          <a:xfrm>
            <a:off x="581192" y="1876272"/>
            <a:ext cx="8589300" cy="12486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 (Usuario: Monster, Contraseña: Monster9)</a:t>
            </a:r>
            <a:endParaRPr sz="1200">
              <a:latin typeface="Cambria"/>
              <a:ea typeface="Cambria"/>
              <a:cs typeface="Cambria"/>
              <a:sym typeface="Cambria"/>
            </a:endParaRPr>
          </a:p>
          <a:p>
            <a:pPr marL="457200" lvl="0" indent="-304800" algn="just" rtl="0">
              <a:lnSpc>
                <a:spcPct val="107000"/>
              </a:lnSpc>
              <a:spcBef>
                <a:spcPts val="0"/>
              </a:spcBef>
              <a:spcAft>
                <a:spcPts val="0"/>
              </a:spcAft>
              <a:buSzPts val="1200"/>
              <a:buFont typeface="Cambria"/>
              <a:buChar char="∙"/>
            </a:pPr>
            <a:r>
              <a:rPr lang="es-ES" sz="1200">
                <a:latin typeface="Cambria"/>
                <a:ea typeface="Cambria"/>
                <a:cs typeface="Cambria"/>
                <a:sym typeface="Cambria"/>
              </a:rPr>
              <a:t>es fundamental mencionar que se debe crear un xml dentro de los recursos que mapee a la clase para que el proyecto pueda poner en ejecución el handler.</a:t>
            </a:r>
            <a:endParaRPr sz="1300">
              <a:latin typeface="Cambria"/>
              <a:ea typeface="Cambria"/>
              <a:cs typeface="Cambria"/>
              <a:sym typeface="Cambria"/>
            </a:endParaRPr>
          </a:p>
        </p:txBody>
      </p:sp>
      <p:sp>
        <p:nvSpPr>
          <p:cNvPr id="222" name="Google Shape;222;p2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223" name="Google Shape;223;p28"/>
          <p:cNvPicPr preferRelativeResize="0"/>
          <p:nvPr/>
        </p:nvPicPr>
        <p:blipFill>
          <a:blip r:embed="rId3">
            <a:alphaModFix/>
          </a:blip>
          <a:stretch>
            <a:fillRect/>
          </a:stretch>
        </p:blipFill>
        <p:spPr>
          <a:xfrm>
            <a:off x="653100" y="3013525"/>
            <a:ext cx="5734050" cy="1381125"/>
          </a:xfrm>
          <a:prstGeom prst="rect">
            <a:avLst/>
          </a:prstGeom>
          <a:noFill/>
          <a:ln>
            <a:noFill/>
          </a:ln>
        </p:spPr>
      </p:pic>
      <p:graphicFrame>
        <p:nvGraphicFramePr>
          <p:cNvPr id="224" name="Google Shape;224;p28"/>
          <p:cNvGraphicFramePr/>
          <p:nvPr/>
        </p:nvGraphicFramePr>
        <p:xfrm>
          <a:off x="4024925" y="4574350"/>
          <a:ext cx="3000000" cy="300000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22153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package ec.edu.monster.controladores.manejadoresws;</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ec.edu.monster.seguridad.AdministradorTokens;</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jakarta.xml.ws.handler.soap.SOAPHandler;</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jakarta.xml.ws.handler.soap.SOAPMessageContext;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jakarta.xml.ws.handler.MessageContext;</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javax.xml.namespace.QName;</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org.w3c.dom.NodeList;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java.util.Set;</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public class ManejadorAutenticacion implements SOAPHandler&lt;SOAPMessageContext&gt;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3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32" name="Google Shape;232;p29"/>
          <p:cNvGraphicFramePr/>
          <p:nvPr/>
        </p:nvGraphicFramePr>
        <p:xfrm>
          <a:off x="2964625" y="1876275"/>
          <a:ext cx="6062675" cy="506476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@Override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public boolean handleMessage(SOAPMessageContext contexto)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Boolean esSalida = (Boolean) contexto.get(MessageContext.MESSAGE_OUTBOUND_PROPERTY);</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(!esSalida)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try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QName operacion = (QName) contexto.get(MessageContext.WSDL_OPERATION);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(operacion != null &amp;&amp; "login".equals(operacion.getLocalPart()))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return true;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var mensajeSOAP = contexto.getMessage();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var encabezado = mensajeSOAP.getSOAPHeader();</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(encabezado == null)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throw new RuntimeException("Acceso denegado: Se requiere encabezado SOAP con el token de seguridad.");</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NodeList nodosToken = encabezado.getElementsByTagNameNS("*", "token");</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(nodosToken.getLength() == 0)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throw new RuntimeException("Acceso denegado: No se encontró el token. Inicie sesión primero.");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String token = nodosToken.item(0).getTextContent();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(!AdministradorTokens.validarToken(token))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throw new RuntimeException("Acceso denegado: Token inválido o expirado.");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 catch (Exception e)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throw new RuntimeException(e.getMessage());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return true;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8" name="Google Shape;238;p30"/>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300">
              <a:latin typeface="Cambria"/>
              <a:ea typeface="Cambria"/>
              <a:cs typeface="Cambria"/>
              <a:sym typeface="Cambria"/>
            </a:endParaRPr>
          </a:p>
        </p:txBody>
      </p:sp>
      <p:sp>
        <p:nvSpPr>
          <p:cNvPr id="239" name="Google Shape;239;p3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40" name="Google Shape;240;p30"/>
          <p:cNvGraphicFramePr/>
          <p:nvPr/>
        </p:nvGraphicFramePr>
        <p:xfrm>
          <a:off x="3064663" y="2920413"/>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951625">
                <a:tc>
                  <a:txBody>
                    <a:bodyPr/>
                    <a:lstStyle/>
                    <a:p>
                      <a:pPr marL="0" lvl="0" indent="0" algn="l" rtl="0">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Set&lt;QName&gt; getHeaders()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return null;</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boolean handleFault(SOAPMessageContext contexto)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return true;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void close(MessageContext contexto)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46" name="Google Shape;246;p31"/>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lnSpcReduction="20000"/>
          </a:bodyPr>
          <a:lstStyle/>
          <a:p>
            <a:pPr marL="342900" lvl="0" indent="-342900" algn="just" rtl="0">
              <a:lnSpc>
                <a:spcPct val="107000"/>
              </a:lnSpc>
              <a:spcBef>
                <a:spcPts val="0"/>
              </a:spcBef>
              <a:spcAft>
                <a:spcPts val="0"/>
              </a:spcAft>
              <a:buSzPts val="1785"/>
              <a:buChar char="∙"/>
            </a:pPr>
            <a:r>
              <a:rPr lang="es-ES" sz="1929" b="1">
                <a:latin typeface="Cambria"/>
                <a:ea typeface="Cambria"/>
                <a:cs typeface="Cambria"/>
                <a:sym typeface="Cambria"/>
              </a:rPr>
              <a:t>1.2.5	Lógica</a:t>
            </a:r>
            <a:endParaRPr>
              <a:latin typeface="Cambria"/>
              <a:ea typeface="Cambria"/>
              <a:cs typeface="Cambria"/>
              <a:sym typeface="Cambria"/>
            </a:endParaRPr>
          </a:p>
          <a:p>
            <a:pPr marL="0" lvl="0" indent="0" algn="just" rtl="0">
              <a:lnSpc>
                <a:spcPct val="107000"/>
              </a:lnSpc>
              <a:spcBef>
                <a:spcPts val="0"/>
              </a:spcBef>
              <a:spcAft>
                <a:spcPts val="0"/>
              </a:spcAft>
              <a:buNone/>
            </a:pPr>
            <a:endParaRPr sz="1200">
              <a:latin typeface="Cambria"/>
              <a:ea typeface="Cambria"/>
              <a:cs typeface="Cambria"/>
              <a:sym typeface="Cambria"/>
            </a:endParaRPr>
          </a:p>
          <a:p>
            <a:pPr marL="0" lvl="0" indent="0" algn="just" rtl="0">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47" name="Google Shape;247;p3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48" name="Google Shape;248;p31"/>
          <p:cNvGraphicFramePr/>
          <p:nvPr/>
        </p:nvGraphicFramePr>
        <p:xfrm>
          <a:off x="3017313" y="3676500"/>
          <a:ext cx="6062675" cy="140716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a:solidFill>
                            <a:srgbClr val="4F81BD"/>
                          </a:solidFill>
                          <a:latin typeface="Calibri"/>
                          <a:ea typeface="Calibri"/>
                          <a:cs typeface="Calibri"/>
                          <a:sym typeface="Calibri"/>
                        </a:rPr>
                        <a:t>package ec.edu.monster.modelos.utilidades;</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public interface IConversor&lt;T&gt;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double convertir(double valor, T unidadInicial, T unidadFinal);</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54" name="Google Shape;254;p32"/>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lnSpcReduction="10000"/>
          </a:bodyPr>
          <a:lstStyle/>
          <a:p>
            <a:pPr marL="0" lvl="0" indent="0" algn="just" rtl="0">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55" name="Google Shape;255;p3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56" name="Google Shape;256;p32"/>
          <p:cNvGraphicFramePr/>
          <p:nvPr/>
        </p:nvGraphicFramePr>
        <p:xfrm>
          <a:off x="3017313" y="1838175"/>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package ec.edu.monster.modelos.utilidades;</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ec.edu.monster.modelos.utilidades.enums.UnidadLongitud;</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java.util.Map;</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public class ConversorLongitud implements IConversor&lt;UnidadLongitud&gt;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private final Map&lt;UnidadLongitud, Double&gt; factores = Map.of(</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UnidadLongitud.MILIMETRO, 0.001,</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UnidadLongitud.CENTIMETRO, 0.01,</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UnidadLongitud.METRO, 1.0,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UnidadLongitud.KILOMETRO, 1000.0,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UnidadLongitud.YARDA, 0.9144</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ConversorLongitud()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@Override</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convertir(double valor, UnidadLongitud unidadOrigen, UnidadLongitud 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(unidadOrigen == null || unidadFinal == null)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IllegalArgumentException("Las unidades no pueden ser null");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IllegalArgumentException("Unidad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double valorEnBase = valor * factores.get(unidadOrigen);</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valorEnBase / factores.get(unidadFinal);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62" name="Google Shape;262;p33"/>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lnSpcReduction="10000"/>
          </a:bodyPr>
          <a:lstStyle/>
          <a:p>
            <a:pPr marL="0" lvl="0" indent="0" algn="just" rtl="0">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63" name="Google Shape;263;p3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64" name="Google Shape;264;p33"/>
          <p:cNvGraphicFramePr/>
          <p:nvPr/>
        </p:nvGraphicFramePr>
        <p:xfrm>
          <a:off x="3017313" y="1838175"/>
          <a:ext cx="6062675" cy="50038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package ec.edu.monster.modelos.utilidades;</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ec.edu.monster.modelos.utilidades.enums.UnidadMasa;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java.util.Map;</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public class ConversorMasa implements IConversor&lt;UnidadMasa&gt;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private final Map&lt;UnidadMasa, Double&gt; factores = Map.of(</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UnidadMasa.MILIGRAMO, 0.001,</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UnidadMasa.GRAMO, 1.0,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UnidadMasa.KILOGRAMO, 1000.0,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UnidadMasa.TONELADA, 1_000_000.0,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UnidadMasa.ONZA, 28.3495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ConversorMasa()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@Override</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convertir(double valor, UnidadMasa unidadOrigen, UnidadMasa 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(unidadOrigen == null || unidadFinal == null)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IllegalArgumentException("Las unidades no pueden ser null");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IllegalArgumentException("Unidad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double valorEnBase = valor * factores.get(unidadOrigen);</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valorEnBase / factores.get(unidadFinal);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0" name="Google Shape;270;p34"/>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lnSpcReduction="10000"/>
          </a:bodyPr>
          <a:lstStyle/>
          <a:p>
            <a:pPr marL="0" lvl="0" indent="0" algn="just" rtl="0">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71" name="Google Shape;271;p3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72" name="Google Shape;272;p34"/>
          <p:cNvGraphicFramePr/>
          <p:nvPr/>
        </p:nvGraphicFramePr>
        <p:xfrm>
          <a:off x="2891513" y="2209650"/>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a:solidFill>
                            <a:srgbClr val="4F81BD"/>
                          </a:solidFill>
                          <a:latin typeface="Calibri"/>
                          <a:ea typeface="Calibri"/>
                          <a:cs typeface="Calibri"/>
                          <a:sym typeface="Calibri"/>
                        </a:rPr>
                        <a:t>package ec.edu.monster.modelos.utilidades;</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ec.edu.monster.modelos.utilidades.enums.UnidadTemperatura;</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ec.edu.monster.modelos.utilidades.enums.UnidadTemperatura.CELSIUS;</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ec.edu.monster.modelos.utilidades.enums.UnidadTemperatura.FAHRENHEIT;</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ec.edu.monster.modelos.utilidades.enums.UnidadTemperatura.KELVIN;</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ec.edu.monster.modelos.utilidades.enums.UnidadTemperatura.RANKINE;</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public class ConversorTemperatura implements IConversor&lt;UnidadTemperatura&gt;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ConversorTemperatura()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double convertir(double valor, UnidadTemperatura origen, UnidadTemperatura destino)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if (origen == null || destino == null)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throw new IllegalArgumentException("Las unidades no pueden ser null");</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if (origen == destino)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return valor;</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8" name="Google Shape;278;p35"/>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lnSpcReduction="10000"/>
          </a:bodyPr>
          <a:lstStyle/>
          <a:p>
            <a:pPr marL="0" lvl="0" indent="0" algn="just" rtl="0">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79" name="Google Shape;279;p3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80" name="Google Shape;280;p35"/>
          <p:cNvGraphicFramePr/>
          <p:nvPr/>
        </p:nvGraphicFramePr>
        <p:xfrm>
          <a:off x="2891513" y="1838175"/>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return switch (origen)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CELSIUS -&gt; switch (destino)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FAHRENHEIT -&gt; (valor * 9 / 5) + 32;</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KELVIN -&gt; valor + 273.15;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RANKINE -&gt; (valor + 273.15) * 9 / 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FAHRENHEIT -&gt; switch (destino)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CELSIUS -&gt; (valor - 32) * 5 / 9;</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KELVIN -&gt; (valor - 32) * 5 / 9 + 273.15;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RANKINE -&gt; valor + 459.67;</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KELVIN -&gt; switch (destino)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CELSIUS -&gt; valor - 273.15;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FAHRENHEIT -&gt; (valor - 273.15) * 9 / 5 + 32;</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RANKINE -&gt; valor * 9 / 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RANKINE -&gt; switch (destino)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CELSIUS -&gt; (valor - 491.67) * 5 / 9;</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FAHRENHEIT -&gt; valor - 459.67;</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KELVIN -&gt; valor * 5 / 9;</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8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86" name="Google Shape;286;p36"/>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200">
                <a:latin typeface="Cambria"/>
                <a:ea typeface="Cambria"/>
                <a:cs typeface="Cambria"/>
                <a:sym typeface="Cambria"/>
              </a:rPr>
              <a:t>Aplicando una interfaz con el fin de hacer que el servicio pueda inyectar cualquier tipo de conversión sin limitarse a uno en concreto como se puede ver en la Tabla del Servicio</a:t>
            </a:r>
            <a:endParaRPr sz="1300">
              <a:latin typeface="Cambria"/>
              <a:ea typeface="Cambria"/>
              <a:cs typeface="Cambria"/>
              <a:sym typeface="Cambria"/>
            </a:endParaRPr>
          </a:p>
        </p:txBody>
      </p:sp>
      <p:sp>
        <p:nvSpPr>
          <p:cNvPr id="287" name="Google Shape;287;p3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88" name="Google Shape;288;p36"/>
          <p:cNvGraphicFramePr/>
          <p:nvPr/>
        </p:nvGraphicFramePr>
        <p:xfrm>
          <a:off x="2891513" y="2557313"/>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a:solidFill>
                            <a:srgbClr val="4F81BD"/>
                          </a:solidFill>
                          <a:latin typeface="Calibri"/>
                          <a:ea typeface="Calibri"/>
                          <a:cs typeface="Calibri"/>
                          <a:sym typeface="Calibri"/>
                        </a:rPr>
                        <a:t>package ec.edu.monster.servicios;</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ec.edu.monster.modelos.utilidades.IConversor;</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public class ServicioConversor&lt;T&gt;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private final IConversor&lt;T&gt; conversor;</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ServicioConversor(IConversor&lt;T&gt; conversor)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this.conversor = conversor;</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double convertir(double valor, T origen, T destino)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if (conversor == null)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throw new IllegalStateException("No se ha inyectado un conversor");</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return conversor.convertir(valor, origen, destino);</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94" name="Google Shape;294;p37"/>
          <p:cNvSpPr txBox="1">
            <a:spLocks noGrp="1"/>
          </p:cNvSpPr>
          <p:nvPr>
            <p:ph type="body" idx="1"/>
          </p:nvPr>
        </p:nvSpPr>
        <p:spPr>
          <a:xfrm>
            <a:off x="581200" y="2018775"/>
            <a:ext cx="2685600" cy="45588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1.2.6 	Ejecución en Servidor</a:t>
            </a:r>
            <a:endParaRPr>
              <a:latin typeface="Cambria"/>
              <a:ea typeface="Cambria"/>
              <a:cs typeface="Cambria"/>
              <a:sym typeface="Cambria"/>
            </a:endParaRPr>
          </a:p>
          <a:p>
            <a:pPr marL="342900" marR="0" lvl="0" indent="-323850" algn="just" rtl="0">
              <a:lnSpc>
                <a:spcPct val="107000"/>
              </a:lnSpc>
              <a:spcBef>
                <a:spcPts val="0"/>
              </a:spcBef>
              <a:spcAft>
                <a:spcPts val="0"/>
              </a:spcAft>
              <a:buSzPts val="1356"/>
              <a:buFont typeface="Cambria"/>
              <a:buChar char="∙"/>
            </a:pPr>
            <a:r>
              <a:rPr lang="es-ES" sz="1500">
                <a:latin typeface="Cambria"/>
                <a:ea typeface="Cambria"/>
                <a:cs typeface="Cambria"/>
                <a:sym typeface="Cambria"/>
              </a:rPr>
              <a:t>Se ejecuta el programa corriendo en nuestro servidor payara y se comprueba que el contrato WSDL esté correcto en la ruta (Dejamos anteriormente que Payara corra por defecto en 8080): http://localhost:8080/WS_ConUni_Java_SOAP/WSConversorUnidades?wsdl</a:t>
            </a:r>
            <a:endParaRPr sz="150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95" name="Google Shape;295;p3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296" name="Google Shape;296;p37"/>
          <p:cNvPicPr preferRelativeResize="0"/>
          <p:nvPr/>
        </p:nvPicPr>
        <p:blipFill>
          <a:blip r:embed="rId3">
            <a:alphaModFix/>
          </a:blip>
          <a:stretch>
            <a:fillRect/>
          </a:stretch>
        </p:blipFill>
        <p:spPr>
          <a:xfrm>
            <a:off x="3728750" y="1878563"/>
            <a:ext cx="5192894" cy="4839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3200" marR="0" lvl="1" indent="-312096" algn="l" rtl="0">
              <a:lnSpc>
                <a:spcPct val="100000"/>
              </a:lnSpc>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3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03" name="Google Shape;303;p38"/>
          <p:cNvSpPr txBox="1">
            <a:spLocks noGrp="1"/>
          </p:cNvSpPr>
          <p:nvPr>
            <p:ph type="body" idx="1"/>
          </p:nvPr>
        </p:nvSpPr>
        <p:spPr>
          <a:xfrm>
            <a:off x="581200" y="1983000"/>
            <a:ext cx="8581500" cy="2149500"/>
          </a:xfrm>
          <a:prstGeom prst="rect">
            <a:avLst/>
          </a:prstGeom>
          <a:noFill/>
          <a:ln>
            <a:noFill/>
          </a:ln>
        </p:spPr>
        <p:txBody>
          <a:bodyPr spcFirstLastPara="1" wrap="square" lIns="91425" tIns="45700" rIns="91425" bIns="45700" anchor="ctr" anchorCtr="0">
            <a:normAutofit fontScale="92500" lnSpcReduction="10000"/>
          </a:bodyPr>
          <a:lstStyle/>
          <a:p>
            <a:pPr marL="0" lvl="0" indent="0" algn="l" rtl="0">
              <a:lnSpc>
                <a:spcPct val="115000"/>
              </a:lnSpc>
              <a:spcBef>
                <a:spcPts val="1200"/>
              </a:spcBef>
              <a:spcAft>
                <a:spcPts val="0"/>
              </a:spcAft>
              <a:buClr>
                <a:schemeClr val="dk1"/>
              </a:buClr>
              <a:buSzPct val="70332"/>
              <a:buFont typeface="Arial"/>
              <a:buNone/>
            </a:pPr>
            <a:r>
              <a:rPr lang="es-ES" sz="1564" b="1">
                <a:latin typeface="Cambria"/>
                <a:ea typeface="Cambria"/>
                <a:cs typeface="Cambria"/>
                <a:sym typeface="Cambria"/>
              </a:rPr>
              <a:t>1.3 	CREACIÓN DEL PROYECTO CLIENTE CONSOLA</a:t>
            </a:r>
            <a:endParaRPr sz="1564" b="1">
              <a:latin typeface="Cambria"/>
              <a:ea typeface="Cambria"/>
              <a:cs typeface="Cambria"/>
              <a:sym typeface="Cambria"/>
            </a:endParaRPr>
          </a:p>
          <a:p>
            <a:pPr marL="0" lvl="0" indent="0" algn="l" rtl="0">
              <a:lnSpc>
                <a:spcPct val="115000"/>
              </a:lnSpc>
              <a:spcBef>
                <a:spcPts val="1200"/>
              </a:spcBef>
              <a:spcAft>
                <a:spcPts val="0"/>
              </a:spcAft>
              <a:buClr>
                <a:schemeClr val="dk1"/>
              </a:buClr>
              <a:buSzPct val="70332"/>
              <a:buFont typeface="Arial"/>
              <a:buNone/>
            </a:pPr>
            <a:endParaRPr sz="1564" b="1">
              <a:latin typeface="Cambria"/>
              <a:ea typeface="Cambria"/>
              <a:cs typeface="Cambria"/>
              <a:sym typeface="Cambria"/>
            </a:endParaRPr>
          </a:p>
          <a:p>
            <a:pPr marL="457200" lvl="0" indent="-320524" algn="l" rtl="0">
              <a:lnSpc>
                <a:spcPct val="115000"/>
              </a:lnSpc>
              <a:spcBef>
                <a:spcPts val="0"/>
              </a:spcBef>
              <a:spcAft>
                <a:spcPts val="0"/>
              </a:spcAft>
              <a:buSzPct val="100064"/>
              <a:buFont typeface="Cambria"/>
              <a:buChar char="◼"/>
            </a:pPr>
            <a:r>
              <a:rPr lang="es-ES" sz="1564">
                <a:latin typeface="Cambria"/>
                <a:ea typeface="Cambria"/>
                <a:cs typeface="Cambria"/>
                <a:sym typeface="Cambria"/>
              </a:rPr>
              <a:t>Para el cliente consola se uso NetBeans en el cual se debe crear un nuevo proyecto para ello se seleccionó el gestor de proyectos Java with Maven, el tipo de aplicativo que se usa es Java Application.</a:t>
            </a:r>
            <a:endParaRPr sz="1564">
              <a:latin typeface="Cambria"/>
              <a:ea typeface="Cambria"/>
              <a:cs typeface="Cambria"/>
              <a:sym typeface="Cambria"/>
            </a:endParaRPr>
          </a:p>
          <a:p>
            <a:pPr marL="457200" lvl="0" indent="-320465" algn="l" rtl="0">
              <a:lnSpc>
                <a:spcPct val="115000"/>
              </a:lnSpc>
              <a:spcBef>
                <a:spcPts val="0"/>
              </a:spcBef>
              <a:spcAft>
                <a:spcPts val="0"/>
              </a:spcAft>
              <a:buSzPct val="100000"/>
              <a:buFont typeface="Cambria"/>
              <a:buChar char="◼"/>
            </a:pPr>
            <a:r>
              <a:rPr lang="es-ES" sz="1564">
                <a:latin typeface="Cambria"/>
                <a:ea typeface="Cambria"/>
                <a:cs typeface="Cambria"/>
                <a:sym typeface="Cambria"/>
              </a:rPr>
              <a:t>Se asigna un nombre al proyecto, se da una ubicacion, y se configura el group id con el que se quiere nombrar.</a:t>
            </a:r>
            <a:endParaRPr sz="1564">
              <a:latin typeface="Cambria"/>
              <a:ea typeface="Cambria"/>
              <a:cs typeface="Cambria"/>
              <a:sym typeface="Cambria"/>
            </a:endParaRPr>
          </a:p>
          <a:p>
            <a:pPr marL="0" lvl="0" indent="0" algn="l" rtl="0">
              <a:lnSpc>
                <a:spcPct val="115000"/>
              </a:lnSpc>
              <a:spcBef>
                <a:spcPts val="1200"/>
              </a:spcBef>
              <a:spcAft>
                <a:spcPts val="1200"/>
              </a:spcAft>
              <a:buSzPct val="99162"/>
              <a:buNone/>
            </a:pPr>
            <a:endParaRPr sz="1670">
              <a:latin typeface="Cambria"/>
              <a:ea typeface="Cambria"/>
              <a:cs typeface="Cambria"/>
              <a:sym typeface="Cambria"/>
            </a:endParaRPr>
          </a:p>
        </p:txBody>
      </p:sp>
      <p:pic>
        <p:nvPicPr>
          <p:cNvPr id="304" name="Google Shape;304;p38"/>
          <p:cNvPicPr preferRelativeResize="0"/>
          <p:nvPr/>
        </p:nvPicPr>
        <p:blipFill>
          <a:blip r:embed="rId3">
            <a:alphaModFix/>
          </a:blip>
          <a:stretch>
            <a:fillRect/>
          </a:stretch>
        </p:blipFill>
        <p:spPr>
          <a:xfrm>
            <a:off x="581200" y="3907425"/>
            <a:ext cx="3704150" cy="2528925"/>
          </a:xfrm>
          <a:prstGeom prst="rect">
            <a:avLst/>
          </a:prstGeom>
          <a:noFill/>
          <a:ln>
            <a:noFill/>
          </a:ln>
        </p:spPr>
      </p:pic>
      <p:pic>
        <p:nvPicPr>
          <p:cNvPr id="305" name="Google Shape;305;p38"/>
          <p:cNvPicPr preferRelativeResize="0"/>
          <p:nvPr/>
        </p:nvPicPr>
        <p:blipFill>
          <a:blip r:embed="rId4">
            <a:alphaModFix/>
          </a:blip>
          <a:stretch>
            <a:fillRect/>
          </a:stretch>
        </p:blipFill>
        <p:spPr>
          <a:xfrm>
            <a:off x="4900125" y="3765892"/>
            <a:ext cx="3704150" cy="259360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3200" marR="0" lvl="1" indent="-312096" algn="l" rtl="0">
              <a:lnSpc>
                <a:spcPct val="100000"/>
              </a:lnSpc>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3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2" name="Google Shape;312;p39"/>
          <p:cNvSpPr txBox="1">
            <a:spLocks noGrp="1"/>
          </p:cNvSpPr>
          <p:nvPr>
            <p:ph type="body" idx="1"/>
          </p:nvPr>
        </p:nvSpPr>
        <p:spPr>
          <a:xfrm>
            <a:off x="581200" y="1983000"/>
            <a:ext cx="8581500" cy="21495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1200"/>
              </a:spcBef>
              <a:spcAft>
                <a:spcPts val="0"/>
              </a:spcAft>
              <a:buClr>
                <a:schemeClr val="dk1"/>
              </a:buClr>
              <a:buSzPts val="1100"/>
              <a:buFont typeface="Arial"/>
              <a:buNone/>
            </a:pPr>
            <a:r>
              <a:rPr lang="es-ES" sz="1564" b="1">
                <a:latin typeface="Cambria"/>
                <a:ea typeface="Cambria"/>
                <a:cs typeface="Cambria"/>
                <a:sym typeface="Cambria"/>
              </a:rPr>
              <a:t>1.3 	CREACIÓN DEL PROYECTO CLIENTE CONSOLA</a:t>
            </a:r>
            <a:endParaRPr sz="1564" b="1">
              <a:latin typeface="Cambria"/>
              <a:ea typeface="Cambria"/>
              <a:cs typeface="Cambria"/>
              <a:sym typeface="Cambria"/>
            </a:endParaRPr>
          </a:p>
          <a:p>
            <a:pPr marL="0" lvl="0" indent="0" algn="l" rtl="0">
              <a:lnSpc>
                <a:spcPct val="115000"/>
              </a:lnSpc>
              <a:spcBef>
                <a:spcPts val="1200"/>
              </a:spcBef>
              <a:spcAft>
                <a:spcPts val="0"/>
              </a:spcAft>
              <a:buClr>
                <a:schemeClr val="dk1"/>
              </a:buClr>
              <a:buSzPts val="1100"/>
              <a:buFont typeface="Arial"/>
              <a:buNone/>
            </a:pPr>
            <a:endParaRPr sz="1564" b="1">
              <a:latin typeface="Cambria"/>
              <a:ea typeface="Cambria"/>
              <a:cs typeface="Cambria"/>
              <a:sym typeface="Cambria"/>
            </a:endParaRPr>
          </a:p>
          <a:p>
            <a:pPr marL="45720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Una vez que se creó el proyecto se debe generar los diferentes paquetes, donde se colocarán los archivos con código fuente.</a:t>
            </a:r>
            <a:endParaRPr sz="1564">
              <a:latin typeface="Cambria"/>
              <a:ea typeface="Cambria"/>
              <a:cs typeface="Cambria"/>
              <a:sym typeface="Cambria"/>
            </a:endParaRPr>
          </a:p>
          <a:p>
            <a:pPr marL="0" lvl="0" indent="0" algn="l" rtl="0">
              <a:lnSpc>
                <a:spcPct val="115000"/>
              </a:lnSpc>
              <a:spcBef>
                <a:spcPts val="1200"/>
              </a:spcBef>
              <a:spcAft>
                <a:spcPts val="1200"/>
              </a:spcAft>
              <a:buSzPts val="1656"/>
              <a:buNone/>
            </a:pPr>
            <a:endParaRPr sz="1670">
              <a:latin typeface="Cambria"/>
              <a:ea typeface="Cambria"/>
              <a:cs typeface="Cambria"/>
              <a:sym typeface="Cambria"/>
            </a:endParaRPr>
          </a:p>
        </p:txBody>
      </p:sp>
      <p:pic>
        <p:nvPicPr>
          <p:cNvPr id="313" name="Google Shape;313;p39"/>
          <p:cNvPicPr preferRelativeResize="0"/>
          <p:nvPr/>
        </p:nvPicPr>
        <p:blipFill>
          <a:blip r:embed="rId3">
            <a:alphaModFix/>
          </a:blip>
          <a:stretch>
            <a:fillRect/>
          </a:stretch>
        </p:blipFill>
        <p:spPr>
          <a:xfrm>
            <a:off x="2668875" y="3950625"/>
            <a:ext cx="3743325" cy="24098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9" name="Google Shape;319;p40"/>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20" name="Google Shape;320;p4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21" name="Google Shape;321;p40"/>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package client.ws;</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jakarta.jws.WebMethod;</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jakarta.jws.WebParam;</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jakarta.jws.WebResult;</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jakarta.jws.WebService;</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jakarta.jws.soap.SOAPBinding;</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@WebService(name = "WSConversorUnidades", targetNamespace = "http://ws.controladores.monster.edu.ec/")</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@SOAPBinding(parameterStyle = SOAPBinding.ParameterStyle.WRAPPED)</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interface ContratoWSConversor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@WebMethod(operationName = "login")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login(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"usuario") String usuario,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"contrasenia") String contrasenia);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@WebMethod(operationName = "convertirLongitud")</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double convertirLongitud(</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27" name="Google Shape;327;p41"/>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28" name="Google Shape;328;p4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29" name="Google Shape;329;p41"/>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@WebMethod(operationName = "convertirMasa")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double convertirMasa(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@WebMethod(operationName = "convertirTemperatura")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double convertirTemperatura(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35" name="Google Shape;335;p42"/>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36" name="Google Shape;336;p4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37" name="Google Shape;337;p42"/>
          <p:cNvGraphicFramePr/>
          <p:nvPr/>
        </p:nvGraphicFramePr>
        <p:xfrm>
          <a:off x="2278500" y="1818850"/>
          <a:ext cx="3000000" cy="3000000"/>
        </p:xfrm>
        <a:graphic>
          <a:graphicData uri="http://schemas.openxmlformats.org/drawingml/2006/table">
            <a:tbl>
              <a:tblPr>
                <a:noFill/>
                <a:tableStyleId>{BF136021-7255-42B7-A7E7-87A8D8FFE9CA}</a:tableStyleId>
              </a:tblPr>
              <a:tblGrid>
                <a:gridCol w="543942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package client.ws;</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jakarta.xml.ws.Binding;</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jakarta.xml.ws.BindingProvider;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jakarta.xml.ws.Service;</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jakarta.xml.ws.handler.Handler;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java.net.URL;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java.util.ArrayList;</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java.util.List;</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javax.xml.namespace.QName;</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public class ClienteWSConversor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static final String ESPACIO_NOMBRES = "http://ws.controladores.monster.edu.ec/";</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static final String PROPIEDAD_BASE_WS = "ws.base.url";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static final String VARIABLE_BASE_WS = "WS_BASE_URL";</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static final QName QNOMBRE_SERVICIO = new QName(ESPACIO_NOMBRES, "WSConversorUnidades");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static final QName QNOMBRE_PUERTO = new QName(ESPACIO_NOMBRES, "WSConversorUnidadesPort");</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static final List&lt;String&gt; BASES_URL_POR_DEFECTO = List.of(</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"http://localhost:8080/04.SERVIDOR",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"http://localhost:8080/WS_ConUni_Java_GR5",</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"http://localhost:8080/WS_ConUni_Java_GR5-1.0-SNAPSHOT"</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43" name="Google Shape;343;p43"/>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44" name="Google Shape;344;p4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45" name="Google Shape;345;p43"/>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 private final ContratoWSConversor puerto;</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String tokenSesion;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String endpointActivo;</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ClienteWSConversor()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this.puerto = inicializarPuerto();</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ContratoWSConversor inicializarPuerto()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List&lt;String&gt; basesUrl = construirBasesUrl();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List&lt;String&gt; wsdlsIntentados = new ArrayList&lt;&gt;();</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for (String baseUrl : basesUrl)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String endpoint = baseUrl + "/WSConversorUnidades";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List&lt;String&gt; wsdlsCandidatos = List.of(</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endpoint + "?WSDL",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endpoint + "?wsdl"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46" name="Google Shape;346;p43"/>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       for (String wsdl : wsdlsCandidatos)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try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Service servicio = Service.create(new URL(wsdl), QNOMBRE_SERVICIO);</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ContratoWSConversor puertoTemporal = servicio.getPort(QNOMBRE_PUERTO, ContratoWSConversor.class);</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BindingProvider proveedor = (BindingProvider) puertoTemporal;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proveedor.getRequestContext().put(BindingProvider.ENDPOINT_ADDRESS_PROPERTY, endpoint);</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configurarManejadorToken(proveedor);</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this.endpointActivo = endpoint;</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puertoTemporal;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 catch (Exception ex)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wsdlsIntentados.add(wsdl);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52" name="Google Shape;352;p44"/>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53" name="Google Shape;353;p4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54" name="Google Shape;354;p44"/>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  throw new IllegalStateException(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"No fue posible inicializar el cliente SOAP.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 "No se encontro el WSDL en ninguna URL candidata: " + String.join(", ", wsdlsIntentados)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 ". Verifique que 04. SERVIDOR este desplegado y activo en Payara."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List&lt;String&gt; construirBasesUrl()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List&lt;String&gt; basesUrl = new ArrayList&lt;&gt;();</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String baseConfigurada = obtenerBaseConfigurada();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if (baseConfigurada != null &amp;&amp; !baseConfigurada.isBlank())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basesUrl.add(normalizarBase(baseConfigurada));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for (String baseDefecto : BASES_URL_POR_DEFECTO)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if (!basesUrl.contains(baseDefecto))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basesUrl.add(baseDefecto);</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basesUrl;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55" name="Google Shape;355;p44"/>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String obtenerBaseConfigurada()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String desdePropiedad = System.getProperty(PROPIEDAD_BASE_WS);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if (desdePropiedad != null &amp;&amp; !desdePropiedad.isBlank())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desdePropiedad;</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String desdeVariable = System.getenv(VARIABLE_BASE_WS);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if (desdeVariable != null &amp;&amp; !desdeVariable.isBlank())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desdeVariable;</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null;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String normalizarBase(String base)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String baseNormalizada = base.trim();</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while (baseNormalizada.endsWith("/"))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baseNormalizada = baseNormalizada.substring(0, baseNormalizada.length() - 1);</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baseNormalizada;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61" name="Google Shape;361;p45"/>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62" name="Google Shape;362;p4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63" name="Google Shape;363;p45"/>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void configurarManejadorToken(BindingProvider proveedor)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Binding enlace = proveedor.getBinding();</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List&lt;Handler&gt; cadenaManejadores = new ArrayList&lt;&gt;(enlace.getHandlerChain());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cadenaManejadores.add(new ManejadorTokenSOAP(() -&gt; tokenSesion));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enlace.setHandlerChain(cadenaManejadores);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String login(String usuario, String contrasenia)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this.tokenSesion = puerto.login(usuario, contrasenia);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this.tokenSesion;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double convertirLongitud(double valor, String unidadInicial, String unidadFinal)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puerto.convertirLongitud(valor, unidadInicial, unidadFinal);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double convertirMasa(double valor, String unidadInicial, String unidadFinal)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puerto.convertirMasa(valor, unidadInicial, unidadFinal);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64" name="Google Shape;364;p45"/>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public double convertirTemperatura(double valor, String unidadInicial, String unidadFinal)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puerto.convertirTemperatura(valor, unidadInicial, unidadFinal);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String getTokenSesion()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tokenSesion;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String getEndpointActivo()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endpointActivo;</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void cerrarSesion()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this.tokenSesion = null;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0" name="Google Shape;370;p46"/>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Se puede verificar que el cliente funciona de forma correcta, se levanta y tiene comunicación </a:t>
            </a:r>
            <a:endParaRPr sz="1400" b="1">
              <a:solidFill>
                <a:srgbClr val="17365D"/>
              </a:solidFill>
              <a:latin typeface="Calibri"/>
              <a:ea typeface="Calibri"/>
              <a:cs typeface="Calibri"/>
              <a:sym typeface="Calibri"/>
            </a:endParaRPr>
          </a:p>
          <a:p>
            <a:pPr marL="457200" lvl="0" indent="-298450" algn="l" rtl="0">
              <a:lnSpc>
                <a:spcPct val="150000"/>
              </a:lnSpc>
              <a:spcBef>
                <a:spcPts val="0"/>
              </a:spcBef>
              <a:spcAft>
                <a:spcPts val="0"/>
              </a:spcAft>
              <a:buClr>
                <a:schemeClr val="dk1"/>
              </a:buClr>
              <a:buSzPts val="1100"/>
              <a:buFont typeface="Calibri"/>
              <a:buChar char="∙"/>
            </a:pP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71" name="Google Shape;371;p4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372" name="Google Shape;372;p46"/>
          <p:cNvPicPr preferRelativeResize="0"/>
          <p:nvPr/>
        </p:nvPicPr>
        <p:blipFill>
          <a:blip r:embed="rId3">
            <a:alphaModFix/>
          </a:blip>
          <a:stretch>
            <a:fillRect/>
          </a:stretch>
        </p:blipFill>
        <p:spPr>
          <a:xfrm>
            <a:off x="3228913" y="2794000"/>
            <a:ext cx="5734050" cy="2505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8" name="Google Shape;378;p4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379" name="Google Shape;379;p47"/>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fontScale="92500"/>
          </a:bodyPr>
          <a:lstStyle/>
          <a:p>
            <a:pPr marL="457200" marR="0" lvl="0" indent="-320524" algn="l" rtl="0">
              <a:lnSpc>
                <a:spcPct val="115000"/>
              </a:lnSpc>
              <a:spcBef>
                <a:spcPts val="0"/>
              </a:spcBef>
              <a:spcAft>
                <a:spcPts val="0"/>
              </a:spcAft>
              <a:buSzPct val="100064"/>
              <a:buFont typeface="Cambria"/>
              <a:buChar char="◼"/>
            </a:pPr>
            <a:r>
              <a:rPr lang="es-ES" sz="1564">
                <a:latin typeface="Cambria"/>
                <a:ea typeface="Cambria"/>
                <a:cs typeface="Cambria"/>
                <a:sym typeface="Cambria"/>
              </a:rPr>
              <a:t>Para este caso, para poder optimizar el tiempo se optó por usar el framework de MAUI el cual permite crear un proyecto central el cual después puede adaptarse a las distintas plataformas(web, mobile y Desktop)</a:t>
            </a:r>
            <a:endParaRPr sz="1564">
              <a:latin typeface="Cambria"/>
              <a:ea typeface="Cambria"/>
              <a:cs typeface="Cambria"/>
              <a:sym typeface="Cambria"/>
            </a:endParaRPr>
          </a:p>
          <a:p>
            <a:pPr marL="457200" marR="0" lvl="0" indent="-320524" algn="l" rtl="0">
              <a:lnSpc>
                <a:spcPct val="115000"/>
              </a:lnSpc>
              <a:spcBef>
                <a:spcPts val="0"/>
              </a:spcBef>
              <a:spcAft>
                <a:spcPts val="0"/>
              </a:spcAft>
              <a:buSzPct val="100064"/>
              <a:buFont typeface="Cambria"/>
              <a:buChar char="◼"/>
            </a:pPr>
            <a:r>
              <a:rPr lang="es-ES" sz="1564">
                <a:latin typeface="Cambria"/>
                <a:ea typeface="Cambria"/>
                <a:cs typeface="Cambria"/>
                <a:sym typeface="Cambria"/>
              </a:rPr>
              <a:t>Para empezar se debe crear el proyecto en visual studio, para ello se selecciona una solución en blanco.</a:t>
            </a:r>
            <a:endParaRPr sz="1564">
              <a:latin typeface="Cambria"/>
              <a:ea typeface="Cambria"/>
              <a:cs typeface="Cambria"/>
              <a:sym typeface="Cambria"/>
            </a:endParaRPr>
          </a:p>
        </p:txBody>
      </p:sp>
      <p:pic>
        <p:nvPicPr>
          <p:cNvPr id="380" name="Google Shape;380;p47"/>
          <p:cNvPicPr preferRelativeResize="0"/>
          <p:nvPr/>
        </p:nvPicPr>
        <p:blipFill>
          <a:blip r:embed="rId3">
            <a:alphaModFix/>
          </a:blip>
          <a:stretch>
            <a:fillRect/>
          </a:stretch>
        </p:blipFill>
        <p:spPr>
          <a:xfrm>
            <a:off x="2087175" y="3158725"/>
            <a:ext cx="5734050" cy="35909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86" name="Google Shape;386;p4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387" name="Google Shape;387;p48"/>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marR="0" lvl="0" indent="-327978" algn="l" rtl="0">
              <a:lnSpc>
                <a:spcPct val="115000"/>
              </a:lnSpc>
              <a:spcBef>
                <a:spcPts val="0"/>
              </a:spcBef>
              <a:spcAft>
                <a:spcPts val="0"/>
              </a:spcAft>
              <a:buSzPts val="1565"/>
              <a:buFont typeface="Cambria"/>
              <a:buChar char="◼"/>
            </a:pPr>
            <a:r>
              <a:rPr lang="es-ES" sz="1564">
                <a:latin typeface="Cambria"/>
                <a:ea typeface="Cambria"/>
                <a:cs typeface="Cambria"/>
                <a:sym typeface="Cambria"/>
              </a:rPr>
              <a:t>Se debe asignar un nombre al proyecto y asignarle un directorio donde se va a guardar el mismo, y solo queda dar clic en crear</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Con la solución en blanco vamos a ir agregando los diferentes proyectos necesarios para todos los tipos de clientes, primero se debe agregar un nuevo proyecto. </a:t>
            </a:r>
            <a:endParaRPr sz="1564">
              <a:latin typeface="Cambria"/>
              <a:ea typeface="Cambria"/>
              <a:cs typeface="Cambria"/>
              <a:sym typeface="Cambria"/>
            </a:endParaRPr>
          </a:p>
        </p:txBody>
      </p:sp>
      <p:pic>
        <p:nvPicPr>
          <p:cNvPr id="388" name="Google Shape;388;p48"/>
          <p:cNvPicPr preferRelativeResize="0"/>
          <p:nvPr/>
        </p:nvPicPr>
        <p:blipFill>
          <a:blip r:embed="rId3">
            <a:alphaModFix/>
          </a:blip>
          <a:stretch>
            <a:fillRect/>
          </a:stretch>
        </p:blipFill>
        <p:spPr>
          <a:xfrm>
            <a:off x="226825" y="3803100"/>
            <a:ext cx="4002875" cy="2581000"/>
          </a:xfrm>
          <a:prstGeom prst="rect">
            <a:avLst/>
          </a:prstGeom>
          <a:noFill/>
          <a:ln>
            <a:noFill/>
          </a:ln>
        </p:spPr>
      </p:pic>
      <p:pic>
        <p:nvPicPr>
          <p:cNvPr id="389" name="Google Shape;389;p48"/>
          <p:cNvPicPr preferRelativeResize="0"/>
          <p:nvPr/>
        </p:nvPicPr>
        <p:blipFill>
          <a:blip r:embed="rId4">
            <a:alphaModFix/>
          </a:blip>
          <a:stretch>
            <a:fillRect/>
          </a:stretch>
        </p:blipFill>
        <p:spPr>
          <a:xfrm>
            <a:off x="4423175" y="4002275"/>
            <a:ext cx="4747325" cy="189407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9"/>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95" name="Google Shape;395;p49"/>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396" name="Google Shape;396;p49"/>
          <p:cNvPicPr preferRelativeResize="0"/>
          <p:nvPr/>
        </p:nvPicPr>
        <p:blipFill>
          <a:blip r:embed="rId3">
            <a:alphaModFix/>
          </a:blip>
          <a:stretch>
            <a:fillRect/>
          </a:stretch>
        </p:blipFill>
        <p:spPr>
          <a:xfrm>
            <a:off x="66975" y="3452938"/>
            <a:ext cx="4507325" cy="2874750"/>
          </a:xfrm>
          <a:prstGeom prst="rect">
            <a:avLst/>
          </a:prstGeom>
          <a:noFill/>
          <a:ln>
            <a:noFill/>
          </a:ln>
        </p:spPr>
      </p:pic>
      <p:pic>
        <p:nvPicPr>
          <p:cNvPr id="397" name="Google Shape;397;p49"/>
          <p:cNvPicPr preferRelativeResize="0"/>
          <p:nvPr/>
        </p:nvPicPr>
        <p:blipFill>
          <a:blip r:embed="rId4">
            <a:alphaModFix/>
          </a:blip>
          <a:stretch>
            <a:fillRect/>
          </a:stretch>
        </p:blipFill>
        <p:spPr>
          <a:xfrm>
            <a:off x="4772900" y="3452950"/>
            <a:ext cx="4460247" cy="2874725"/>
          </a:xfrm>
          <a:prstGeom prst="rect">
            <a:avLst/>
          </a:prstGeom>
          <a:noFill/>
          <a:ln>
            <a:noFill/>
          </a:ln>
        </p:spPr>
      </p:pic>
      <p:sp>
        <p:nvSpPr>
          <p:cNvPr id="398" name="Google Shape;398;p49"/>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Pero para este caso en la plantilla se debe seleccionar Aplicación web de Blazor </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A fin de poder identificar el proyecto este terminara con .web y su ubicacion sera en el directorio correspondiente a ese cliente</a:t>
            </a:r>
            <a:endParaRPr sz="1564">
              <a:latin typeface="Cambria"/>
              <a:ea typeface="Cambria"/>
              <a:cs typeface="Cambria"/>
              <a:sym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0"/>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04" name="Google Shape;404;p50"/>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05" name="Google Shape;405;p50"/>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De igual manera se usara .Net 10.0 como versión del framework, este proyecto generar 2 el .web que definimos y no .web.client.</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Para el caso de clientes mobile y desktop se va a crear un proyecto afín para estas plataformas, por lo que una vez más es necesario agregar un nuevo proyecto.</a:t>
            </a:r>
            <a:endParaRPr sz="1564">
              <a:latin typeface="Cambria"/>
              <a:ea typeface="Cambria"/>
              <a:cs typeface="Cambria"/>
              <a:sym typeface="Cambria"/>
            </a:endParaRPr>
          </a:p>
        </p:txBody>
      </p:sp>
      <p:pic>
        <p:nvPicPr>
          <p:cNvPr id="406" name="Google Shape;406;p50"/>
          <p:cNvPicPr preferRelativeResize="0"/>
          <p:nvPr/>
        </p:nvPicPr>
        <p:blipFill>
          <a:blip r:embed="rId3">
            <a:alphaModFix/>
          </a:blip>
          <a:stretch>
            <a:fillRect/>
          </a:stretch>
        </p:blipFill>
        <p:spPr>
          <a:xfrm>
            <a:off x="256575" y="3246650"/>
            <a:ext cx="3705225" cy="3581400"/>
          </a:xfrm>
          <a:prstGeom prst="rect">
            <a:avLst/>
          </a:prstGeom>
          <a:noFill/>
          <a:ln>
            <a:noFill/>
          </a:ln>
        </p:spPr>
      </p:pic>
      <p:pic>
        <p:nvPicPr>
          <p:cNvPr id="407" name="Google Shape;407;p50"/>
          <p:cNvPicPr preferRelativeResize="0"/>
          <p:nvPr/>
        </p:nvPicPr>
        <p:blipFill>
          <a:blip r:embed="rId4">
            <a:alphaModFix/>
          </a:blip>
          <a:stretch>
            <a:fillRect/>
          </a:stretch>
        </p:blipFill>
        <p:spPr>
          <a:xfrm>
            <a:off x="4326425" y="3793250"/>
            <a:ext cx="4625675" cy="18455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51"/>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13" name="Google Shape;413;p51"/>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14" name="Google Shape;414;p51"/>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la plantilla para este caso es la de aplicación de .NET MAUI Blazor Hybrid la cual permite fusionar la plataforma desktop y mobile.</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A esta plantilla colocaremos un nombre que finalice .Maui</a:t>
            </a:r>
            <a:endParaRPr sz="1564">
              <a:latin typeface="Cambria"/>
              <a:ea typeface="Cambria"/>
              <a:cs typeface="Cambria"/>
              <a:sym typeface="Cambria"/>
            </a:endParaRPr>
          </a:p>
        </p:txBody>
      </p:sp>
      <p:pic>
        <p:nvPicPr>
          <p:cNvPr id="415" name="Google Shape;415;p51"/>
          <p:cNvPicPr preferRelativeResize="0"/>
          <p:nvPr/>
        </p:nvPicPr>
        <p:blipFill>
          <a:blip r:embed="rId3">
            <a:alphaModFix/>
          </a:blip>
          <a:stretch>
            <a:fillRect/>
          </a:stretch>
        </p:blipFill>
        <p:spPr>
          <a:xfrm>
            <a:off x="107750" y="3471275"/>
            <a:ext cx="4476750" cy="2895600"/>
          </a:xfrm>
          <a:prstGeom prst="rect">
            <a:avLst/>
          </a:prstGeom>
          <a:noFill/>
          <a:ln>
            <a:noFill/>
          </a:ln>
        </p:spPr>
      </p:pic>
      <p:pic>
        <p:nvPicPr>
          <p:cNvPr id="416" name="Google Shape;416;p51"/>
          <p:cNvPicPr preferRelativeResize="0"/>
          <p:nvPr/>
        </p:nvPicPr>
        <p:blipFill>
          <a:blip r:embed="rId4">
            <a:alphaModFix/>
          </a:blip>
          <a:stretch>
            <a:fillRect/>
          </a:stretch>
        </p:blipFill>
        <p:spPr>
          <a:xfrm>
            <a:off x="4823813" y="3471275"/>
            <a:ext cx="4253601" cy="27053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2"/>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22" name="Google Shape;422;p52"/>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23" name="Google Shape;423;p52"/>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Se debe referenciar el proyecto central a los proyectos que se acaban de crear esto tanto para el proyecto web como para que es para desktop y mobile.</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Con esto se debe buscar el proyecto shared(proyecto central) para que los proyectos adyacentes sepan a donde apuntar</a:t>
            </a:r>
            <a:endParaRPr sz="1564">
              <a:latin typeface="Cambria"/>
              <a:ea typeface="Cambria"/>
              <a:cs typeface="Cambria"/>
              <a:sym typeface="Cambria"/>
            </a:endParaRPr>
          </a:p>
        </p:txBody>
      </p:sp>
      <p:pic>
        <p:nvPicPr>
          <p:cNvPr id="424" name="Google Shape;424;p52"/>
          <p:cNvPicPr preferRelativeResize="0"/>
          <p:nvPr/>
        </p:nvPicPr>
        <p:blipFill>
          <a:blip r:embed="rId3">
            <a:alphaModFix/>
          </a:blip>
          <a:stretch>
            <a:fillRect/>
          </a:stretch>
        </p:blipFill>
        <p:spPr>
          <a:xfrm>
            <a:off x="167300" y="3910850"/>
            <a:ext cx="4107051" cy="1826175"/>
          </a:xfrm>
          <a:prstGeom prst="rect">
            <a:avLst/>
          </a:prstGeom>
          <a:noFill/>
          <a:ln>
            <a:noFill/>
          </a:ln>
        </p:spPr>
      </p:pic>
      <p:pic>
        <p:nvPicPr>
          <p:cNvPr id="425" name="Google Shape;425;p52"/>
          <p:cNvPicPr preferRelativeResize="0"/>
          <p:nvPr/>
        </p:nvPicPr>
        <p:blipFill>
          <a:blip r:embed="rId4">
            <a:alphaModFix/>
          </a:blip>
          <a:stretch>
            <a:fillRect/>
          </a:stretch>
        </p:blipFill>
        <p:spPr>
          <a:xfrm>
            <a:off x="4429438" y="3317241"/>
            <a:ext cx="4732200" cy="333298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3"/>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31" name="Google Shape;431;p53"/>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32" name="Google Shape;432;p53"/>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Lo que sigue es ir creando los diferentes paquetes que se van a usar.</a:t>
            </a:r>
            <a:endParaRPr sz="1564">
              <a:latin typeface="Cambria"/>
              <a:ea typeface="Cambria"/>
              <a:cs typeface="Cambria"/>
              <a:sym typeface="Cambria"/>
            </a:endParaRPr>
          </a:p>
        </p:txBody>
      </p:sp>
      <p:pic>
        <p:nvPicPr>
          <p:cNvPr id="433" name="Google Shape;433;p53"/>
          <p:cNvPicPr preferRelativeResize="0"/>
          <p:nvPr/>
        </p:nvPicPr>
        <p:blipFill>
          <a:blip r:embed="rId3">
            <a:alphaModFix/>
          </a:blip>
          <a:stretch>
            <a:fillRect/>
          </a:stretch>
        </p:blipFill>
        <p:spPr>
          <a:xfrm>
            <a:off x="1164400" y="2905725"/>
            <a:ext cx="5611251" cy="37677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5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39" name="Google Shape;439;p54"/>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40" name="Google Shape;440;p5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41" name="Google Shape;441;p54"/>
          <p:cNvGraphicFramePr/>
          <p:nvPr/>
        </p:nvGraphicFramePr>
        <p:xfrm>
          <a:off x="2311225" y="2755638"/>
          <a:ext cx="3000000" cy="3000000"/>
        </p:xfrm>
        <a:graphic>
          <a:graphicData uri="http://schemas.openxmlformats.org/drawingml/2006/table">
            <a:tbl>
              <a:tblPr>
                <a:noFill/>
                <a:tableStyleId>{BF136021-7255-42B7-A7E7-87A8D8FFE9CA}</a:tableStyleId>
              </a:tblPr>
              <a:tblGrid>
                <a:gridCol w="5903875">
                  <a:extLst>
                    <a:ext uri="{9D8B030D-6E8A-4147-A177-3AD203B41FA5}">
                      <a16:colId xmlns:a16="http://schemas.microsoft.com/office/drawing/2014/main" val="20000"/>
                    </a:ext>
                  </a:extLst>
                </a:gridCol>
              </a:tblGrid>
              <a:tr h="2513700">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ec.edu.monster.Modelos;</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public static class ConstantesRed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"192.168.18.9";</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"localhost";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UrlJavaSoap = $"http://{IP_WEB_SERVICES}:8080/04.SERVIDOR/WSConversorUnidades";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UrlDotNetSoap = $"http://{IP_WEB_SERVICES}:50774/WSConversorUnidades.svc";</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UrlDotNetRest = $"http://{IP_WEB_SERVICES}:52100/api";</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UrlJavaRest = $"http://{IP_WEB_SERVICES}:8080/04.SERVIDOR/api";</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5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47" name="Google Shape;447;p55"/>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48" name="Google Shape;448;p5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49" name="Google Shape;449;p55"/>
          <p:cNvGraphicFramePr/>
          <p:nvPr/>
        </p:nvGraphicFramePr>
        <p:xfrm>
          <a:off x="2311225" y="2755638"/>
          <a:ext cx="3000000" cy="3000000"/>
        </p:xfrm>
        <a:graphic>
          <a:graphicData uri="http://schemas.openxmlformats.org/drawingml/2006/table">
            <a:tbl>
              <a:tblPr>
                <a:noFill/>
                <a:tableStyleId>{BF136021-7255-42B7-A7E7-87A8D8FFE9CA}</a:tableStyleId>
              </a:tblPr>
              <a:tblGrid>
                <a:gridCol w="5903875">
                  <a:extLst>
                    <a:ext uri="{9D8B030D-6E8A-4147-A177-3AD203B41FA5}">
                      <a16:colId xmlns:a16="http://schemas.microsoft.com/office/drawing/2014/main" val="20000"/>
                    </a:ext>
                  </a:extLst>
                </a:gridCol>
              </a:tblGrid>
              <a:tr h="25137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namespace ec.edu.monster.Servicios;</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public class FabricaEstrategiaBackend</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readonly IEnumerable&lt;IAdaptadorConversion&gt; _adaptadoresConversion;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readonly IEnumerable&lt;IAdaptadorAutenticacion&gt; _adaptadoresAutenticacion;</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public FabricaEstrategiaBackend(</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IEnumerable&lt;IAdaptadorConversion&gt; adaptadoresConversion,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IEnumerable&lt;IAdaptadorAutenticacion&gt; adaptadoresAutenticacion)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_adaptadoresConversion = adaptadoresConversion;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_adaptadoresAutenticacion = adaptadoresAutenticacion;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public IAdaptadorConversion ObtenerAdaptadorConversion(TipoBackend tipo)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_adaptadoresConversion.FirstOrDefault(a =&gt; a.Tipo == tipo)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 throw new NotSupportedException($"Adaptador de conversión para {tipo} no implementado.");</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public IAdaptadorAutenticacion ObtenerAdaptadorAutenticacion(TipoBackend tipo)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_adaptadoresAutenticacion.FirstOrDefault(a =&gt; a.Tipo == tipo)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 throw new NotSupportedException($"Adaptador de autenticación para {tipo} no implementado.");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5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55" name="Google Shape;455;p56"/>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56" name="Google Shape;456;p5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57" name="Google Shape;457;p56"/>
          <p:cNvGraphicFramePr/>
          <p:nvPr/>
        </p:nvGraphicFramePr>
        <p:xfrm>
          <a:off x="2385650" y="2264513"/>
          <a:ext cx="3000000" cy="3000000"/>
        </p:xfrm>
        <a:graphic>
          <a:graphicData uri="http://schemas.openxmlformats.org/drawingml/2006/table">
            <a:tbl>
              <a:tblPr>
                <a:noFill/>
                <a:tableStyleId>{BF136021-7255-42B7-A7E7-87A8D8FFE9CA}</a:tableStyleId>
              </a:tblPr>
              <a:tblGrid>
                <a:gridCol w="5903875">
                  <a:extLst>
                    <a:ext uri="{9D8B030D-6E8A-4147-A177-3AD203B41FA5}">
                      <a16:colId xmlns:a16="http://schemas.microsoft.com/office/drawing/2014/main" val="20000"/>
                    </a:ext>
                  </a:extLst>
                </a:gridCol>
              </a:tblGrid>
              <a:tr h="25137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@page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@inject ec.edu.monster.Servicios.EstadoAplicacion EstadoApp</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@inject ec.edu.monster.Servicios.FabricaEstrategiaBackend Fabrica</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@inject NavigationManager NavManager</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&lt;div class="espe-background"&gt;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class="espe-card" style="width: 800px;"&gt;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class="row g-0"&gt;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class="col-md-6" style="background-color: #f8f9fa;"&gt;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&lt;img src="/sullivan_computer.jpg" class="img-fluid" style="height: 100%; object-fit: cover;" alt="Imagen Login"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class="col-md-6 p-5 d-flex flex-column justify-content-center"&gt;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class="text-center mb-4"&gt;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&lt;h4 style="color: #0F4770;"&gt;Sistema de Conversión de Unidades&lt;/h4&gt;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&lt;small class="text-secondary"&gt;GRUPO #5&lt;/small&gt;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63" name="Google Shape;463;p57"/>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64" name="Google Shape;464;p5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65" name="Google Shape;465;p57"/>
          <p:cNvGraphicFramePr/>
          <p:nvPr/>
        </p:nvGraphicFramePr>
        <p:xfrm>
          <a:off x="2445175" y="2026388"/>
          <a:ext cx="3000000" cy="3000000"/>
        </p:xfrm>
        <a:graphic>
          <a:graphicData uri="http://schemas.openxmlformats.org/drawingml/2006/table">
            <a:tbl>
              <a:tblPr>
                <a:noFill/>
                <a:tableStyleId>{BF136021-7255-42B7-A7E7-87A8D8FFE9CA}</a:tableStyleId>
              </a:tblPr>
              <a:tblGrid>
                <a:gridCol w="5903875">
                  <a:extLst>
                    <a:ext uri="{9D8B030D-6E8A-4147-A177-3AD203B41FA5}">
                      <a16:colId xmlns:a16="http://schemas.microsoft.com/office/drawing/2014/main" val="20000"/>
                    </a:ext>
                  </a:extLst>
                </a:gridCol>
              </a:tblGrid>
              <a:tr h="25137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 &lt;div class="mb-4 p-3 rounded" style="background-color: #e0f2f1; border-left: 4px solid #0F4770;"&gt;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&lt;label class="fw-bold text-secondary mb-1" style="font-size: 0.85rem;"&gt;ENTORNO DE CONEXIÓN&lt;/label&gt;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&lt;select class="form-select espe-form-control bg-transparent border-0 border-bottom fw-bold"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style="color: #0F4770; box-shadow: none;"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@bind:get="EstadoApp.BackendActual"</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@bind:set="(value) =&gt; EstadoApp.EstablecerBackend(value)"&gt;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@foreach (var backend in Enum.GetValues&lt;ec.edu.monster.Modelos.TipoBackend&gt;())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&lt;option value="@backend"&gt;@backend.ToString()&lt;/option&gt;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&lt;/select&gt;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class="mb-3"&gt;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&lt;label&gt;Usuario&lt;/label&gt;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&lt;input type="text" class="form-control espe-form-control" @bind="usuario"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class="mb-4"&gt;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&lt;label&gt;Contraseña&lt;/label&gt;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&lt;input type="password" class="form-control espe-form-control" @bind="contrasenia"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&lt;button class="btn espe-btn-primary w-100" @onclick="HacerLogin"&gt;Iniciar sesión&lt;/button&gt;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class="alert alert-success mt-3 p-2 text-center" style="font-size: 0.8em; overflow-wrap: break-word;"&gt;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Token obtenido correctamente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5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71" name="Google Shape;471;p58"/>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72" name="Google Shape;472;p5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73" name="Google Shape;473;p58"/>
          <p:cNvGraphicFramePr/>
          <p:nvPr/>
        </p:nvGraphicFramePr>
        <p:xfrm>
          <a:off x="2332838" y="1771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5097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 @if (!string.IsNullOrEmpty(mensajeErrorLogin))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class="alert alert-danger mt-3 p-2 text-center" style="font-size: 0.8em;"&gt;@mensajeErrorLogin&lt;/div&gt;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class="text-center mt-4"&gt;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&lt;small class="text-info" style="font-size: 0.8rem;"&gt;Servidor web listo para conexiones.&lt;/small&gt;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@code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string usuario = "Monster";</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string contrasenia = "Monster9";</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string mensajeErrorLogin =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async Task HacerLogin()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mensajeErrorLogin =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try</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 patrón Strategy:</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var adaptadorAuth = Fabrica.ObtenerAdaptadorAutenticacion(EstadoApp.BackendActual);</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EstadoApp.TokenActual = await adaptadorAuth.IniciarSesionAsync(usuario, contrasenia);</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NavManager.NavigateTo("/conversor");</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catch (Exception ex)</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mensajeErrorLogin = ex.Message;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5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79" name="Google Shape;479;p59"/>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80" name="Google Shape;480;p5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81" name="Google Shape;481;p59"/>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System.Text;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System.Xml.Linq;</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ec.edu.monster.Adaptadores;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public class AdaptadorAutenticacionJavaSoap : IAdaptadorAutenticacion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TipoBackend Tipo =&gt; TipoBackend.JavaSoap;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private readonly HttpClient _httpClient;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AdaptadorAutenticacionJavaSoap(HttpClient 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_httpClient = 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async Task&lt;string&gt; IniciarSesionAsync(string usuario, string contrasenia)</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6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87" name="Google Shape;487;p60"/>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88" name="Google Shape;488;p6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89" name="Google Shape;489;p60"/>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1. Construir el sobre SOAP (Envelope)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Nota: El namespace "http://ws.monster.edu.ec/" es el que Java genera por defecto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&lt;ws:login&gt;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&lt;usuario&gt;{usuario}&lt;/usuario&gt;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&lt;contrasenia&gt;{contrasenia}&lt;/contrasenia&gt;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&lt;/ws:login&gt;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content = new StringContent(soapXml, Encoding.UTF8, "text/xml");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2. Enviar la petición a Payara</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_httpClient.PostAsync(ConstantesRed.UrlJavaSoap, content);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HTTP: {response.StatusCode}");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3. Leer e interpretar la respuesta 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doc = XDocument.Parse(responseXml);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95" name="Google Shape;495;p61"/>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96" name="Google Shape;496;p6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97" name="Google Shape;497;p61"/>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Buscamos la etiqueta &lt;return&gt; que contiene el token (comportamiento estándar de JAX-WS)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tokenElement = doc.Descendants().FirstOrDefault(x =&gt; x.Name.LocalName == "return");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if (tokenElement == null)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throw new Exception("No se encontró el token en la respuesta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return tokenElement.Value;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async Task&lt;string&gt; CambiarContraseniaAsync(string contraseniaActual, string contraseniaNueva, string token)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Construimos el XML respetando los @WebParam de tu Java</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&lt;ws:cambiarContrasenia&gt;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&lt;contraseniaActual&gt;{contraseniaActual}&lt;/contraseniaActual&gt;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&lt;contraseniaNueva&gt;{contraseniaNueva}&lt;/contraseniaNueva&gt;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&lt;/ws:cambiarContrasenia&gt;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request = new HttpRequestMessage(HttpMethod.Post, ConstantesRed.UrlJavaSoap)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Content = new StringContent(soapXml, System.Text.Encoding.UTF8, "text/xml")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6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03" name="Google Shape;503;p62"/>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04" name="Google Shape;504;p6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05" name="Google Shape;505;p62"/>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request.Headers.ExpectContinue = false;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request.Headers.Add("SOAPAction",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_httpClient.SendAsync(request);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docFault = System.Xml.Linq.XDocument.Parse(responseXml);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faultString = docFault.Descendants().FirstOrDefault(x =&gt; x.Name.LocalName == "faultstring")?.Value;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{faultString ?? "No se pudo cambiar la contraseña"}");</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doc = System.Xml.Linq.XDocument.Parse(responseXml);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resultElement = doc.Descendants().FirstOrDefault(x =&gt; x.Name.LocalName == "return");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return resultElement?.Value ?? "Contraseña actualizada correctamente";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6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11" name="Google Shape;511;p63"/>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12" name="Google Shape;512;p6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13" name="Google Shape;513;p63"/>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System.Globalization;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System.Text;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System.Xml.Linq;</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ec.edu.monster.Adaptadores;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public class AdaptadorConversionJavaSoap : IAdaptadorConversion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TipoBackend Tipo =&gt; TipoBackend.JavaSoap;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private readonly HttpClient _httpClient;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AdaptadorConversionJavaSoap(HttpClient 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_httpClient = 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async Task&lt;double&gt; ConvertirAsync(PeticionConversion peticion, string token)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Determinamos qué método llamar en el Web Service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metodoWs = peticion.TipoConversion switch</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"Masa" =&gt; "convertirMasa",</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"Temperatura" =&gt; "convertirTemperatura",</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_ =&gt; "convertirLongitud"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6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19" name="Google Shape;519;p64"/>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20" name="Google Shape;520;p6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21" name="Google Shape;521;p64"/>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string valorFormateado = peticion.Valor.ToString(CultureInfo.InvariantCulture);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1. Construir el sobre SOAP incluyendo el Token en el Header</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&lt;ws:token&gt;{token}&lt;/ws:token&gt;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&lt;ws:{metodoWs}&gt;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&lt;valor&gt;{valorFormateado}&lt;/valor&gt;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&lt;unidadInicial&gt;{peticion.UnidadOrigen}&lt;/unidadInicial&gt;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&lt;unidadFinal&gt;{peticion.UnidadDestino}&lt;/unidadFinal&gt;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&lt;/ws:{metodoWs}&gt;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content = new StringContent(soapXml, Encoding.UTF8, "text/xml");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2. Enviar la petición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_httpClient.PostAsync(ConstantesRed.UrlJavaSoap, content);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Si el token es inválido o hay un error, Java SOAP suele devolver HTTP 500 con un &lt;soapenv:Fault&gt;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6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27" name="Google Shape;527;p65"/>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28" name="Google Shape;528;p6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29" name="Google Shape;529;p65"/>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docFault = XDocument.Parse(responseXml);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faultString = docFault.Descendants().FirstOrDefault(x =&gt; x.Name.LocalName == "faultstring")?.Value;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del servidor SOAP: {faultString ?? response.StatusCode.ToString()}");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3. Extraer el resultado double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doc = XDocument.Parse(responseXml);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resultElement = doc.Descendants().FirstOrDefault(x =&gt; x.Name.LocalName == "return");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if (resultElement != null &amp;&amp; double.TryParse(resultElement.Value, NumberStyles.Any, CultureInfo.InvariantCulture, out double resultado))</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return resultado;</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throw new Exception("No se pudo parsear el resultado matemático del 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6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35" name="Google Shape;535;p6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36" name="Google Shape;536;p66"/>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a:latin typeface="Cambria"/>
                <a:ea typeface="Cambria"/>
                <a:cs typeface="Cambria"/>
                <a:sym typeface="Cambria"/>
              </a:rPr>
              <a:t>Para el cliente desktop se debe crear la instancia que llame al codigo que esta en el proyecto .shared, por lo que el codigo se ve asi, es el mismo que el de movil, sol cambiará la adaptación de la plataforma que se llame</a:t>
            </a:r>
            <a:endParaRPr>
              <a:latin typeface="Cambria"/>
              <a:ea typeface="Cambria"/>
              <a:cs typeface="Cambria"/>
              <a:sym typeface="Cambria"/>
            </a:endParaRPr>
          </a:p>
        </p:txBody>
      </p:sp>
      <p:sp>
        <p:nvSpPr>
          <p:cNvPr id="537" name="Google Shape;537;p66"/>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538" name="Google Shape;538;p66"/>
          <p:cNvGraphicFramePr/>
          <p:nvPr/>
        </p:nvGraphicFramePr>
        <p:xfrm>
          <a:off x="2332838" y="307386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3453000">
                <a:tc>
                  <a:txBody>
                    <a:bodyPr/>
                    <a:lstStyle/>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539" name="Google Shape;539;p66"/>
          <p:cNvSpPr txBox="1"/>
          <p:nvPr/>
        </p:nvSpPr>
        <p:spPr>
          <a:xfrm>
            <a:off x="122575" y="1715850"/>
            <a:ext cx="7232400" cy="758100"/>
          </a:xfrm>
          <a:prstGeom prst="rect">
            <a:avLst/>
          </a:prstGeom>
          <a:noFill/>
          <a:ln>
            <a:noFill/>
          </a:ln>
        </p:spPr>
        <p:txBody>
          <a:bodyPr spcFirstLastPara="1" wrap="square" lIns="91425" tIns="91425" rIns="91425" bIns="91425" anchor="t" anchorCtr="0">
            <a:spAutoFit/>
          </a:bodyPr>
          <a:lstStyle/>
          <a:p>
            <a:pPr marL="0" lvl="0" indent="0" algn="just" rtl="0">
              <a:lnSpc>
                <a:spcPct val="107000"/>
              </a:lnSpc>
              <a:spcBef>
                <a:spcPts val="0"/>
              </a:spcBef>
              <a:spcAft>
                <a:spcPts val="0"/>
              </a:spcAft>
              <a:buNone/>
            </a:pPr>
            <a:r>
              <a:rPr lang="es-ES" sz="1800" b="1">
                <a:solidFill>
                  <a:schemeClr val="dk2"/>
                </a:solidFill>
                <a:latin typeface="Cambria"/>
                <a:ea typeface="Cambria"/>
                <a:cs typeface="Cambria"/>
                <a:sym typeface="Cambria"/>
              </a:rPr>
              <a:t>1.6 	CREACIÓN DEL PROYECTO – CLIENTE ESCRITORIO</a:t>
            </a:r>
            <a:br>
              <a:rPr lang="es-ES" sz="1800" b="1">
                <a:solidFill>
                  <a:schemeClr val="dk2"/>
                </a:solidFill>
                <a:latin typeface="Cambria"/>
                <a:ea typeface="Cambria"/>
                <a:cs typeface="Cambria"/>
                <a:sym typeface="Cambria"/>
              </a:rPr>
            </a:br>
            <a:endParaRPr sz="1800">
              <a:solidFill>
                <a:schemeClr val="dk2"/>
              </a:solidFill>
              <a:latin typeface="Gill Sans"/>
              <a:ea typeface="Gill Sans"/>
              <a:cs typeface="Gill Sans"/>
              <a:sym typeface="Gill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6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45" name="Google Shape;545;p6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46" name="Google Shape;546;p67"/>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547" name="Google Shape;547;p67"/>
          <p:cNvGraphicFramePr/>
          <p:nvPr/>
        </p:nvGraphicFramePr>
        <p:xfrm>
          <a:off x="2332838" y="2136238"/>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23900">
                <a:tc>
                  <a:txBody>
                    <a:bodyPr/>
                    <a:lstStyle/>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2. SERVICIOS CORE</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53" name="Google Shape;553;p6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54" name="Google Shape;554;p68"/>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555" name="Google Shape;555;p68"/>
          <p:cNvGraphicFramePr/>
          <p:nvPr/>
        </p:nvGraphicFramePr>
        <p:xfrm>
          <a:off x="2332838" y="2136238"/>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23900">
                <a:tc>
                  <a:txBody>
                    <a:bodyPr/>
                    <a:lstStyle/>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1100">
                        <a:solidFill>
                          <a:schemeClr val="dk1"/>
                        </a:solidFill>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6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1" name="Google Shape;561;p69"/>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62" name="Google Shape;562;p69"/>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563" name="Google Shape;563;p69"/>
          <p:cNvGraphicFramePr/>
          <p:nvPr/>
        </p:nvGraphicFramePr>
        <p:xfrm>
          <a:off x="2332825" y="1914088"/>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a:t>
                      </a:r>
                      <a:endParaRPr sz="1100">
                        <a:solidFill>
                          <a:schemeClr val="dk1"/>
                        </a:solidFill>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9" name="Google Shape;569;p70"/>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570" name="Google Shape;570;p70"/>
          <p:cNvPicPr preferRelativeResize="0"/>
          <p:nvPr/>
        </p:nvPicPr>
        <p:blipFill>
          <a:blip r:embed="rId3">
            <a:alphaModFix/>
          </a:blip>
          <a:stretch>
            <a:fillRect/>
          </a:stretch>
        </p:blipFill>
        <p:spPr>
          <a:xfrm>
            <a:off x="1863925" y="2920600"/>
            <a:ext cx="5734050" cy="3476625"/>
          </a:xfrm>
          <a:prstGeom prst="rect">
            <a:avLst/>
          </a:prstGeom>
          <a:noFill/>
          <a:ln>
            <a:noFill/>
          </a:ln>
        </p:spPr>
      </p:pic>
      <p:sp>
        <p:nvSpPr>
          <p:cNvPr id="571" name="Google Shape;571;p70"/>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7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77" name="Google Shape;577;p71"/>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78" name="Google Shape;578;p71"/>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579" name="Google Shape;579;p71"/>
          <p:cNvPicPr preferRelativeResize="0"/>
          <p:nvPr/>
        </p:nvPicPr>
        <p:blipFill>
          <a:blip r:embed="rId3">
            <a:alphaModFix/>
          </a:blip>
          <a:stretch>
            <a:fillRect/>
          </a:stretch>
        </p:blipFill>
        <p:spPr>
          <a:xfrm>
            <a:off x="2057925" y="2610550"/>
            <a:ext cx="5734050" cy="34671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7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85" name="Google Shape;585;p7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86" name="Google Shape;586;p7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587" name="Google Shape;587;p72"/>
          <p:cNvPicPr preferRelativeResize="0"/>
          <p:nvPr/>
        </p:nvPicPr>
        <p:blipFill>
          <a:blip r:embed="rId3">
            <a:alphaModFix/>
          </a:blip>
          <a:stretch>
            <a:fillRect/>
          </a:stretch>
        </p:blipFill>
        <p:spPr>
          <a:xfrm>
            <a:off x="2176450" y="2610550"/>
            <a:ext cx="5734050" cy="34956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7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93" name="Google Shape;593;p7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94" name="Google Shape;594;p73"/>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a:latin typeface="Cambria"/>
                <a:ea typeface="Cambria"/>
                <a:cs typeface="Cambria"/>
                <a:sym typeface="Cambria"/>
              </a:rPr>
              <a:t>Para el cliente web se debe crear la instancia que llame al codigo que esta en el proyecto .shared, por lo que el codigo se ve asi:</a:t>
            </a:r>
            <a:endParaRPr>
              <a:latin typeface="Cambria"/>
              <a:ea typeface="Cambria"/>
              <a:cs typeface="Cambria"/>
              <a:sym typeface="Cambria"/>
            </a:endParaRPr>
          </a:p>
        </p:txBody>
      </p:sp>
      <p:sp>
        <p:nvSpPr>
          <p:cNvPr id="595" name="Google Shape;595;p73"/>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596" name="Google Shape;596;p73"/>
          <p:cNvGraphicFramePr/>
          <p:nvPr/>
        </p:nvGraphicFramePr>
        <p:xfrm>
          <a:off x="2332838" y="307386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3453000">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SistemaConversorUI.Web.Client.Pages;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ec.edu.monster.Components;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var builder = WebApplication.CreateBuilder(args);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1. Servicios base de Blazor y Seguridad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builder.Services.AddRazorComponents()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.AddInteractiveServerComponents();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2. SERVICIOS CORE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builder.Services.AddScoped&lt;ec.edu.monster.Servicios.EstadoAplicacion&gt;();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builder.Services.AddScoped&lt;ec.edu.monster.Servicios.FabricaEstrategiaBackend&gt;();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7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02" name="Google Shape;602;p7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03" name="Google Shape;603;p74"/>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604" name="Google Shape;604;p74"/>
          <p:cNvGraphicFramePr/>
          <p:nvPr/>
        </p:nvGraphicFramePr>
        <p:xfrm>
          <a:off x="2332838" y="2061838"/>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3. ADAPTADORES DE AUTENTICACIÓN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Los Mocks (Para los demás):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4. ADAPTADORES DE CONVERSIÓN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7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0" name="Google Shape;610;p75"/>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11" name="Google Shape;611;p75"/>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612" name="Google Shape;612;p75"/>
          <p:cNvGraphicFramePr/>
          <p:nvPr/>
        </p:nvGraphicFramePr>
        <p:xfrm>
          <a:off x="2332825" y="1795025"/>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Los Mocks: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FIN DE LOS SERVICIOS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var app = builder.Build();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Configure the HTTP request pipeline.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if (app.Environment.IsDevelopment())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app.UseWebAssemblyDebugging();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else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app.UseExceptionHandler("/Error", createScopeForErrors: true);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The default HSTS value is 30 days. You may want to change this for production scenarios, see https://aka.ms/aspnetcore-hsts.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app.UseHsts();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app.UseStatusCodePagesWithReExecute("/not-found", createScopeForStatusCodePages: true);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app.UseHttpsRedirection();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app.UseAntiforgery();</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app.MapStaticAssets();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app.MapRazorComponents&lt;App&gt;()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.AddInteractiveServerRenderMode()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.AddAdditionalAssemblies(typeof(SistemaConversorUI.Web.Client._Imports).Assembly);</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app.Run();</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7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619" name="Google Shape;619;p76"/>
          <p:cNvPicPr preferRelativeResize="0"/>
          <p:nvPr/>
        </p:nvPicPr>
        <p:blipFill>
          <a:blip r:embed="rId3">
            <a:alphaModFix/>
          </a:blip>
          <a:stretch>
            <a:fillRect/>
          </a:stretch>
        </p:blipFill>
        <p:spPr>
          <a:xfrm>
            <a:off x="1863925" y="2920600"/>
            <a:ext cx="5734050" cy="3476625"/>
          </a:xfrm>
          <a:prstGeom prst="rect">
            <a:avLst/>
          </a:prstGeom>
          <a:noFill/>
          <a:ln>
            <a:noFill/>
          </a:ln>
        </p:spPr>
      </p:pic>
      <p:sp>
        <p:nvSpPr>
          <p:cNvPr id="620" name="Google Shape;620;p76"/>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7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26" name="Google Shape;626;p7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27" name="Google Shape;627;p77"/>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a:t>
            </a:r>
            <a:endParaRPr sz="2000" b="0" i="0" u="none" strike="noStrike" cap="none">
              <a:solidFill>
                <a:srgbClr val="3D3D3D"/>
              </a:solidFill>
              <a:latin typeface="Cambria"/>
              <a:ea typeface="Cambria"/>
              <a:cs typeface="Cambria"/>
              <a:sym typeface="Cambria"/>
            </a:endParaRPr>
          </a:p>
        </p:txBody>
      </p:sp>
      <p:pic>
        <p:nvPicPr>
          <p:cNvPr id="628" name="Google Shape;628;p77"/>
          <p:cNvPicPr preferRelativeResize="0"/>
          <p:nvPr/>
        </p:nvPicPr>
        <p:blipFill>
          <a:blip r:embed="rId3">
            <a:alphaModFix/>
          </a:blip>
          <a:stretch>
            <a:fillRect/>
          </a:stretch>
        </p:blipFill>
        <p:spPr>
          <a:xfrm>
            <a:off x="989425" y="2522350"/>
            <a:ext cx="7615825" cy="38964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7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34" name="Google Shape;634;p7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35" name="Google Shape;635;p78"/>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Cambiar contraseña</a:t>
            </a:r>
            <a:endParaRPr sz="2000" b="0" i="0" u="none" strike="noStrike" cap="none">
              <a:solidFill>
                <a:srgbClr val="3D3D3D"/>
              </a:solidFill>
              <a:latin typeface="Cambria"/>
              <a:ea typeface="Cambria"/>
              <a:cs typeface="Cambria"/>
              <a:sym typeface="Cambria"/>
            </a:endParaRPr>
          </a:p>
        </p:txBody>
      </p:sp>
      <p:pic>
        <p:nvPicPr>
          <p:cNvPr id="636" name="Google Shape;636;p78"/>
          <p:cNvPicPr preferRelativeResize="0"/>
          <p:nvPr/>
        </p:nvPicPr>
        <p:blipFill>
          <a:blip r:embed="rId3">
            <a:alphaModFix/>
          </a:blip>
          <a:stretch>
            <a:fillRect/>
          </a:stretch>
        </p:blipFill>
        <p:spPr>
          <a:xfrm>
            <a:off x="1223950" y="2763050"/>
            <a:ext cx="7317725" cy="37318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graphicFrame>
        <p:nvGraphicFramePr>
          <p:cNvPr id="641" name="Google Shape;641;p79"/>
          <p:cNvGraphicFramePr/>
          <p:nvPr/>
        </p:nvGraphicFramePr>
        <p:xfrm>
          <a:off x="2332838" y="2865288"/>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3661575">
                <a:tc>
                  <a:txBody>
                    <a:bodyPr/>
                    <a:lstStyle/>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42" name="Google Shape;642;p7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43" name="Google Shape;643;p7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44" name="Google Shape;644;p79"/>
          <p:cNvSpPr txBox="1"/>
          <p:nvPr/>
        </p:nvSpPr>
        <p:spPr>
          <a:xfrm>
            <a:off x="406975" y="1921878"/>
            <a:ext cx="8576700" cy="737400"/>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Clr>
                <a:srgbClr val="000000"/>
              </a:buClr>
              <a:buSzPts val="1800"/>
              <a:buFont typeface="Arial"/>
              <a:buNone/>
            </a:pPr>
            <a:r>
              <a:rPr lang="es-ES" sz="1800" b="1">
                <a:solidFill>
                  <a:srgbClr val="3D3D3D"/>
                </a:solidFill>
                <a:latin typeface="Cambria"/>
                <a:ea typeface="Cambria"/>
                <a:cs typeface="Cambria"/>
                <a:sym typeface="Cambria"/>
              </a:rPr>
              <a:t>1.6</a:t>
            </a:r>
            <a:r>
              <a:rPr lang="es-ES" sz="1800" b="1" i="0" u="none" strike="noStrike" cap="none">
                <a:solidFill>
                  <a:srgbClr val="3D3D3D"/>
                </a:solidFill>
                <a:latin typeface="Cambria"/>
                <a:ea typeface="Cambria"/>
                <a:cs typeface="Cambria"/>
                <a:sym typeface="Cambria"/>
              </a:rPr>
              <a:t> 	CREACIÓN DEL PROYECTO – CLIENTE MÓVIL</a:t>
            </a:r>
            <a:br>
              <a:rPr lang="es-ES" sz="1800" b="1" i="0" u="none" strike="noStrike" cap="none">
                <a:solidFill>
                  <a:srgbClr val="3D3D3D"/>
                </a:solidFill>
                <a:latin typeface="Cambria"/>
                <a:ea typeface="Cambria"/>
                <a:cs typeface="Cambria"/>
                <a:sym typeface="Cambria"/>
              </a:rPr>
            </a:br>
            <a:endParaRPr sz="1800" b="0" i="0" u="none" strike="noStrike" cap="none">
              <a:solidFill>
                <a:srgbClr val="3D3D3D"/>
              </a:solidFill>
              <a:latin typeface="Gill Sans"/>
              <a:ea typeface="Gill Sans"/>
              <a:cs typeface="Gill Sans"/>
              <a:sym typeface="Gill Sans"/>
            </a:endParaRPr>
          </a:p>
        </p:txBody>
      </p:sp>
      <p:sp>
        <p:nvSpPr>
          <p:cNvPr id="645" name="Google Shape;645;p79"/>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646" name="Google Shape;646;p79"/>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a:latin typeface="Cambria"/>
                <a:ea typeface="Cambria"/>
                <a:cs typeface="Cambria"/>
                <a:sym typeface="Cambria"/>
              </a:rPr>
              <a:t>Para el cliente móvil se debe crear la instancia que llame al codigo que esta en el proyecto .shared, por lo que el código se ve así:</a:t>
            </a:r>
            <a:endParaRPr>
              <a:latin typeface="Cambria"/>
              <a:ea typeface="Cambria"/>
              <a:cs typeface="Cambria"/>
              <a:sym typeface="Cambri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graphicFrame>
        <p:nvGraphicFramePr>
          <p:cNvPr id="651" name="Google Shape;651;p80"/>
          <p:cNvGraphicFramePr/>
          <p:nvPr/>
        </p:nvGraphicFramePr>
        <p:xfrm>
          <a:off x="2332838" y="2061638"/>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93000">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2. SERVICIOS CORE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52" name="Google Shape;652;p8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53" name="Google Shape;653;p8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54" name="Google Shape;654;p80"/>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graphicFrame>
        <p:nvGraphicFramePr>
          <p:cNvPr id="659" name="Google Shape;659;p81"/>
          <p:cNvGraphicFramePr/>
          <p:nvPr/>
        </p:nvGraphicFramePr>
        <p:xfrm>
          <a:off x="2332825" y="1795025"/>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93000">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60" name="Google Shape;660;p8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1" name="Google Shape;661;p8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62" name="Google Shape;662;p81"/>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8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8" name="Google Shape;668;p8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solidFill>
                <a:schemeClr val="dk1"/>
              </a:solidFill>
            </a:endParaRPr>
          </a:p>
        </p:txBody>
      </p:sp>
      <p:sp>
        <p:nvSpPr>
          <p:cNvPr id="669" name="Google Shape;669;p8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670" name="Google Shape;670;p82"/>
          <p:cNvPicPr preferRelativeResize="0"/>
          <p:nvPr/>
        </p:nvPicPr>
        <p:blipFill>
          <a:blip r:embed="rId3">
            <a:alphaModFix/>
          </a:blip>
          <a:stretch>
            <a:fillRect/>
          </a:stretch>
        </p:blipFill>
        <p:spPr>
          <a:xfrm>
            <a:off x="3843225" y="1715850"/>
            <a:ext cx="2484925" cy="49024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8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76" name="Google Shape;676;p8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solidFill>
                <a:schemeClr val="dk1"/>
              </a:solidFill>
            </a:endParaRPr>
          </a:p>
        </p:txBody>
      </p:sp>
      <p:sp>
        <p:nvSpPr>
          <p:cNvPr id="677" name="Google Shape;677;p83"/>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 de unidades</a:t>
            </a:r>
            <a:endParaRPr sz="2000" b="0" i="0" u="none" strike="noStrike" cap="none">
              <a:solidFill>
                <a:srgbClr val="3D3D3D"/>
              </a:solidFill>
              <a:latin typeface="Cambria"/>
              <a:ea typeface="Cambria"/>
              <a:cs typeface="Cambria"/>
              <a:sym typeface="Cambria"/>
            </a:endParaRPr>
          </a:p>
        </p:txBody>
      </p:sp>
      <p:pic>
        <p:nvPicPr>
          <p:cNvPr id="678" name="Google Shape;678;p83"/>
          <p:cNvPicPr preferRelativeResize="0"/>
          <p:nvPr/>
        </p:nvPicPr>
        <p:blipFill>
          <a:blip r:embed="rId3">
            <a:alphaModFix/>
          </a:blip>
          <a:stretch>
            <a:fillRect/>
          </a:stretch>
        </p:blipFill>
        <p:spPr>
          <a:xfrm>
            <a:off x="5149825" y="1868350"/>
            <a:ext cx="2413600" cy="47166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8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84" name="Google Shape;684;p8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solidFill>
                <a:schemeClr val="dk1"/>
              </a:solidFill>
            </a:endParaRPr>
          </a:p>
        </p:txBody>
      </p:sp>
      <p:sp>
        <p:nvSpPr>
          <p:cNvPr id="685" name="Google Shape;685;p84"/>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cambio de contraseña</a:t>
            </a:r>
            <a:endParaRPr sz="2000" b="0" i="0" u="none" strike="noStrike" cap="none">
              <a:solidFill>
                <a:srgbClr val="3D3D3D"/>
              </a:solidFill>
              <a:latin typeface="Cambria"/>
              <a:ea typeface="Cambria"/>
              <a:cs typeface="Cambria"/>
              <a:sym typeface="Cambria"/>
            </a:endParaRPr>
          </a:p>
        </p:txBody>
      </p:sp>
      <p:pic>
        <p:nvPicPr>
          <p:cNvPr id="686" name="Google Shape;686;p84"/>
          <p:cNvPicPr preferRelativeResize="0"/>
          <p:nvPr/>
        </p:nvPicPr>
        <p:blipFill>
          <a:blip r:embed="rId3">
            <a:alphaModFix/>
          </a:blip>
          <a:stretch>
            <a:fillRect/>
          </a:stretch>
        </p:blipFill>
        <p:spPr>
          <a:xfrm>
            <a:off x="5042825" y="1868350"/>
            <a:ext cx="2520625" cy="51565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8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CONCLUSIONES</a:t>
            </a:r>
            <a:endParaRPr/>
          </a:p>
        </p:txBody>
      </p:sp>
      <p:sp>
        <p:nvSpPr>
          <p:cNvPr id="692" name="Google Shape;692;p8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SzPts val="1656"/>
              <a:buNone/>
            </a:pPr>
            <a:r>
              <a:rPr lang="es-ES" sz="1900">
                <a:latin typeface="Cambria"/>
                <a:ea typeface="Cambria"/>
                <a:cs typeface="Cambria"/>
                <a:sym typeface="Cambria"/>
              </a:rPr>
              <a:t>La culminación de este proyecto evidencia la efectividad de una Arquitectura Orientada a Servicios (SOA) al integrar exitosamente un servidor SOAP robusto, desarrollado en Java y alojado en Payara Server, con un ecosistema de clientes multiplataforma (web, móvil, escritorio y consola) mediante el uso de .NET MAUI. Esta integración técnica se validó mediante la implementación de un sistema de seguridad desacoplado basado en tokens y manejadores de mensajes (Message Handlers), junto con la aplicación del patrón Strategy en el cliente, lo que garantiza una solución de software interoperable, escalable y alineada con los estándares de desarrollo empresarial modernos.</a:t>
            </a:r>
            <a:endParaRPr sz="1900"/>
          </a:p>
        </p:txBody>
      </p:sp>
      <p:sp>
        <p:nvSpPr>
          <p:cNvPr id="693" name="Google Shape;693;p8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CONCLUSIONES</a:t>
            </a:r>
            <a:endParaRPr sz="1400" b="0" i="0" u="none" strike="noStrike" cap="none">
              <a:solidFill>
                <a:srgbClr val="FFFF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8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RECOMENDACIONES</a:t>
            </a:r>
            <a:endParaRPr/>
          </a:p>
        </p:txBody>
      </p:sp>
      <p:sp>
        <p:nvSpPr>
          <p:cNvPr id="699" name="Google Shape;699;p86"/>
          <p:cNvSpPr txBox="1">
            <a:spLocks noGrp="1"/>
          </p:cNvSpPr>
          <p:nvPr>
            <p:ph type="body" idx="1"/>
          </p:nvPr>
        </p:nvSpPr>
        <p:spPr>
          <a:xfrm>
            <a:off x="581200" y="2025325"/>
            <a:ext cx="8500800" cy="42912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900">
                <a:latin typeface="Cambria"/>
                <a:ea typeface="Cambria"/>
                <a:cs typeface="Cambria"/>
                <a:sym typeface="Cambria"/>
              </a:rPr>
              <a:t>Integrar una base de datos (BDD) formal para reemplazar el manejo de credenciales quemadas en código y permitir el almacenamiento histórico personal de las conversiones de manera persistente y escalable.</a:t>
            </a:r>
            <a:endParaRPr sz="1900">
              <a:latin typeface="Cambria"/>
              <a:ea typeface="Cambria"/>
              <a:cs typeface="Cambria"/>
              <a:sym typeface="Cambria"/>
            </a:endParaRPr>
          </a:p>
          <a:p>
            <a:pPr marL="0" lvl="0" indent="0" algn="just" rtl="0">
              <a:lnSpc>
                <a:spcPct val="107000"/>
              </a:lnSpc>
              <a:spcBef>
                <a:spcPts val="0"/>
              </a:spcBef>
              <a:spcAft>
                <a:spcPts val="0"/>
              </a:spcAft>
              <a:buNone/>
            </a:pPr>
            <a:endParaRPr sz="1900">
              <a:latin typeface="Cambria"/>
              <a:ea typeface="Cambria"/>
              <a:cs typeface="Cambria"/>
              <a:sym typeface="Cambria"/>
            </a:endParaRPr>
          </a:p>
          <a:p>
            <a:pPr marL="0" lvl="0" indent="0" algn="just" rtl="0">
              <a:lnSpc>
                <a:spcPct val="107000"/>
              </a:lnSpc>
              <a:spcBef>
                <a:spcPts val="0"/>
              </a:spcBef>
              <a:spcAft>
                <a:spcPts val="0"/>
              </a:spcAft>
              <a:buNone/>
            </a:pPr>
            <a:r>
              <a:rPr lang="es-ES" sz="1900">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 </a:t>
            </a:r>
            <a:endParaRPr sz="1900">
              <a:latin typeface="Cambria"/>
              <a:ea typeface="Cambria"/>
              <a:cs typeface="Cambria"/>
              <a:sym typeface="Cambria"/>
            </a:endParaRPr>
          </a:p>
          <a:p>
            <a:pPr marL="0" lvl="0" indent="0" algn="just" rtl="0">
              <a:lnSpc>
                <a:spcPct val="107000"/>
              </a:lnSpc>
              <a:spcBef>
                <a:spcPts val="0"/>
              </a:spcBef>
              <a:spcAft>
                <a:spcPts val="0"/>
              </a:spcAft>
              <a:buNone/>
            </a:pPr>
            <a:r>
              <a:rPr lang="es-ES" sz="1900">
                <a:latin typeface="Cambria"/>
                <a:ea typeface="Cambria"/>
                <a:cs typeface="Cambria"/>
                <a:sym typeface="Cambria"/>
              </a:rPr>
              <a:t> </a:t>
            </a:r>
            <a:endParaRPr sz="1900">
              <a:latin typeface="Cambria"/>
              <a:ea typeface="Cambria"/>
              <a:cs typeface="Cambria"/>
              <a:sym typeface="Cambria"/>
            </a:endParaRPr>
          </a:p>
          <a:p>
            <a:pPr marL="0" lvl="0" indent="0" algn="just" rtl="0">
              <a:lnSpc>
                <a:spcPct val="107000"/>
              </a:lnSpc>
              <a:spcBef>
                <a:spcPts val="0"/>
              </a:spcBef>
              <a:spcAft>
                <a:spcPts val="0"/>
              </a:spcAft>
              <a:buNone/>
            </a:pPr>
            <a:r>
              <a:rPr lang="es-ES" sz="1900">
                <a:latin typeface="Cambria"/>
                <a:ea typeface="Cambria"/>
                <a:cs typeface="Cambria"/>
                <a:sym typeface="Cambria"/>
              </a:rPr>
              <a:t>Incorporar herramientas de análisis estático de código automatizadas dentro del ciclo de vida de desarrollo para monitorear la calidad del software y asegurar que las nuevas funcionalidades no rompan la compatibilidad con el contrato WSDL expuesto.</a:t>
            </a:r>
            <a:endParaRPr sz="1900">
              <a:latin typeface="Cambria"/>
              <a:ea typeface="Cambria"/>
              <a:cs typeface="Cambria"/>
              <a:sym typeface="Cambria"/>
            </a:endParaRPr>
          </a:p>
        </p:txBody>
      </p:sp>
      <p:sp>
        <p:nvSpPr>
          <p:cNvPr id="700" name="Google Shape;700;p8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RECOMENDACIONES</a:t>
            </a:r>
            <a:endParaRPr sz="1400" b="0" i="0" u="none" strike="noStrike" cap="none">
              <a:solidFill>
                <a:srgbClr val="FFFF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12037</Words>
  <Application>Microsoft Office PowerPoint</Application>
  <PresentationFormat>Panorámica</PresentationFormat>
  <Paragraphs>2027</Paragraphs>
  <Slides>74</Slides>
  <Notes>74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74</vt:i4>
      </vt:variant>
    </vt:vector>
  </HeadingPairs>
  <TitlesOfParts>
    <vt:vector size="80" baseType="lpstr">
      <vt:lpstr>Gill Sans</vt:lpstr>
      <vt:lpstr>Calibri</vt:lpstr>
      <vt:lpstr>Noto Sans Symbols</vt:lpstr>
      <vt:lpstr>Arial</vt:lpstr>
      <vt:lpstr>Cambria</vt:lpstr>
      <vt:lpstr>Dividendo</vt:lpstr>
      <vt:lpstr>MANUAL CONVERSIÓN UNIDADES SOAP JAVA</vt:lpstr>
      <vt:lpstr>Presentación de PowerPoint</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Daniela Tituaña</cp:lastModifiedBy>
  <cp:revision>2</cp:revision>
  <dcterms:modified xsi:type="dcterms:W3CDTF">2026-10-27T14:41:41Z</dcterms:modified>
</cp:coreProperties>
</file>