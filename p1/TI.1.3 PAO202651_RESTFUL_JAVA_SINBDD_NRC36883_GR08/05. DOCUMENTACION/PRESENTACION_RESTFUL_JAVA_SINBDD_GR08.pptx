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2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</p:sldIdLst>
  <p:sldSz cy="6858000" cx="12192000"/>
  <p:notesSz cx="6858000" cy="9144000"/>
  <p:embeddedFontLst>
    <p:embeddedFont>
      <p:font typeface="Gill Sans"/>
      <p:regular r:id="rId80"/>
      <p:bold r:id="rId8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136021-7255-42B7-A7E7-87A8D8FFE9CA}">
  <a:tblStyle styleId="{BF136021-7255-42B7-A7E7-87A8D8FFE9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0" Type="http://schemas.openxmlformats.org/officeDocument/2006/relationships/font" Target="fonts/GillSans-regular.fntdata"/><Relationship Id="rId81" Type="http://schemas.openxmlformats.org/officeDocument/2006/relationships/font" Target="fonts/GillSans-bold.fntdata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/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2" type="body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body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9" name="Google Shape;49;p6"/>
          <p:cNvSpPr txBox="1"/>
          <p:nvPr>
            <p:ph idx="4" type="body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/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b="0" sz="200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" type="body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2" type="body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68" name="Google Shape;68;p9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/>
          <p:nvPr>
            <p:ph idx="2" type="pic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5" name="Google Shape;75;p10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4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 txBox="1"/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" type="body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0" type="dt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1" type="ftr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2" type="sldNum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4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/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>
              <a:defRPr b="1">
                <a:latin typeface="Calibri"/>
              </a:defRPr>
            </a:pPr>
            <a:r>
              <a:t>PRESENTACIÓN DEL PROYECTO</a:t>
            </a:r>
          </a:p>
          <a:p>
            <a:pPr>
              <a:defRPr b="1">
                <a:latin typeface="Calibri"/>
              </a:defRPr>
            </a:pPr>
            <a:r>
              <a:t>SISTEMA CONVERSIÓN DE UNIDADES RESTFUL JAVA (SIN BDD)</a:t>
            </a:r>
          </a:p>
        </p:txBody>
      </p:sp>
      <p:sp>
        <p:nvSpPr>
          <p:cNvPr id="97" name="Google Shape;97;p13"/>
          <p:cNvSpPr txBox="1"/>
          <p:nvPr>
            <p:ph idx="1" type="subTitle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defRPr>
                <a:latin typeface="Calibri"/>
              </a:defRPr>
            </a:pPr>
          </a:p>
          <a:p>
            <a:pPr>
              <a:defRPr>
                <a:latin typeface="Calibri"/>
              </a:defRPr>
            </a:pPr>
            <a:r>
              <a:t>INTEGRANTES: 	DANIELA TITUAÑA MORENO</a:t>
            </a:r>
          </a:p>
          <a:p>
            <a:pPr>
              <a:defRPr>
                <a:latin typeface="Calibri"/>
              </a:defRPr>
            </a:pPr>
            <a:r>
              <a:t>		GUSTAVO MOLINA GUAICO</a:t>
            </a:r>
          </a:p>
          <a:p>
            <a:pPr>
              <a:defRPr>
                <a:latin typeface="Calibri"/>
              </a:defRPr>
            </a:pPr>
            <a:r>
              <a:t>GRUPO:       	GRUPO 08</a:t>
            </a:r>
          </a:p>
          <a:p>
            <a:pPr>
              <a:defRPr>
                <a:latin typeface="Calibri"/>
              </a:defRPr>
            </a:pPr>
            <a:r>
              <a:t>NRC:         	36883</a:t>
            </a:r>
          </a:p>
        </p:txBody>
      </p:sp>
      <p:pic>
        <p:nvPicPr>
          <p:cNvPr descr="Resultado de imagen para espe" id="98" name="Google Shape;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9037063" y="5301801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>
              <a:defRPr>
                <a:latin typeface="Calibri"/>
              </a:defRPr>
            </a:pPr>
            <a:r>
              <a:t>FECHA:  27/10/2026</a:t>
            </a:r>
          </a:p>
          <a:p>
            <a:pPr>
              <a:defRPr>
                <a:latin typeface="Calibri"/>
              </a:defRPr>
            </a:pPr>
            <a:r>
              <a:t>ING: CAMPAÑA MAURICIO</a:t>
            </a:r>
          </a:p>
        </p:txBody>
      </p:sp>
      <p:sp>
        <p:nvSpPr>
          <p:cNvPr id="100" name="Google Shape;100;p13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14"/>
          <p:cNvSpPr txBox="1"/>
          <p:nvPr>
            <p:ph idx="1" type="body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DESARROLLO</a:t>
            </a:r>
            <a:endParaRPr/>
          </a:p>
          <a:p>
            <a:pPr indent="-320020" lvl="1" marL="630000" rtl="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OBJETIVO</a:t>
            </a:r>
            <a:endParaRPr/>
          </a:p>
          <a:p>
            <a:pPr indent="-320020" lvl="1" marL="630000" rtl="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ARQUITECTURA DE LA SOLUCIÓN</a:t>
            </a:r>
            <a:endParaRPr/>
          </a:p>
          <a:p>
            <a:pPr indent="-320020" lvl="1" marL="630000" rtl="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SERVIDOR RESTful (JAX-RS)</a:t>
            </a:r>
            <a:endParaRPr/>
          </a:p>
          <a:p>
            <a:pPr indent="-320020" lvl="1" marL="630000" rtl="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CLIENTE CONSOLA</a:t>
            </a:r>
            <a:endParaRPr/>
          </a:p>
          <a:p>
            <a:pPr indent="-320020" lvl="1" marL="630000" rtl="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CLIENTE ESCRITORIO</a:t>
            </a:r>
            <a:endParaRPr/>
          </a:p>
          <a:p>
            <a:pPr indent="-320020" lvl="1" marL="630000" rtl="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CLIENTE WEB</a:t>
            </a:r>
            <a:endParaRPr/>
          </a:p>
          <a:p>
            <a:pPr indent="-320020" lvl="1" marL="630000" rtl="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CLIENTE MÓVIL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CONCLUSIONES</a:t>
            </a:r>
            <a:endParaRPr/>
          </a:p>
          <a:p>
            <a:pPr indent="-306000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descr="Resultado de imagen para AGENDA PNG" id="108" name="Google Shape;1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1.1 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331720"/>
            <a:ext cx="8558784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62626"/>
                </a:solidFill>
                <a:latin typeface="Cambria"/>
              </a:rPr>
              <a:t>Desarrollar e implementar un servicio web RESTful en Java con Jakarta REST (JAX-RS) sobre Payara Server, sin base de datos, que realice conversiones de longitud, masa y temperatura y que sea consumido por clientes de consola, escritorio, web y móvil.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Objetivos específicos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600">
                <a:solidFill>
                  <a:srgbClr val="262626"/>
                </a:solidFill>
                <a:latin typeface="Cambria"/>
              </a:rPr>
              <a:t>Exponer recursos HTTP que intercambian JSON y publicar su contrato WADL.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600">
                <a:solidFill>
                  <a:srgbClr val="262626"/>
                </a:solidFill>
                <a:latin typeface="Cambria"/>
              </a:rPr>
              <a:t>Proteger los recursos con un token enviado en el encabezado Authorization: Bearer.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600">
                <a:solidFill>
                  <a:srgbClr val="262626"/>
                </a:solidFill>
                <a:latin typeface="Cambria"/>
              </a:rPr>
              <a:t>Construir cuatro clientes bajo el patrón MVC que consuman el servicio por HTTP.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1.2  ARQUITECTURA DE LA SOLUCIÓN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242316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Consola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mbria"/>
              </a:rPr>
              <a:t>Java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88336" y="2807208"/>
            <a:ext cx="2386584" cy="1536192"/>
          </a:xfrm>
          <a:prstGeom prst="line">
            <a:avLst/>
          </a:prstGeom>
          <a:ln w="25400">
            <a:solidFill>
              <a:srgbClr val="4590B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85216" y="342900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Escritorio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mbria"/>
              </a:rPr>
              <a:t>WinForms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88336" y="3813048"/>
            <a:ext cx="2386584" cy="530352"/>
          </a:xfrm>
          <a:prstGeom prst="line">
            <a:avLst/>
          </a:prstGeom>
          <a:ln w="25400">
            <a:solidFill>
              <a:srgbClr val="4590B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85216" y="443484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Web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mbria"/>
              </a:rPr>
              <a:t>ASP.NET Core MVC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688336" y="4343400"/>
            <a:ext cx="2386584" cy="475488"/>
          </a:xfrm>
          <a:prstGeom prst="line">
            <a:avLst/>
          </a:prstGeom>
          <a:ln w="25400">
            <a:solidFill>
              <a:srgbClr val="4590B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85216" y="544068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45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Móvil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mbria"/>
              </a:rPr>
              <a:t>.NET MAUI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688336" y="4343400"/>
            <a:ext cx="2386584" cy="1481328"/>
          </a:xfrm>
          <a:prstGeom prst="line">
            <a:avLst/>
          </a:prstGeom>
          <a:ln w="25400">
            <a:solidFill>
              <a:srgbClr val="4590B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0640" y="2514600"/>
            <a:ext cx="3931920" cy="3611880"/>
          </a:xfrm>
          <a:prstGeom prst="roundRect">
            <a:avLst>
              <a:gd name="adj" fmla="val 12000"/>
            </a:avLst>
          </a:prstGeom>
          <a:solidFill>
            <a:srgbClr val="122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/WS_ConUni_Java_RESTFUL/api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mbria"/>
              </a:rPr>
              <a:t>Jakarta REST · Payara Server · puerto 8080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mbria"/>
              </a:rPr>
              <a:t/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mbria"/>
              </a:rPr>
              <a:t>FiltroAutenticacion (@Asegurado)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mbria"/>
              </a:rPr>
              <a:t>ManejadorExcepciones (400 / 401 / 500)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mbria"/>
              </a:rPr>
              <a:t>ServicioConversor&lt;T&gt; · IConversor&lt;T&gt;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mbria"/>
              </a:rPr>
              <a:t>ServicioHistorial (100 registros)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6309359"/>
            <a:ext cx="8558784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Peticiones HTTP con cuerpo JSON; los recursos protegidos exigen el encabezado Authorization: Bearer &lt;token&gt;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1.3  SERVIDOR RESTful (JAX-RS) – PAYARA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331720"/>
            <a:ext cx="8558784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62626"/>
                </a:solidFill>
                <a:latin typeface="Cambria"/>
              </a:rPr>
              <a:t>En NetBeans se registra Payara Server como servidor de aplicaciones, con el dominio domain1 en localhost y el puerto HTTP 8080.</a:t>
            </a:r>
          </a:p>
        </p:txBody>
      </p:sp>
      <p:pic>
        <p:nvPicPr>
          <p:cNvPr id="6" name="Picture 5" descr="Selección de Payara Ser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753482"/>
            <a:ext cx="2761487" cy="186563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85216" y="5664837"/>
            <a:ext cx="276148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Selección de Payara Server</a:t>
            </a:r>
          </a:p>
        </p:txBody>
      </p:sp>
      <p:pic>
        <p:nvPicPr>
          <p:cNvPr id="8" name="Picture 7" descr="Ubicación y versió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4" y="3733608"/>
            <a:ext cx="2761488" cy="1905382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438144" y="5684711"/>
            <a:ext cx="276148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Ubicación y versión</a:t>
            </a:r>
          </a:p>
        </p:txBody>
      </p:sp>
      <p:pic>
        <p:nvPicPr>
          <p:cNvPr id="10" name="Picture 9" descr="Dominio y puerto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1" y="3640849"/>
            <a:ext cx="2761487" cy="20909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291071" y="5777470"/>
            <a:ext cx="276148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Dominio y puertos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1.3  SERVIDOR RESTful (JAX-RS) – CREACIÓN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331720"/>
            <a:ext cx="8558784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62626"/>
                </a:solidFill>
                <a:latin typeface="Cambria"/>
              </a:rPr>
              <a:t>Se crea un proyecto Maven Web Application llamado WS_ConUni_Java_RESTFUL, con el grupo ec.edu.monster y desplegado en Payara con Jakarta EE.</a:t>
            </a:r>
          </a:p>
        </p:txBody>
      </p:sp>
      <p:pic>
        <p:nvPicPr>
          <p:cNvPr id="6" name="Picture 5" descr="Tipo de proyec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746546"/>
            <a:ext cx="2761487" cy="1879506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85216" y="5671773"/>
            <a:ext cx="276148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Tipo de proyecto</a:t>
            </a:r>
          </a:p>
        </p:txBody>
      </p:sp>
      <p:pic>
        <p:nvPicPr>
          <p:cNvPr id="8" name="Picture 7" descr="Nombre y grup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4" y="3732158"/>
            <a:ext cx="2761487" cy="1908283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438144" y="5686161"/>
            <a:ext cx="276148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Nombre y grupo</a:t>
            </a:r>
          </a:p>
        </p:txBody>
      </p:sp>
      <p:pic>
        <p:nvPicPr>
          <p:cNvPr id="10" name="Picture 9" descr="Servidor y versión de Jakarta 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1" y="3733203"/>
            <a:ext cx="2761488" cy="1906193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291071" y="5685116"/>
            <a:ext cx="276148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Servidor y versión de Jakarta EE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1.3  SERVIDOR RESTful (JAX-RS) – ESTRUCTURA MVC</a:t>
            </a:r>
          </a:p>
        </p:txBody>
      </p:sp>
      <p:pic>
        <p:nvPicPr>
          <p:cNvPr id="5" name="Picture 4" descr="Paquetes del servid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799738"/>
            <a:ext cx="3657600" cy="2858723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5216" y="5704181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Paquetes del servidor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17136" y="2423160"/>
            <a:ext cx="4626864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500">
                <a:solidFill>
                  <a:srgbClr val="262626"/>
                </a:solidFill>
                <a:latin typeface="Cambria"/>
              </a:rPr>
              <a:t>controladores.ws: recurso WSConversorUnidades.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500">
                <a:solidFill>
                  <a:srgbClr val="262626"/>
                </a:solidFill>
                <a:latin typeface="Cambria"/>
              </a:rPr>
              <a:t>controladores.filtros: @Asegurado y FiltroAutenticacion.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500">
                <a:solidFill>
                  <a:srgbClr val="262626"/>
                </a:solidFill>
                <a:latin typeface="Cambria"/>
              </a:rPr>
              <a:t>controladores.manejadores: ManejadorExcepciones.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500">
                <a:solidFill>
                  <a:srgbClr val="262626"/>
                </a:solidFill>
                <a:latin typeface="Cambria"/>
              </a:rPr>
              <a:t>modelos: DTO, enumeraciones, conversores y UnidadMapper.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500">
                <a:solidFill>
                  <a:srgbClr val="262626"/>
                </a:solidFill>
                <a:latin typeface="Cambria"/>
              </a:rPr>
              <a:t>seguridad y servicios: credenciales, tokens, conversión e historial.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1.3  SERVIDOR RESTful (JAX-RS) – RECURSOS REST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5216" y="2331720"/>
          <a:ext cx="8558784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017520"/>
                <a:gridCol w="3803904"/>
                <a:gridCol w="822960"/>
              </a:tblGrid>
              <a:tr h="330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Método</a:t>
                      </a:r>
                    </a:p>
                  </a:txBody>
                  <a:tcPr marT="27432" marB="27432" anchor="ctr">
                    <a:solidFill>
                      <a:srgbClr val="1224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Ruta (/api/...)</a:t>
                      </a:r>
                    </a:p>
                  </a:txBody>
                  <a:tcPr marT="27432" marB="27432" anchor="ctr">
                    <a:solidFill>
                      <a:srgbClr val="1224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Operación</a:t>
                      </a:r>
                    </a:p>
                  </a:txBody>
                  <a:tcPr marT="27432" marB="27432" anchor="ctr">
                    <a:solidFill>
                      <a:srgbClr val="1224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Token</a:t>
                      </a:r>
                    </a:p>
                  </a:txBody>
                  <a:tcPr marT="27432" marB="27432" anchor="ctr">
                    <a:solidFill>
                      <a:srgbClr val="12244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POST</a:t>
                      </a:r>
                    </a:p>
                  </a:txBody>
                  <a:tcPr marT="27432" marB="27432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onsolas"/>
                        </a:rPr>
                        <a:t>seguridad/login</a:t>
                      </a:r>
                    </a:p>
                  </a:txBody>
                  <a:tcPr marT="27432" marB="27432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Iniciar sesión y obtener el token</a:t>
                      </a:r>
                    </a:p>
                  </a:txBody>
                  <a:tcPr marT="27432" marB="27432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No</a:t>
                      </a:r>
                    </a:p>
                  </a:txBody>
                  <a:tcPr marT="27432" marB="27432" anchor="ctr">
                    <a:solidFill>
                      <a:srgbClr val="E6F0F7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POST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onsolas"/>
                        </a:rPr>
                        <a:t>seguridad/cambiar-contrasena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Cambiar la contraseña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Sí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POST</a:t>
                      </a:r>
                    </a:p>
                  </a:txBody>
                  <a:tcPr marT="27432" marB="27432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onsolas"/>
                        </a:rPr>
                        <a:t>conversiones/longitud</a:t>
                      </a:r>
                    </a:p>
                  </a:txBody>
                  <a:tcPr marT="27432" marB="27432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Convertir longitud</a:t>
                      </a:r>
                    </a:p>
                  </a:txBody>
                  <a:tcPr marT="27432" marB="27432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Sí</a:t>
                      </a:r>
                    </a:p>
                  </a:txBody>
                  <a:tcPr marT="27432" marB="27432" anchor="ctr">
                    <a:solidFill>
                      <a:srgbClr val="E6F0F7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POST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onsolas"/>
                        </a:rPr>
                        <a:t>conversiones/masa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Convertir masa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Sí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POST</a:t>
                      </a:r>
                    </a:p>
                  </a:txBody>
                  <a:tcPr marT="27432" marB="27432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onsolas"/>
                        </a:rPr>
                        <a:t>conversiones/temperatura</a:t>
                      </a:r>
                    </a:p>
                  </a:txBody>
                  <a:tcPr marT="27432" marB="27432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Convertir temperatura</a:t>
                      </a:r>
                    </a:p>
                  </a:txBody>
                  <a:tcPr marT="27432" marB="27432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Sí</a:t>
                      </a:r>
                    </a:p>
                  </a:txBody>
                  <a:tcPr marT="27432" marB="27432" anchor="ctr">
                    <a:solidFill>
                      <a:srgbClr val="E6F0F7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GET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onsolas"/>
                        </a:rPr>
                        <a:t>conversiones/historial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Consultar el historial compartido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Sí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DELETE</a:t>
                      </a:r>
                    </a:p>
                  </a:txBody>
                  <a:tcPr marT="27432" marB="27432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onsolas"/>
                        </a:rPr>
                        <a:t>conversiones/historial</a:t>
                      </a:r>
                    </a:p>
                  </a:txBody>
                  <a:tcPr marT="27432" marB="27432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Limpiar el historial</a:t>
                      </a:r>
                    </a:p>
                  </a:txBody>
                  <a:tcPr marT="27432" marB="27432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Sí</a:t>
                      </a:r>
                    </a:p>
                  </a:txBody>
                  <a:tcPr marT="27432" marB="27432" anchor="ctr">
                    <a:solidFill>
                      <a:srgbClr val="E6F0F7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GET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onsolas"/>
                        </a:rPr>
                        <a:t>unidades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Consultar el catálogo de unidades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Sí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GET</a:t>
                      </a:r>
                    </a:p>
                  </a:txBody>
                  <a:tcPr marT="27432" marB="27432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onsolas"/>
                        </a:rPr>
                        <a:t>unidades/{categoria}</a:t>
                      </a:r>
                    </a:p>
                  </a:txBody>
                  <a:tcPr marT="27432" marB="27432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Consultar unidades por categoría</a:t>
                      </a:r>
                    </a:p>
                  </a:txBody>
                  <a:tcPr marT="27432" marB="27432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Cambria"/>
                        </a:rPr>
                        <a:t>Sí</a:t>
                      </a:r>
                    </a:p>
                  </a:txBody>
                  <a:tcPr marT="27432" marB="27432" anchor="ctr">
                    <a:solidFill>
                      <a:srgbClr val="E6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1.3  SERVIDOR RESTful (JAX-RS) – RECURSO WSConversorUnidades</a:t>
            </a:r>
          </a:p>
        </p:txBody>
      </p:sp>
      <p:graphicFrame>
        <p:nvGraphicFramePr>
          <p:cNvPr id="5" name="Google Shape;182;p23"/>
          <p:cNvGraphicFramePr/>
          <p:nvPr/>
        </p:nvGraphicFramePr>
        <p:xfrm>
          <a:off x="585216" y="2331720"/>
          <a:ext cx="5760720" cy="3538219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760720"/>
              </a:tblGrid>
              <a:tr h="35382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@ApplicationPath("api")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public class JakartaRestConfiguration extends Application { }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@Path("/")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@Consumes(MediaType.APPLICATION_JSON)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@Produces(MediaType.APPLICATION_JSON)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public class WSConversorUnidades 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    @POST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    @Path("seguridad/login")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public LoginRespuesta login(LoginSolicitud solicitud) { ... }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    @POST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    @Path("conversiones/longitud")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    @Asegurado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public ConversionRespuesta convertirLongitud(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ConversionSolicitud solicitud) 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double resultado = servicioLongitud.convertir(...);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ServicioHistorial.registrar("Longitud", ...);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return new ConversionRespuesta(resultado);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}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}</a:t>
                      </a:r>
                    </a:p>
                  </a:txBody>
                  <a:tcPr marT="54864" marB="54864" marR="109728" marL="109728">
                    <a:lnL w="12700">
                      <a:solidFill>
                        <a:srgbClr val="4590B8"/>
                      </a:solidFill>
                    </a:lnL>
                    <a:lnR w="12700">
                      <a:solidFill>
                        <a:srgbClr val="4590B8"/>
                      </a:solidFill>
                    </a:lnR>
                    <a:lnT w="12700">
                      <a:solidFill>
                        <a:srgbClr val="4590B8"/>
                      </a:solidFill>
                    </a:lnT>
                    <a:lnB w="12700">
                      <a:solidFill>
                        <a:srgbClr val="4590B8"/>
                      </a:solidFill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28816" y="2423160"/>
            <a:ext cx="2615183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Todos los recursos quedan bajo /api.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Las peticiones y respuestas se intercambian en JSON.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Solo login carece de @Asegurado.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1.3  SERVIDOR RESTful (JAX-RS) – AUTENTICACIÓN POR TOKEN</a:t>
            </a:r>
          </a:p>
        </p:txBody>
      </p:sp>
      <p:graphicFrame>
        <p:nvGraphicFramePr>
          <p:cNvPr id="5" name="Google Shape;182;p23"/>
          <p:cNvGraphicFramePr/>
          <p:nvPr/>
        </p:nvGraphicFramePr>
        <p:xfrm>
          <a:off x="585216" y="2331720"/>
          <a:ext cx="5760720" cy="305816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760720"/>
              </a:tblGrid>
              <a:tr h="3058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@NameBinding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@Retention(RetentionPolicy.RUNTIME)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@Target({ElementType.TYPE, ElementType.METHOD})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public @interface Asegurado { }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@Provider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@Asegurado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@Priority(Priorities.AUTHENTICATION)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public class FiltroAutenticacion implements ContainerRequestFilter 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public void filter(ContainerRequestContext contexto) 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String encabezado = contexto.getHeaderString(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    HttpHeaders.AUTHORIZATION);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if (encabezado == null || !encabezado.startsWith("Bearer "))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throw new ExcepcionAutenticacion("Acceso denegado ...");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String token = encabezado.substring(7).trim();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AdministradorTokens.validarToken(token);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}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}</a:t>
                      </a:r>
                    </a:p>
                  </a:txBody>
                  <a:tcPr marT="54864" marB="54864" marR="109728" marL="109728">
                    <a:lnL w="12700">
                      <a:solidFill>
                        <a:srgbClr val="4590B8"/>
                      </a:solidFill>
                    </a:lnL>
                    <a:lnR w="12700">
                      <a:solidFill>
                        <a:srgbClr val="4590B8"/>
                      </a:solidFill>
                    </a:lnR>
                    <a:lnT w="12700">
                      <a:solidFill>
                        <a:srgbClr val="4590B8"/>
                      </a:solidFill>
                    </a:lnT>
                    <a:lnB w="12700">
                      <a:solidFill>
                        <a:srgbClr val="4590B8"/>
                      </a:solidFill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28816" y="2423160"/>
            <a:ext cx="2615183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El filtro se aplica solo a los recursos marcados con @Asegurado.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Los tokens duran 30 minutos y se guardan en memoria.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Si el token falta o expiró, se responde 401.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1.3  SERVIDOR RESTful (JAX-RS) – MANEJO DE ERRORES</a:t>
            </a:r>
          </a:p>
        </p:txBody>
      </p:sp>
      <p:graphicFrame>
        <p:nvGraphicFramePr>
          <p:cNvPr id="5" name="Google Shape;182;p23"/>
          <p:cNvGraphicFramePr/>
          <p:nvPr/>
        </p:nvGraphicFramePr>
        <p:xfrm>
          <a:off x="585216" y="2331720"/>
          <a:ext cx="5760720" cy="26924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760720"/>
              </a:tblGrid>
              <a:tr h="2692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9B5C00"/>
                          </a:solidFill>
                          <a:latin typeface="Consolas"/>
                          <a:cs typeface="Consolas"/>
                        </a:rPr>
                        <a:t xml:space="preserve">@Provider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public class ManejadorExcepciones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implements ExceptionMapper&lt;Throwable&gt; 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public Response toResponse(Throwable excepcion) 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if (excepcion instanceof ExcepcionValidacion)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return construir(400, excepcion.getMessage());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if (excepcion instanceof ExcepcionAutenticacion)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return construir(401, excepcion.getMessage());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if (excepcion instanceof JsonbException)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return construir(400,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    "El cuerpo de la solicitud no es un JSON válido");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return construir(500, "Error interno del servidor");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}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}</a:t>
                      </a:r>
                    </a:p>
                  </a:txBody>
                  <a:tcPr marT="54864" marB="54864" marR="109728" marL="109728">
                    <a:lnL w="12700">
                      <a:solidFill>
                        <a:srgbClr val="4590B8"/>
                      </a:solidFill>
                    </a:lnL>
                    <a:lnR w="12700">
                      <a:solidFill>
                        <a:srgbClr val="4590B8"/>
                      </a:solidFill>
                    </a:lnR>
                    <a:lnT w="12700">
                      <a:solidFill>
                        <a:srgbClr val="4590B8"/>
                      </a:solidFill>
                    </a:lnT>
                    <a:lnB w="12700">
                      <a:solidFill>
                        <a:srgbClr val="4590B8"/>
                      </a:solidFill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28816" y="2423160"/>
            <a:ext cx="2615183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Todas las excepciones se traducen a JSON {"Mensaje": "..."}.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Cada error lleva su código HTTP: 400, 401 o 500.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Los clientes muestran ese mensaje al usuario.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1.3  SERVIDOR RESTful (JAX-RS) – LÓGICA DE CONVERSIÓN</a:t>
            </a:r>
          </a:p>
        </p:txBody>
      </p:sp>
      <p:graphicFrame>
        <p:nvGraphicFramePr>
          <p:cNvPr id="5" name="Google Shape;182;p23"/>
          <p:cNvGraphicFramePr/>
          <p:nvPr/>
        </p:nvGraphicFramePr>
        <p:xfrm>
          <a:off x="585216" y="2331720"/>
          <a:ext cx="5760720" cy="289814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760720"/>
              </a:tblGrid>
              <a:tr h="289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public class ServicioConversor&lt;T&gt; 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private final IConversor&lt;T&gt; conversor;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public ServicioConversor(IConversor&lt;T&gt; conversor) 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this.conversor = conversor;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}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public double convertir(double valor, T origen, T destino) 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if (!Double.isFinite(valor))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throw new ExcepcionValidacion(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    "El valor debe ser un número finito");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double resultado = conversor.convertir(valor, origen, destino);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if (!Double.isFinite(resultado))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throw new ExcepcionValidacion("El resultado excede ...");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return resultado;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}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}</a:t>
                      </a:r>
                    </a:p>
                  </a:txBody>
                  <a:tcPr marT="54864" marB="54864" marR="109728" marL="109728">
                    <a:lnL w="12700">
                      <a:solidFill>
                        <a:srgbClr val="4590B8"/>
                      </a:solidFill>
                    </a:lnL>
                    <a:lnR w="12700">
                      <a:solidFill>
                        <a:srgbClr val="4590B8"/>
                      </a:solidFill>
                    </a:lnR>
                    <a:lnT w="12700">
                      <a:solidFill>
                        <a:srgbClr val="4590B8"/>
                      </a:solidFill>
                    </a:lnT>
                    <a:lnB w="12700">
                      <a:solidFill>
                        <a:srgbClr val="4590B8"/>
                      </a:solidFill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28816" y="2423160"/>
            <a:ext cx="2615183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Longitud y masa usan factores hacia una unidad base.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Temperatura usa fórmulas entre Celsius, Fahrenheit, Kelvin y Rankine.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El servicio funciona con cualquier IConversor&lt;T&gt;.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1.3  SERVIDOR RESTful (JAX-RS) – EJECUCIÓN</a:t>
            </a:r>
          </a:p>
        </p:txBody>
      </p:sp>
      <p:pic>
        <p:nvPicPr>
          <p:cNvPr id="5" name="Picture 4" descr="Contrato WADL publica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167" y="2331720"/>
            <a:ext cx="4820721" cy="38862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3877056" y="6263640"/>
            <a:ext cx="526694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Contrato WADL publicado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2514600"/>
            <a:ext cx="310896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62626"/>
                </a:solidFill>
                <a:latin typeface="Cambria"/>
              </a:rPr>
              <a:t>Al desplegar el proyecto en Payara, Jakarta REST publica el contrato WADL en http://localhost:8080/WS_ConUni_Java_RESTFUL/api/application.wadl, donde se listan los recursos y sus métodos HTTP.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1.4  CLIENTE CONSOLA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331720"/>
            <a:ext cx="8558784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62626"/>
                </a:solidFill>
                <a:latin typeface="Cambria"/>
              </a:rPr>
              <a:t>Se crea una aplicación Java con Maven llamada ConUni_ClienteConsola_GR8, que consume el servicio con java.net.http.HttpClient y Gson.</a:t>
            </a:r>
          </a:p>
        </p:txBody>
      </p:sp>
      <p:pic>
        <p:nvPicPr>
          <p:cNvPr id="6" name="Picture 5" descr="Proyecto Java Applic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278778"/>
            <a:ext cx="4187952" cy="2815042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85216" y="6139541"/>
            <a:ext cx="418795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Proyecto Java Application</a:t>
            </a:r>
          </a:p>
        </p:txBody>
      </p:sp>
      <p:pic>
        <p:nvPicPr>
          <p:cNvPr id="8" name="Picture 7" descr="Nombre, ubicación y grup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7" y="3241368"/>
            <a:ext cx="4187952" cy="2889863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956047" y="6176951"/>
            <a:ext cx="418795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Nombre, ubicación y grupo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1.4  CLIENTE CONSOLA – ENVÍO DEL TOKEN</a:t>
            </a:r>
          </a:p>
        </p:txBody>
      </p:sp>
      <p:pic>
        <p:nvPicPr>
          <p:cNvPr id="5" name="Picture 4" descr="Estructura MVC del clien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586813"/>
            <a:ext cx="3291840" cy="3284573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5216" y="5917106"/>
            <a:ext cx="3291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Estructura MVC del cliente</a:t>
            </a:r>
          </a:p>
        </p:txBody>
      </p:sp>
      <p:graphicFrame>
        <p:nvGraphicFramePr>
          <p:cNvPr id="7" name="Google Shape;182;p23"/>
          <p:cNvGraphicFramePr/>
          <p:nvPr/>
        </p:nvGraphicFramePr>
        <p:xfrm>
          <a:off x="4059935" y="2331720"/>
          <a:ext cx="5084064" cy="286004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084064"/>
              </a:tblGrid>
              <a:tr h="286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public class ManejadorTokenRESTFUL 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private String token;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public void guardarToken(String token) 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this.token = token;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}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public HttpRequest.Builder adjuntarToken(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HttpRequest.Builder peticion) 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if (!haySesionActiva())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throw new ExcepcionClienteWS(401,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    "No hay sesion activa.");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return peticion.header("Authorization",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    "Bearer " + token);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}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}</a:t>
                      </a:r>
                    </a:p>
                  </a:txBody>
                  <a:tcPr marT="54864" marB="54864" marR="109728" marL="109728">
                    <a:lnL w="12700">
                      <a:solidFill>
                        <a:srgbClr val="4590B8"/>
                      </a:solidFill>
                    </a:lnL>
                    <a:lnR w="12700">
                      <a:solidFill>
                        <a:srgbClr val="4590B8"/>
                      </a:solidFill>
                    </a:lnR>
                    <a:lnT w="12700">
                      <a:solidFill>
                        <a:srgbClr val="4590B8"/>
                      </a:solidFill>
                    </a:lnT>
                    <a:lnB w="12700">
                      <a:solidFill>
                        <a:srgbClr val="4590B8"/>
                      </a:solidFill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1.4  CLIENTE CONSOLA – EJECUCIÓN</a:t>
            </a:r>
          </a:p>
        </p:txBody>
      </p:sp>
      <p:pic>
        <p:nvPicPr>
          <p:cNvPr id="5" name="Picture 4" descr="Cliente consola en ejecució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076" y="2331720"/>
            <a:ext cx="3892519" cy="38862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5216" y="6263640"/>
            <a:ext cx="42062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Cliente consola en ejecución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65776" y="2606039"/>
            <a:ext cx="4078223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500">
                <a:solidFill>
                  <a:srgbClr val="262626"/>
                </a:solidFill>
                <a:latin typeface="Cambria"/>
              </a:rPr>
              <a:t>El usuario inicia sesión y el cliente guarda el token.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500">
                <a:solidFill>
                  <a:srgbClr val="262626"/>
                </a:solidFill>
                <a:latin typeface="Cambria"/>
              </a:rPr>
              <a:t>El menú permite convertir longitud, masa y temperatura, y cambiar la contraseña.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500">
                <a:solidFill>
                  <a:srgbClr val="262626"/>
                </a:solidFill>
                <a:latin typeface="Cambria"/>
              </a:rPr>
              <a:t>Los errores HTTP se muestran como mensajes claros.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1.5  CLIENTE ESCRITORIO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331720"/>
            <a:ext cx="8558784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62626"/>
                </a:solidFill>
                <a:latin typeface="Cambria"/>
              </a:rPr>
              <a:t>Aplicación Windows Forms ConUni_CliEsc_GR8 en C#, que consume el servicio con HttpClient y muestra el historial compartido de conversiones.</a:t>
            </a:r>
          </a:p>
        </p:txBody>
      </p:sp>
      <p:pic>
        <p:nvPicPr>
          <p:cNvPr id="6" name="Picture 5" descr="Plantilla Windows Form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05" y="3200400"/>
            <a:ext cx="4640821" cy="29718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85216" y="62179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Plantilla Windows Forms</a:t>
            </a:r>
          </a:p>
        </p:txBody>
      </p:sp>
      <p:pic>
        <p:nvPicPr>
          <p:cNvPr id="8" name="Picture 7" descr="Estructura MV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43" y="3200400"/>
            <a:ext cx="2182608" cy="29718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254496" y="6217920"/>
            <a:ext cx="2889503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Estructura MVC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1.5  CLIENTE ESCRITORIO – INICIO DE SESIÓN</a:t>
            </a:r>
          </a:p>
        </p:txBody>
      </p:sp>
      <p:pic>
        <p:nvPicPr>
          <p:cNvPr id="5" name="Picture 4" descr="Vista de inicio de sesió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304" y="2331720"/>
            <a:ext cx="5956606" cy="38862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5216" y="6263640"/>
            <a:ext cx="85587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Vista de inicio de sesión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1.5  CLIENTE ESCRITORIO – CONVERSOR E HISTORIAL</a:t>
            </a:r>
          </a:p>
        </p:txBody>
      </p:sp>
      <p:pic>
        <p:nvPicPr>
          <p:cNvPr id="5" name="Picture 4" descr="Vista del conversor con el historial comparti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597" y="2331720"/>
            <a:ext cx="6198020" cy="38862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5216" y="6263640"/>
            <a:ext cx="85587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Vista del conversor con el historial compartido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1.5  CLIENTE ESCRITORIO – CAMBIO DE CONTRASEÑA</a:t>
            </a:r>
          </a:p>
        </p:txBody>
      </p:sp>
      <p:pic>
        <p:nvPicPr>
          <p:cNvPr id="5" name="Picture 4" descr="Vista de cambio de contraseñ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912" y="2331720"/>
            <a:ext cx="3783390" cy="38862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5216" y="6263640"/>
            <a:ext cx="85587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Vista de cambio de contraseña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1.6  CLIENTE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331720"/>
            <a:ext cx="8558784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62626"/>
                </a:solidFill>
                <a:latin typeface="Cambria"/>
              </a:rPr>
              <a:t>Aplicación ASP.NET Core MVC ConUni_CliWeb_GR8; el token se guarda en la sesión del servidor web y se adjunta en cada petición protegida.</a:t>
            </a:r>
          </a:p>
        </p:txBody>
      </p:sp>
      <p:pic>
        <p:nvPicPr>
          <p:cNvPr id="6" name="Picture 5" descr="Plantilla ASP.NET Core MV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924" y="3200400"/>
            <a:ext cx="4630982" cy="29718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85216" y="62179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Plantilla ASP.NET Core MVC</a:t>
            </a:r>
          </a:p>
        </p:txBody>
      </p:sp>
      <p:pic>
        <p:nvPicPr>
          <p:cNvPr id="8" name="Picture 7" descr="Estructura MV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397" y="3200400"/>
            <a:ext cx="2525701" cy="29718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254496" y="6217920"/>
            <a:ext cx="2889503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Estructura MVC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1.6  CLIENTE WEB – ENVÍO DEL TOKEN</a:t>
            </a:r>
          </a:p>
        </p:txBody>
      </p:sp>
      <p:graphicFrame>
        <p:nvGraphicFramePr>
          <p:cNvPr id="5" name="Google Shape;182;p23"/>
          <p:cNvGraphicFramePr/>
          <p:nvPr/>
        </p:nvGraphicFramePr>
        <p:xfrm>
          <a:off x="585216" y="2331720"/>
          <a:ext cx="5760720" cy="305816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760720"/>
              </a:tblGrid>
              <a:tr h="3058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public class ManejadorTokenRESTFUL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private readonly IAlmacenToken almacen;   // sesión web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public void GuardarToken(string token)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almacen.Token = token;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}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public void AdjuntarToken(HttpRequestMessage peticion)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{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if (!HaySesionActiva)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throw new ExcepcionClienteWS(401,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    "No hay sesión activa. Debe autenticarse primero.");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peticion.Headers.Authorization =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        new AuthenticationHeaderValue("Bearer", almacen.Token);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    }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" sz="1050" dirty="0">
                          <a:solidFill>
                            <a:srgbClr val="17365D"/>
                          </a:solidFill>
                          <a:latin typeface="Consolas"/>
                          <a:cs typeface="Consolas"/>
                        </a:rPr>
                        <a:t xml:space="preserve">}</a:t>
                      </a:r>
                    </a:p>
                  </a:txBody>
                  <a:tcPr marT="54864" marB="54864" marR="109728" marL="109728">
                    <a:lnL w="12700">
                      <a:solidFill>
                        <a:srgbClr val="4590B8"/>
                      </a:solidFill>
                    </a:lnL>
                    <a:lnR w="12700">
                      <a:solidFill>
                        <a:srgbClr val="4590B8"/>
                      </a:solidFill>
                    </a:lnR>
                    <a:lnT w="12700">
                      <a:solidFill>
                        <a:srgbClr val="4590B8"/>
                      </a:solidFill>
                    </a:lnT>
                    <a:lnB w="12700">
                      <a:solidFill>
                        <a:srgbClr val="4590B8"/>
                      </a:solidFill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28816" y="2423160"/>
            <a:ext cx="2615183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IAlmacenToken guarda el token en la sesión de cada usuario.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400">
                <a:solidFill>
                  <a:srgbClr val="262626"/>
                </a:solidFill>
                <a:latin typeface="Cambria"/>
              </a:rPr>
              <a:t>En escritorio y móvil la misma clase guarda el token directamente en memoria.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1.6  CLIENTE WEB – INICIO DE SESIÓN</a:t>
            </a:r>
          </a:p>
        </p:txBody>
      </p:sp>
      <p:pic>
        <p:nvPicPr>
          <p:cNvPr id="5" name="Picture 4" descr="Vista de inicio de sesió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799" y="2331720"/>
            <a:ext cx="6473617" cy="38862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5216" y="6263640"/>
            <a:ext cx="85587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Vista de inicio de sesión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1.6  CLIENTE WEB – CONVERSOR E HISTORIAL</a:t>
            </a:r>
          </a:p>
        </p:txBody>
      </p:sp>
      <p:pic>
        <p:nvPicPr>
          <p:cNvPr id="5" name="Picture 4" descr="Vista del conversor con el historial comparti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006" y="2331720"/>
            <a:ext cx="6513203" cy="38862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5216" y="6263640"/>
            <a:ext cx="85587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Vista del conversor con el historial compartido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1.6  CLIENTE WEB – CONTRASEÑA Y CIERRE DE SESIÓN</a:t>
            </a:r>
          </a:p>
        </p:txBody>
      </p:sp>
      <p:pic>
        <p:nvPicPr>
          <p:cNvPr id="5" name="Picture 4" descr="Cambio de contraseñ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018870"/>
            <a:ext cx="4187952" cy="2511898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5216" y="5576489"/>
            <a:ext cx="418795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Cambio de contraseña</a:t>
            </a:r>
          </a:p>
        </p:txBody>
      </p:sp>
      <p:pic>
        <p:nvPicPr>
          <p:cNvPr id="7" name="Picture 6" descr="Confirmación al cerrar sesió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7" y="3019970"/>
            <a:ext cx="4187952" cy="250969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956047" y="5575389"/>
            <a:ext cx="418795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Confirmación al cerrar sesión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1.7  CLIENTE MÓVIL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331720"/>
            <a:ext cx="8558784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62626"/>
                </a:solidFill>
                <a:latin typeface="Cambria"/>
              </a:rPr>
              <a:t>Aplicación .NET MAUI para Android ConUni_CliMov_GR8, con sus pruebas en un proyecto aparte; en el emulador se conecta al servidor mediante la dirección 10.0.2.2:8080.</a:t>
            </a:r>
          </a:p>
        </p:txBody>
      </p:sp>
      <p:pic>
        <p:nvPicPr>
          <p:cNvPr id="6" name="Picture 5" descr="Plantilla .NET MAU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641296"/>
            <a:ext cx="3291840" cy="2090007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85216" y="5777023"/>
            <a:ext cx="3291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Plantilla .NET MAUI</a:t>
            </a:r>
          </a:p>
        </p:txBody>
      </p:sp>
      <p:pic>
        <p:nvPicPr>
          <p:cNvPr id="8" name="Picture 7" descr="Nombre y ubicació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496" y="3630282"/>
            <a:ext cx="3291840" cy="2112034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968496" y="5788037"/>
            <a:ext cx="3291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Nombre y ubicación</a:t>
            </a:r>
          </a:p>
        </p:txBody>
      </p:sp>
      <p:pic>
        <p:nvPicPr>
          <p:cNvPr id="10" name="Picture 9" descr="Estructura y prueb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76" y="3376402"/>
            <a:ext cx="1792223" cy="2619794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351776" y="6041917"/>
            <a:ext cx="1792223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Estructura y pruebas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1783080"/>
            <a:ext cx="855878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22446"/>
                </a:solidFill>
                <a:latin typeface="Cambria"/>
              </a:rPr>
              <a:t>1.7  CLIENTE MÓVIL – VISTAS</a:t>
            </a:r>
          </a:p>
        </p:txBody>
      </p:sp>
      <p:pic>
        <p:nvPicPr>
          <p:cNvPr id="5" name="Picture 4" descr="Inicio de sesió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7" y="2331720"/>
            <a:ext cx="1727664" cy="38862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85216" y="6263640"/>
            <a:ext cx="271576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Inicio de sesión</a:t>
            </a:r>
          </a:p>
        </p:txBody>
      </p:sp>
      <p:pic>
        <p:nvPicPr>
          <p:cNvPr id="7" name="Picture 6" descr="Conversor e histori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745" y="2331720"/>
            <a:ext cx="1702565" cy="38862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438144" y="6263640"/>
            <a:ext cx="271576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Conversor e historial</a:t>
            </a:r>
          </a:p>
        </p:txBody>
      </p:sp>
      <p:pic>
        <p:nvPicPr>
          <p:cNvPr id="9" name="Picture 8" descr="Cambio de contraseñ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355" y="2331720"/>
            <a:ext cx="1727199" cy="38862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91071" y="6263640"/>
            <a:ext cx="271576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i="1">
                <a:solidFill>
                  <a:srgbClr val="595959"/>
                </a:solidFill>
                <a:latin typeface="Cambria"/>
              </a:rPr>
              <a:t>Cambio de contraseña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2011680"/>
            <a:ext cx="8558784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600">
                <a:solidFill>
                  <a:srgbClr val="262626"/>
                </a:solidFill>
                <a:latin typeface="Cambria"/>
              </a:rPr>
              <a:t>Jakarta REST sobre Payara permitió exponer el conversor como recursos HTTP que intercambian JSON, lo que facilitó consumirlo desde clientes escritos en Java y en C#.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600">
                <a:solidFill>
                  <a:srgbClr val="262626"/>
                </a:solidFill>
                <a:latin typeface="Cambria"/>
              </a:rPr>
              <a:t>El filtro @Asegurado y el ManejadorExcepciones centralizaron la seguridad y el tratamiento de errores, de modo que los recursos solo contienen la lógica del negocio.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600">
                <a:solidFill>
                  <a:srgbClr val="262626"/>
                </a:solidFill>
                <a:latin typeface="Cambria"/>
              </a:rPr>
              <a:t>El patrón MVC y la interfaz IConversor&lt;T&gt; permitieron reutilizar la lógica en los cuatro clientes y mantenerla verificada con pruebas unitarias.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14;p1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3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SERVIDOR RESTful (JAX-RS)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CONSOLA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1" marL="76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CLIENTE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2011680"/>
            <a:ext cx="8558784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600">
                <a:solidFill>
                  <a:srgbClr val="262626"/>
                </a:solidFill>
                <a:latin typeface="Cambria"/>
              </a:rPr>
              <a:t>Configurar HTTPS en Payara para que el token Bearer y las credenciales no viajen en texto plano.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600">
                <a:solidFill>
                  <a:srgbClr val="262626"/>
                </a:solidFill>
                <a:latin typeface="Cambria"/>
              </a:rPr>
              <a:t>Reemplazar el token aleatorio por JWT firmado si el servicio se despliega en varios servidores.</a:t>
            </a:r>
          </a:p>
          <a:p>
            <a:pPr marL="274320" indent="-228600">
              <a:spcAft>
                <a:spcPts val="800"/>
              </a:spcAft>
              <a:buClr>
                <a:srgbClr val="4590B8"/>
              </a:buClr>
              <a:buSzPct val="80000"/>
              <a:buFont typeface="Arial"/>
              <a:buChar char="■"/>
            </a:pPr>
            <a:r>
              <a:rPr sz="1600">
                <a:solidFill>
                  <a:srgbClr val="262626"/>
                </a:solidFill>
                <a:latin typeface="Cambria"/>
              </a:rPr>
              <a:t>Incorporar una base de datos para persistir credenciales e historial, que hoy se pierden al reiniciar el servidor.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