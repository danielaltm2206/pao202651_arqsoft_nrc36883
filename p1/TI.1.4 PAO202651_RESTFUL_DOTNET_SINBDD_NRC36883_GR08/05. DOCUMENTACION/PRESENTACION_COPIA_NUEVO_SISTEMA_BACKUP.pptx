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Gill Sans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B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2200000"/>
            <a:ext cx="105000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>
              <a:defRPr sz="2400" b="1">
                <a:latin typeface="Arial"/>
              </a:defRPr>
            </a:pPr>
            <a:r>
              <a:rPr dirty="0"/>
              <a:t>SISTEMA DE GESTIÓN Y AGENDAMIENTO DE CITAS MÉDICAS</a:t>
            </a:r>
          </a:p>
          <a:p>
            <a:pPr>
              <a:spcBef>
                <a:spcPts val="800"/>
              </a:spcBef>
              <a:defRPr sz="1300" b="1">
                <a:latin typeface="Arial"/>
              </a:defRPr>
            </a:pPr>
            <a:r>
              <a:rPr dirty="0"/>
              <a:t>SISTEMA DE INFORMACIÓN WEB PARA MEDICINA GENERAL (PRESENCIAL Y VIRTUAL)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300000"/>
            <a:ext cx="6500000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Aft>
                <a:spcPts val="200"/>
              </a:spcAft>
              <a:defRPr sz="1200" b="1"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INTEGRANTES:  DANIELA TITUAÑA</a:t>
            </a:r>
            <a:r>
              <a:rPr lang="es-EC" dirty="0">
                <a:solidFill>
                  <a:schemeClr val="bg1"/>
                </a:solidFill>
              </a:rPr>
              <a:t>, </a:t>
            </a:r>
            <a:r>
              <a:rPr dirty="0">
                <a:solidFill>
                  <a:schemeClr val="bg1"/>
                </a:solidFill>
              </a:rPr>
              <a:t>GUSTAVO MOLINA</a:t>
            </a:r>
          </a:p>
          <a:p>
            <a:pPr>
              <a:spcAft>
                <a:spcPts val="200"/>
              </a:spcAft>
              <a:defRPr sz="1200" b="0"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CARRERA:      INGENIERÍA DE SOFTWARE</a:t>
            </a:r>
          </a:p>
          <a:p>
            <a:pPr>
              <a:spcAft>
                <a:spcPts val="200"/>
              </a:spcAft>
              <a:defRPr sz="1200" b="0"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ASIGNATURA:   CONSTRUCCIÓN DE SOFTWARE</a:t>
            </a: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7800000" y="4300000"/>
            <a:ext cx="38000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defRPr sz="1200" b="1"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FECHA:  26/10/2026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NRC:    36883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GRUPO:  </a:t>
            </a:r>
            <a:r>
              <a:rPr lang="es-EC" dirty="0">
                <a:solidFill>
                  <a:schemeClr val="bg1"/>
                </a:solidFill>
              </a:rPr>
              <a:t>10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800000" y="1000000"/>
            <a:ext cx="1050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1656"/>
              <a:buChar char="◼"/>
              <a:defRPr sz="2200" b="1">
                <a:latin typeface="Arial"/>
              </a:defRPr>
            </a:pPr>
            <a:r>
              <a:t>CONTENIDO DE LA PRESENTACIÓN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1. INTRODUCCIÓN Y CONTEXTO DEL PROBLEMA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2. OBJETIVOS DEL PROYECTO (GENERAL Y ESPECÍFICOS)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3. ALCANCE DEL SISTEMA: ALCANCE INCLUIDO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4. ALCANCE DEL SISTEMA: ALCANCE EXCLUIDO (LÍMITES)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5. METODOLOGÍA DE DESARROLLO (SCRUM HÍBRIDO E IEEE 830)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6. ROLES Y ASIGNACIÓN DE RESPONSABILIDADES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7. CRONOGRAMA DINÁMICO DE SPRINTS Y FASES (LINEAR)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8. ARTEFACTOS ENTREGABLES DEL SISTEMA DE INFORMACIÓN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9. REQUISITOS NO FUNCIONALES Y MATRIZ DE SEGURIDAD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10. RESTRICCIONES, SUPUESTOS Y MATRIZ DE RIESGOS</a:t>
            </a:r>
          </a:p>
          <a:p>
            <a:pPr>
              <a:spcAft>
                <a:spcPts val="500"/>
              </a:spcAft>
              <a:defRPr sz="1200" b="1">
                <a:latin typeface="Arial"/>
              </a:defRPr>
            </a:pPr>
            <a:r>
              <a:t>11. CONCLUSIONES Y PREGUNTAS</a:t>
            </a:r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02181" y="3551245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INTRODUCCIÓN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56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rPr dirty="0"/>
              <a:t>1.1 </a:t>
            </a:r>
            <a:r>
              <a:rPr dirty="0" err="1"/>
              <a:t>Contexto</a:t>
            </a:r>
            <a:r>
              <a:rPr dirty="0"/>
              <a:t> y </a:t>
            </a:r>
            <a:r>
              <a:rPr dirty="0" err="1"/>
              <a:t>Problemática</a:t>
            </a:r>
            <a:endParaRPr lang="es-419" b="1" dirty="0"/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lang="es-419" dirty="0"/>
              <a:t>La gestión de citas en la práctica médica independiente suele presentar ineficiencias operativas y pérdidas económicas causadas por el ausentismo de pacientes (No-Shows), la colisión de horarios por reservas concurrentes y la excesiva carga administrativa en tareas manuales de coordinación.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50" b="1">
                <a:solidFill>
                  <a:srgbClr val="006633"/>
                </a:solidFill>
                <a:latin typeface="Arial"/>
              </a:defRPr>
            </a:pPr>
            <a:r>
              <a:rPr lang="es-419" dirty="0"/>
              <a:t>1.2 Solución Propuesta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Para </a:t>
            </a:r>
            <a:r>
              <a:rPr dirty="0" err="1"/>
              <a:t>solventar</a:t>
            </a:r>
            <a:r>
              <a:rPr dirty="0"/>
              <a:t>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dificultades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 propone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diseño</a:t>
            </a:r>
            <a:r>
              <a:rPr dirty="0"/>
              <a:t> e </a:t>
            </a:r>
            <a:r>
              <a:rPr dirty="0" err="1"/>
              <a:t>implementación</a:t>
            </a:r>
            <a:r>
              <a:rPr dirty="0"/>
              <a:t> de un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 web </a:t>
            </a:r>
            <a:r>
              <a:rPr dirty="0" err="1"/>
              <a:t>orientado</a:t>
            </a:r>
            <a:r>
              <a:rPr dirty="0"/>
              <a:t> a la </a:t>
            </a:r>
            <a:r>
              <a:rPr dirty="0" err="1"/>
              <a:t>atención</a:t>
            </a:r>
            <a:r>
              <a:rPr dirty="0"/>
              <a:t> de </a:t>
            </a:r>
            <a:r>
              <a:rPr dirty="0" err="1"/>
              <a:t>medicina</a:t>
            </a:r>
            <a:r>
              <a:rPr dirty="0"/>
              <a:t> general, tanto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consultorios</a:t>
            </a:r>
            <a:r>
              <a:rPr dirty="0"/>
              <a:t> </a:t>
            </a:r>
            <a:r>
              <a:rPr dirty="0" err="1"/>
              <a:t>físicos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modalidades</a:t>
            </a:r>
            <a:r>
              <a:rPr dirty="0"/>
              <a:t> </a:t>
            </a:r>
            <a:r>
              <a:rPr dirty="0" err="1"/>
              <a:t>virtuales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La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automatiza</a:t>
            </a:r>
            <a:r>
              <a:rPr dirty="0"/>
              <a:t> la </a:t>
            </a:r>
            <a:r>
              <a:rPr dirty="0" err="1"/>
              <a:t>programación</a:t>
            </a:r>
            <a:r>
              <a:rPr dirty="0"/>
              <a:t> de </a:t>
            </a:r>
            <a:r>
              <a:rPr dirty="0" err="1"/>
              <a:t>turnos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un motor </a:t>
            </a:r>
            <a:r>
              <a:rPr dirty="0" err="1"/>
              <a:t>transaccional</a:t>
            </a:r>
            <a:r>
              <a:rPr dirty="0"/>
              <a:t> con </a:t>
            </a:r>
            <a:r>
              <a:rPr dirty="0" err="1"/>
              <a:t>bloqueo</a:t>
            </a:r>
            <a:r>
              <a:rPr dirty="0"/>
              <a:t> temporal de </a:t>
            </a:r>
            <a:r>
              <a:rPr dirty="0" err="1"/>
              <a:t>cupos</a:t>
            </a:r>
            <a:r>
              <a:rPr dirty="0"/>
              <a:t> (5 min), </a:t>
            </a:r>
            <a:r>
              <a:rPr dirty="0" err="1"/>
              <a:t>implementa</a:t>
            </a:r>
            <a:r>
              <a:rPr dirty="0"/>
              <a:t> </a:t>
            </a:r>
            <a:r>
              <a:rPr dirty="0" err="1"/>
              <a:t>recordatorios</a:t>
            </a:r>
            <a:r>
              <a:rPr dirty="0"/>
              <a:t> </a:t>
            </a:r>
            <a:r>
              <a:rPr dirty="0" err="1"/>
              <a:t>preventivos</a:t>
            </a:r>
            <a:r>
              <a:rPr dirty="0"/>
              <a:t> </a:t>
            </a:r>
            <a:r>
              <a:rPr dirty="0" err="1"/>
              <a:t>automatizados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correo</a:t>
            </a:r>
            <a:r>
              <a:rPr dirty="0"/>
              <a:t> </a:t>
            </a:r>
            <a:r>
              <a:rPr dirty="0" err="1"/>
              <a:t>electrónico</a:t>
            </a:r>
            <a:r>
              <a:rPr dirty="0"/>
              <a:t> (SMTP) </a:t>
            </a:r>
            <a:r>
              <a:rPr dirty="0" err="1"/>
              <a:t>enviados</a:t>
            </a:r>
            <a:r>
              <a:rPr dirty="0"/>
              <a:t> con 24 horas de </a:t>
            </a:r>
            <a:r>
              <a:rPr dirty="0" err="1"/>
              <a:t>anticipación</a:t>
            </a:r>
            <a:r>
              <a:rPr dirty="0"/>
              <a:t> y </a:t>
            </a:r>
            <a:r>
              <a:rPr dirty="0" err="1"/>
              <a:t>provee</a:t>
            </a:r>
            <a:r>
              <a:rPr dirty="0"/>
              <a:t> un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conversacional</a:t>
            </a:r>
            <a:r>
              <a:rPr dirty="0"/>
              <a:t> con </a:t>
            </a:r>
            <a:r>
              <a:rPr dirty="0" err="1"/>
              <a:t>inteligencia</a:t>
            </a:r>
            <a:r>
              <a:rPr dirty="0"/>
              <a:t> artificial para la </a:t>
            </a:r>
            <a:r>
              <a:rPr dirty="0" err="1"/>
              <a:t>reprogramación</a:t>
            </a:r>
            <a:r>
              <a:rPr dirty="0"/>
              <a:t> </a:t>
            </a:r>
            <a:r>
              <a:rPr dirty="0" err="1"/>
              <a:t>inmediata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lenguaje</a:t>
            </a:r>
            <a:r>
              <a:rPr dirty="0"/>
              <a:t> natural bajo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estrictas</a:t>
            </a:r>
            <a:r>
              <a:rPr dirty="0"/>
              <a:t> de </a:t>
            </a:r>
            <a:r>
              <a:rPr dirty="0" err="1"/>
              <a:t>antelación</a:t>
            </a:r>
            <a:r>
              <a:rPr dirty="0"/>
              <a:t> </a:t>
            </a:r>
            <a:r>
              <a:rPr dirty="0" err="1"/>
              <a:t>horaria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000">
                <a:latin typeface="Arial"/>
              </a:defRPr>
            </a:pPr>
            <a:r>
              <a:rPr dirty="0" err="1"/>
              <a:t>Objetivo</a:t>
            </a:r>
            <a:r>
              <a:rPr dirty="0"/>
              <a:t> Central: </a:t>
            </a:r>
            <a:r>
              <a:rPr dirty="0" err="1"/>
              <a:t>Maximizar</a:t>
            </a:r>
            <a:r>
              <a:rPr dirty="0"/>
              <a:t> la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ocupación</a:t>
            </a:r>
            <a:r>
              <a:rPr dirty="0"/>
              <a:t> de las agendas </a:t>
            </a:r>
            <a:r>
              <a:rPr dirty="0" err="1"/>
              <a:t>médicas</a:t>
            </a:r>
            <a:r>
              <a:rPr dirty="0"/>
              <a:t> y </a:t>
            </a:r>
            <a:r>
              <a:rPr dirty="0" err="1"/>
              <a:t>optimizar</a:t>
            </a:r>
            <a:r>
              <a:rPr dirty="0"/>
              <a:t> la </a:t>
            </a:r>
            <a:r>
              <a:rPr dirty="0" err="1"/>
              <a:t>productividad</a:t>
            </a:r>
            <a:r>
              <a:rPr dirty="0"/>
              <a:t> del </a:t>
            </a:r>
            <a:r>
              <a:rPr dirty="0" err="1"/>
              <a:t>consultorio</a:t>
            </a:r>
            <a:r>
              <a:rPr dirty="0"/>
              <a:t> sin </a:t>
            </a:r>
            <a:r>
              <a:rPr dirty="0" err="1"/>
              <a:t>incurrir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costos</a:t>
            </a:r>
            <a:r>
              <a:rPr dirty="0"/>
              <a:t> de personal </a:t>
            </a:r>
            <a:r>
              <a:rPr dirty="0" err="1"/>
              <a:t>administrativo</a:t>
            </a:r>
            <a:r>
              <a:rPr dirty="0"/>
              <a:t> </a:t>
            </a:r>
            <a:r>
              <a:rPr dirty="0" err="1"/>
              <a:t>dedicado</a:t>
            </a:r>
            <a:r>
              <a:rPr dirty="0"/>
              <a:t>.</a:t>
            </a: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OBJETIVOS DEL PROYECTO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785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2.1 Objetivo General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Desarrollar e implementar un sistema de información web para la gestión de citas médicas de medicina general que automatice la programación, reprogramación y seguimiento de consultas presenciales y virtuales, incorporando notificaciones por correo y un asistente conversacional inteligente para minimizar las inasistencias.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50" b="1">
                <a:solidFill>
                  <a:srgbClr val="006633"/>
                </a:solidFill>
                <a:latin typeface="Arial"/>
              </a:defRPr>
            </a:pPr>
            <a:r>
              <a:t>2.2 Objetivos Específicos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Elicitar y especificar el catálogo formal de requisitos bajo el estándar IEEE 830 y modelar los procesos de negocio en BPMN.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Estructurar la arquitectura y modelo relacional en PostgreSQL garantizando atomicidad y prevención de Race Conditions.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Desarrollar la plataforma web responsiva (ReactJS + Node.js REST) con control de acceso por roles (RBAC).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Integrar notificaciones transaccionales SMTP y tarea programada para recordatorios 24h antes de la consulta.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Implementar el asistente conversacional con IA mediante Function Calling para reprogramaciones en lenguaje natural.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Validar la solución mediante pruebas unitarias, de concurrencia y despliegue del entorno web responsivo.</a:t>
            </a: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ALCANCE DEL SISTEMA</a:t>
            </a:r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56"/>
              <a:buFont typeface="Noto Sans Symbols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3.1 Alcance Incluido: Módulos de Gestión y Acceso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Registro y Validación de Pacientes: Cuentas de pacientes mediante validación de identidad con código temporal de activación vía correo electrónico (15 minutos de vigencia).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Auto-Registro Médico y Licencias: Captura de datos de consultorio y recepción obligatoria de la licencia profesional en formato digital PDF (máx. 5 MB).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Panel de Auditoría Administrativa: Validación de credenciales médicas con opciones de aprobación, subsanación o veto definitivo.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Autenticación Segura (RBAC): Control de acceso basado en roles (Paciente, Médico, Administrador) y recuperación de credenciales mediante tokens de corta duración.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Parametrización de Jornadas: Configuración médica de jornadas laborales, duración de citas, recesos de descanso y modalidad de atención (presencial o teleconsulta).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Catálogo en Tiempo Real: Publicación de turnos libres sincronizados directamente con la base de datos transaccional.</a:t>
            </a: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ALCANCE DEL SISTEMA</a:t>
            </a:r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56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rPr dirty="0"/>
              <a:t>3.2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Incluido</a:t>
            </a:r>
            <a:r>
              <a:rPr dirty="0"/>
              <a:t>: Motor </a:t>
            </a:r>
            <a:r>
              <a:rPr dirty="0" err="1"/>
              <a:t>Transaccional</a:t>
            </a:r>
            <a:r>
              <a:rPr dirty="0"/>
              <a:t>, IA y </a:t>
            </a:r>
            <a:r>
              <a:rPr dirty="0" err="1"/>
              <a:t>Reportes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• </a:t>
            </a:r>
            <a:r>
              <a:rPr dirty="0" err="1"/>
              <a:t>Bloqueo</a:t>
            </a:r>
            <a:r>
              <a:rPr dirty="0"/>
              <a:t> </a:t>
            </a:r>
            <a:r>
              <a:rPr dirty="0" err="1"/>
              <a:t>Preventivo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Concurrencia</a:t>
            </a:r>
            <a:r>
              <a:rPr dirty="0"/>
              <a:t>: </a:t>
            </a:r>
            <a:r>
              <a:rPr dirty="0" err="1"/>
              <a:t>Mecanismo</a:t>
            </a:r>
            <a:r>
              <a:rPr dirty="0"/>
              <a:t> de </a:t>
            </a:r>
            <a:r>
              <a:rPr dirty="0" err="1"/>
              <a:t>congelamiento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5 </a:t>
            </a:r>
            <a:r>
              <a:rPr dirty="0" err="1"/>
              <a:t>minutos</a:t>
            </a:r>
            <a:r>
              <a:rPr dirty="0"/>
              <a:t> para </a:t>
            </a:r>
            <a:r>
              <a:rPr dirty="0" err="1"/>
              <a:t>reservar</a:t>
            </a:r>
            <a:r>
              <a:rPr dirty="0"/>
              <a:t> </a:t>
            </a:r>
            <a:r>
              <a:rPr dirty="0" err="1"/>
              <a:t>temporalmente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cupo</a:t>
            </a:r>
            <a:r>
              <a:rPr dirty="0"/>
              <a:t> </a:t>
            </a:r>
            <a:r>
              <a:rPr dirty="0" err="1"/>
              <a:t>seleccionado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paciente</a:t>
            </a:r>
            <a:r>
              <a:rPr dirty="0"/>
              <a:t>, </a:t>
            </a:r>
            <a:r>
              <a:rPr dirty="0" err="1"/>
              <a:t>evitando</a:t>
            </a:r>
            <a:r>
              <a:rPr dirty="0"/>
              <a:t> </a:t>
            </a:r>
            <a:r>
              <a:rPr dirty="0" err="1"/>
              <a:t>colisiones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• </a:t>
            </a:r>
            <a:r>
              <a:rPr dirty="0" err="1"/>
              <a:t>Transacciones</a:t>
            </a:r>
            <a:r>
              <a:rPr dirty="0"/>
              <a:t> </a:t>
            </a:r>
            <a:r>
              <a:rPr dirty="0" err="1"/>
              <a:t>Atómicas</a:t>
            </a:r>
            <a:r>
              <a:rPr dirty="0"/>
              <a:t> (ACID): </a:t>
            </a:r>
            <a:r>
              <a:rPr dirty="0" err="1"/>
              <a:t>Consolidación</a:t>
            </a:r>
            <a:r>
              <a:rPr dirty="0"/>
              <a:t> de </a:t>
            </a:r>
            <a:r>
              <a:rPr dirty="0" err="1"/>
              <a:t>reservas</a:t>
            </a:r>
            <a:r>
              <a:rPr dirty="0"/>
              <a:t> </a:t>
            </a:r>
            <a:r>
              <a:rPr dirty="0" err="1"/>
              <a:t>evitando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duplicados</a:t>
            </a:r>
            <a:r>
              <a:rPr dirty="0"/>
              <a:t> o </a:t>
            </a:r>
            <a:r>
              <a:rPr dirty="0" err="1"/>
              <a:t>solapamientos</a:t>
            </a:r>
            <a:r>
              <a:rPr dirty="0"/>
              <a:t> </a:t>
            </a:r>
            <a:r>
              <a:rPr dirty="0" err="1"/>
              <a:t>horarios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milisegundos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• </a:t>
            </a:r>
            <a:r>
              <a:rPr dirty="0" err="1"/>
              <a:t>Notificaciones</a:t>
            </a:r>
            <a:r>
              <a:rPr dirty="0"/>
              <a:t> </a:t>
            </a:r>
            <a:r>
              <a:rPr dirty="0" err="1"/>
              <a:t>Transaccionales</a:t>
            </a:r>
            <a:r>
              <a:rPr dirty="0"/>
              <a:t> SMTP: </a:t>
            </a:r>
            <a:r>
              <a:rPr dirty="0" err="1"/>
              <a:t>Emisión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ante </a:t>
            </a:r>
            <a:r>
              <a:rPr dirty="0" err="1"/>
              <a:t>agendamientos</a:t>
            </a:r>
            <a:r>
              <a:rPr dirty="0"/>
              <a:t>, </a:t>
            </a:r>
            <a:r>
              <a:rPr dirty="0" err="1"/>
              <a:t>cancelaciones</a:t>
            </a:r>
            <a:r>
              <a:rPr dirty="0"/>
              <a:t> </a:t>
            </a:r>
            <a:r>
              <a:rPr dirty="0" err="1"/>
              <a:t>justificadas</a:t>
            </a:r>
            <a:r>
              <a:rPr dirty="0"/>
              <a:t> y </a:t>
            </a:r>
            <a:r>
              <a:rPr dirty="0" err="1"/>
              <a:t>cambios</a:t>
            </a:r>
            <a:r>
              <a:rPr dirty="0"/>
              <a:t> de </a:t>
            </a:r>
            <a:r>
              <a:rPr dirty="0" err="1"/>
              <a:t>horario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• </a:t>
            </a:r>
            <a:r>
              <a:rPr dirty="0" err="1"/>
              <a:t>Recordatorios</a:t>
            </a:r>
            <a:r>
              <a:rPr dirty="0"/>
              <a:t> </a:t>
            </a:r>
            <a:r>
              <a:rPr dirty="0" err="1"/>
              <a:t>Preventivos</a:t>
            </a:r>
            <a:r>
              <a:rPr dirty="0"/>
              <a:t> 24h: </a:t>
            </a:r>
            <a:r>
              <a:rPr dirty="0" err="1"/>
              <a:t>Tarea</a:t>
            </a:r>
            <a:r>
              <a:rPr dirty="0"/>
              <a:t> </a:t>
            </a:r>
            <a:r>
              <a:rPr dirty="0" err="1"/>
              <a:t>programada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segundo</a:t>
            </a:r>
            <a:r>
              <a:rPr dirty="0"/>
              <a:t> plano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envío</a:t>
            </a:r>
            <a:r>
              <a:rPr dirty="0"/>
              <a:t> de </a:t>
            </a:r>
            <a:r>
              <a:rPr dirty="0" err="1"/>
              <a:t>recordatorios</a:t>
            </a:r>
            <a:r>
              <a:rPr dirty="0"/>
              <a:t> </a:t>
            </a:r>
            <a:r>
              <a:rPr dirty="0" err="1"/>
              <a:t>exactamente</a:t>
            </a:r>
            <a:r>
              <a:rPr dirty="0"/>
              <a:t> 24 horas antes de la consulta.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•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Conversacional</a:t>
            </a:r>
            <a:r>
              <a:rPr dirty="0"/>
              <a:t> con IA: </a:t>
            </a:r>
            <a:r>
              <a:rPr dirty="0" err="1"/>
              <a:t>Interpretación</a:t>
            </a:r>
            <a:r>
              <a:rPr dirty="0"/>
              <a:t> de solicitudes de </a:t>
            </a:r>
            <a:r>
              <a:rPr dirty="0" err="1"/>
              <a:t>reprogramación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lenguaje</a:t>
            </a:r>
            <a:r>
              <a:rPr dirty="0"/>
              <a:t> natural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invocación</a:t>
            </a:r>
            <a:r>
              <a:rPr dirty="0"/>
              <a:t> de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internas</a:t>
            </a:r>
            <a:r>
              <a:rPr dirty="0"/>
              <a:t> (Function Calling).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• </a:t>
            </a:r>
            <a:r>
              <a:rPr dirty="0" err="1"/>
              <a:t>Validación</a:t>
            </a:r>
            <a:r>
              <a:rPr dirty="0"/>
              <a:t> de </a:t>
            </a:r>
            <a:r>
              <a:rPr dirty="0" err="1"/>
              <a:t>Antelación</a:t>
            </a:r>
            <a:r>
              <a:rPr dirty="0"/>
              <a:t> </a:t>
            </a:r>
            <a:r>
              <a:rPr dirty="0" err="1"/>
              <a:t>Horaria</a:t>
            </a:r>
            <a:r>
              <a:rPr dirty="0"/>
              <a:t>: </a:t>
            </a:r>
            <a:r>
              <a:rPr dirty="0" err="1"/>
              <a:t>Verificación</a:t>
            </a:r>
            <a:r>
              <a:rPr dirty="0"/>
              <a:t> de </a:t>
            </a:r>
            <a:r>
              <a:rPr dirty="0" err="1"/>
              <a:t>parámetros</a:t>
            </a:r>
            <a:r>
              <a:rPr dirty="0"/>
              <a:t> </a:t>
            </a:r>
            <a:r>
              <a:rPr dirty="0" err="1"/>
              <a:t>mínimos</a:t>
            </a:r>
            <a:r>
              <a:rPr dirty="0"/>
              <a:t> antes de </a:t>
            </a:r>
            <a:r>
              <a:rPr dirty="0" err="1"/>
              <a:t>autorizar</a:t>
            </a:r>
            <a:r>
              <a:rPr dirty="0"/>
              <a:t> la </a:t>
            </a:r>
            <a:r>
              <a:rPr dirty="0" err="1"/>
              <a:t>reasignación</a:t>
            </a:r>
            <a:r>
              <a:rPr dirty="0"/>
              <a:t> </a:t>
            </a:r>
            <a:r>
              <a:rPr dirty="0" err="1"/>
              <a:t>asistida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• </a:t>
            </a:r>
            <a:r>
              <a:rPr dirty="0" err="1"/>
              <a:t>Marcación</a:t>
            </a:r>
            <a:r>
              <a:rPr dirty="0"/>
              <a:t> de Estado y </a:t>
            </a:r>
            <a:r>
              <a:rPr dirty="0" err="1"/>
              <a:t>Reportes</a:t>
            </a:r>
            <a:r>
              <a:rPr dirty="0"/>
              <a:t>: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médico</a:t>
            </a:r>
            <a:r>
              <a:rPr dirty="0"/>
              <a:t> de consulta </a:t>
            </a:r>
            <a:r>
              <a:rPr dirty="0" err="1"/>
              <a:t>atendida</a:t>
            </a:r>
            <a:r>
              <a:rPr dirty="0"/>
              <a:t>/</a:t>
            </a:r>
            <a:r>
              <a:rPr dirty="0" err="1"/>
              <a:t>inasistencia</a:t>
            </a:r>
            <a:r>
              <a:rPr dirty="0"/>
              <a:t> y </a:t>
            </a:r>
            <a:r>
              <a:rPr dirty="0" err="1"/>
              <a:t>exportación</a:t>
            </a:r>
            <a:r>
              <a:rPr dirty="0"/>
              <a:t> de </a:t>
            </a:r>
            <a:r>
              <a:rPr dirty="0" err="1"/>
              <a:t>reportes</a:t>
            </a:r>
            <a:r>
              <a:rPr dirty="0"/>
              <a:t> </a:t>
            </a:r>
            <a:r>
              <a:rPr dirty="0" err="1"/>
              <a:t>consolidados</a:t>
            </a:r>
            <a:r>
              <a:rPr dirty="0"/>
              <a:t> a PDF y hojas de </a:t>
            </a:r>
            <a:r>
              <a:rPr dirty="0" err="1"/>
              <a:t>cálculo</a:t>
            </a:r>
            <a:r>
              <a:rPr dirty="0"/>
              <a:t>.</a:t>
            </a: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lang="es-EC" sz="1300" dirty="0">
                <a:solidFill>
                  <a:srgbClr val="9EB3AF"/>
                </a:solidFill>
              </a:rPr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ALCANCE DEL SISTEMA</a:t>
            </a:r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785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rPr dirty="0"/>
              <a:t>3.3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Excluido</a:t>
            </a:r>
            <a:r>
              <a:rPr dirty="0"/>
              <a:t> (</a:t>
            </a:r>
            <a:r>
              <a:rPr dirty="0" err="1"/>
              <a:t>Límites</a:t>
            </a:r>
            <a:r>
              <a:rPr dirty="0"/>
              <a:t> y Fronteras del Proyecto)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123444" indent="0">
              <a:spcBef>
                <a:spcPts val="100"/>
              </a:spcBef>
              <a:spcAft>
                <a:spcPts val="200"/>
              </a:spcAft>
              <a:buNone/>
              <a:defRPr sz="950">
                <a:latin typeface="Arial"/>
              </a:defRPr>
            </a:pPr>
            <a:r>
              <a:rPr dirty="0"/>
              <a:t>Para </a:t>
            </a:r>
            <a:r>
              <a:rPr dirty="0" err="1"/>
              <a:t>garantizar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control </a:t>
            </a:r>
            <a:r>
              <a:rPr dirty="0" err="1"/>
              <a:t>riguroso</a:t>
            </a:r>
            <a:r>
              <a:rPr dirty="0"/>
              <a:t> del </a:t>
            </a:r>
            <a:r>
              <a:rPr dirty="0" err="1"/>
              <a:t>alcance</a:t>
            </a:r>
            <a:r>
              <a:rPr dirty="0"/>
              <a:t> y la </a:t>
            </a:r>
            <a:r>
              <a:rPr dirty="0" err="1"/>
              <a:t>calidad</a:t>
            </a:r>
            <a:r>
              <a:rPr dirty="0"/>
              <a:t> del software, se </a:t>
            </a:r>
            <a:r>
              <a:rPr dirty="0" err="1"/>
              <a:t>definen</a:t>
            </a:r>
            <a:r>
              <a:rPr dirty="0"/>
              <a:t> las </a:t>
            </a:r>
            <a:r>
              <a:rPr dirty="0" err="1"/>
              <a:t>siguientes</a:t>
            </a:r>
            <a:r>
              <a:rPr dirty="0"/>
              <a:t> </a:t>
            </a:r>
            <a:r>
              <a:rPr dirty="0" err="1"/>
              <a:t>exclusiones</a:t>
            </a:r>
            <a:r>
              <a:rPr dirty="0"/>
              <a:t>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Pasarelas</a:t>
            </a:r>
            <a:r>
              <a:rPr dirty="0"/>
              <a:t> de Pago: No </a:t>
            </a:r>
            <a:r>
              <a:rPr dirty="0" err="1"/>
              <a:t>procesará</a:t>
            </a:r>
            <a:r>
              <a:rPr dirty="0"/>
              <a:t> </a:t>
            </a:r>
            <a:r>
              <a:rPr dirty="0" err="1"/>
              <a:t>transacciones</a:t>
            </a:r>
            <a:r>
              <a:rPr dirty="0"/>
              <a:t> </a:t>
            </a:r>
            <a:r>
              <a:rPr dirty="0" err="1"/>
              <a:t>bancarias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línea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emisión</a:t>
            </a:r>
            <a:r>
              <a:rPr dirty="0"/>
              <a:t> de </a:t>
            </a:r>
            <a:r>
              <a:rPr dirty="0" err="1"/>
              <a:t>comprobantes</a:t>
            </a:r>
            <a:r>
              <a:rPr dirty="0"/>
              <a:t> </a:t>
            </a:r>
            <a:r>
              <a:rPr dirty="0" err="1"/>
              <a:t>fiscales</a:t>
            </a:r>
            <a:r>
              <a:rPr dirty="0"/>
              <a:t> </a:t>
            </a:r>
            <a:r>
              <a:rPr dirty="0" err="1"/>
              <a:t>tributarios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/>
              <a:t>Historia </a:t>
            </a:r>
            <a:r>
              <a:rPr dirty="0" err="1"/>
              <a:t>Clínica</a:t>
            </a:r>
            <a:r>
              <a:rPr dirty="0"/>
              <a:t> </a:t>
            </a:r>
            <a:r>
              <a:rPr dirty="0" err="1"/>
              <a:t>Detallada</a:t>
            </a:r>
            <a:r>
              <a:rPr dirty="0"/>
              <a:t>: No </a:t>
            </a:r>
            <a:r>
              <a:rPr dirty="0" err="1"/>
              <a:t>gestionará</a:t>
            </a:r>
            <a:r>
              <a:rPr dirty="0"/>
              <a:t> </a:t>
            </a:r>
            <a:r>
              <a:rPr dirty="0" err="1"/>
              <a:t>historias</a:t>
            </a:r>
            <a:r>
              <a:rPr dirty="0"/>
              <a:t> </a:t>
            </a:r>
            <a:r>
              <a:rPr dirty="0" err="1"/>
              <a:t>clínicas</a:t>
            </a:r>
            <a:r>
              <a:rPr dirty="0"/>
              <a:t> </a:t>
            </a:r>
            <a:r>
              <a:rPr dirty="0" err="1"/>
              <a:t>completas</a:t>
            </a:r>
            <a:r>
              <a:rPr dirty="0"/>
              <a:t>, </a:t>
            </a:r>
            <a:r>
              <a:rPr dirty="0" err="1"/>
              <a:t>recetas</a:t>
            </a:r>
            <a:r>
              <a:rPr dirty="0"/>
              <a:t> </a:t>
            </a:r>
            <a:r>
              <a:rPr dirty="0" err="1"/>
              <a:t>farmacológicas</a:t>
            </a:r>
            <a:r>
              <a:rPr dirty="0"/>
              <a:t> </a:t>
            </a:r>
            <a:r>
              <a:rPr dirty="0" err="1"/>
              <a:t>estructuradas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codificación</a:t>
            </a:r>
            <a:r>
              <a:rPr dirty="0"/>
              <a:t> </a:t>
            </a:r>
            <a:r>
              <a:rPr dirty="0" err="1"/>
              <a:t>diagnóstica</a:t>
            </a:r>
            <a:r>
              <a:rPr dirty="0"/>
              <a:t> CIE-10.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Subespecialidades</a:t>
            </a:r>
            <a:r>
              <a:rPr dirty="0"/>
              <a:t> </a:t>
            </a:r>
            <a:r>
              <a:rPr dirty="0" err="1"/>
              <a:t>Complejas</a:t>
            </a:r>
            <a:r>
              <a:rPr dirty="0"/>
              <a:t>: No </a:t>
            </a:r>
            <a:r>
              <a:rPr dirty="0" err="1"/>
              <a:t>abarcará</a:t>
            </a:r>
            <a:r>
              <a:rPr dirty="0"/>
              <a:t> </a:t>
            </a:r>
            <a:r>
              <a:rPr dirty="0" err="1"/>
              <a:t>administración</a:t>
            </a:r>
            <a:r>
              <a:rPr dirty="0"/>
              <a:t> de agendas </a:t>
            </a:r>
            <a:r>
              <a:rPr dirty="0" err="1"/>
              <a:t>quirúrgicas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triaje</a:t>
            </a:r>
            <a:r>
              <a:rPr dirty="0"/>
              <a:t> </a:t>
            </a:r>
            <a:r>
              <a:rPr dirty="0" err="1"/>
              <a:t>hospitalario</a:t>
            </a:r>
            <a:r>
              <a:rPr dirty="0"/>
              <a:t> de </a:t>
            </a:r>
            <a:r>
              <a:rPr dirty="0" err="1"/>
              <a:t>emergencias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Mensajería</a:t>
            </a:r>
            <a:r>
              <a:rPr dirty="0"/>
              <a:t> SMS o WhatsApp: No </a:t>
            </a:r>
            <a:r>
              <a:rPr dirty="0" err="1"/>
              <a:t>transmitirá</a:t>
            </a:r>
            <a:r>
              <a:rPr dirty="0"/>
              <a:t> </a:t>
            </a:r>
            <a:r>
              <a:rPr dirty="0" err="1"/>
              <a:t>avisos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códigos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SMS </a:t>
            </a:r>
            <a:r>
              <a:rPr dirty="0" err="1"/>
              <a:t>comercial</a:t>
            </a:r>
            <a:r>
              <a:rPr dirty="0"/>
              <a:t> o APIs de WhatsApp.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Móviles</a:t>
            </a:r>
            <a:r>
              <a:rPr dirty="0"/>
              <a:t> </a:t>
            </a:r>
            <a:r>
              <a:rPr dirty="0" err="1"/>
              <a:t>Nativas</a:t>
            </a:r>
            <a:r>
              <a:rPr dirty="0"/>
              <a:t>: No </a:t>
            </a:r>
            <a:r>
              <a:rPr dirty="0" err="1"/>
              <a:t>comprenderá</a:t>
            </a:r>
            <a:r>
              <a:rPr dirty="0"/>
              <a:t>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publicación</a:t>
            </a:r>
            <a:r>
              <a:rPr dirty="0"/>
              <a:t> de apps </a:t>
            </a:r>
            <a:r>
              <a:rPr dirty="0" err="1"/>
              <a:t>nativas</a:t>
            </a:r>
            <a:r>
              <a:rPr dirty="0"/>
              <a:t> para Android o iOS (</a:t>
            </a:r>
            <a:r>
              <a:rPr dirty="0" err="1"/>
              <a:t>enfocado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Web </a:t>
            </a:r>
            <a:r>
              <a:rPr dirty="0" err="1"/>
              <a:t>Responsiva</a:t>
            </a:r>
            <a:r>
              <a:rPr dirty="0"/>
              <a:t>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Transmisión</a:t>
            </a:r>
            <a:r>
              <a:rPr dirty="0"/>
              <a:t> WebRTC Interna: No </a:t>
            </a:r>
            <a:r>
              <a:rPr dirty="0" err="1"/>
              <a:t>alojará</a:t>
            </a:r>
            <a:r>
              <a:rPr dirty="0"/>
              <a:t> </a:t>
            </a:r>
            <a:r>
              <a:rPr dirty="0" err="1"/>
              <a:t>servidores</a:t>
            </a:r>
            <a:r>
              <a:rPr dirty="0"/>
              <a:t> </a:t>
            </a:r>
            <a:r>
              <a:rPr dirty="0" err="1"/>
              <a:t>propios</a:t>
            </a:r>
            <a:r>
              <a:rPr dirty="0"/>
              <a:t> de video </a:t>
            </a:r>
            <a:r>
              <a:rPr dirty="0" err="1"/>
              <a:t>ni</a:t>
            </a:r>
            <a:r>
              <a:rPr dirty="0"/>
              <a:t> WebRTC para </a:t>
            </a:r>
            <a:r>
              <a:rPr dirty="0" err="1"/>
              <a:t>teleconsultas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Diagnósticos</a:t>
            </a:r>
            <a:r>
              <a:rPr dirty="0"/>
              <a:t> </a:t>
            </a:r>
            <a:r>
              <a:rPr dirty="0" err="1"/>
              <a:t>Clínicos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IA: No </a:t>
            </a:r>
            <a:r>
              <a:rPr dirty="0" err="1"/>
              <a:t>resolverá</a:t>
            </a:r>
            <a:r>
              <a:rPr dirty="0"/>
              <a:t> </a:t>
            </a:r>
            <a:r>
              <a:rPr dirty="0" err="1"/>
              <a:t>consultas</a:t>
            </a:r>
            <a:r>
              <a:rPr dirty="0"/>
              <a:t> de </a:t>
            </a:r>
            <a:r>
              <a:rPr dirty="0" err="1"/>
              <a:t>salud</a:t>
            </a:r>
            <a:r>
              <a:rPr dirty="0"/>
              <a:t>, </a:t>
            </a:r>
            <a:r>
              <a:rPr dirty="0" err="1"/>
              <a:t>diagnósticos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reservas</a:t>
            </a:r>
            <a:r>
              <a:rPr dirty="0"/>
              <a:t> de </a:t>
            </a:r>
            <a:r>
              <a:rPr dirty="0" err="1"/>
              <a:t>citas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cero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.</a:t>
            </a: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lang="es-EC" sz="1300" dirty="0">
                <a:solidFill>
                  <a:srgbClr val="9EB3AF"/>
                </a:solidFill>
              </a:rPr>
              <a:t>ALCANCE INCLUIDO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lang="es-EC"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METODOLOGÍA DE DESARROLLO</a:t>
            </a:r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56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4.1 Marco de Trabajo: Scrum Híbrido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El proyecto adopta un marco ágil basado en Scrum híbrido, estructurado en iteraciones cortas (Sprints de 2 semanas) y complementado con las etapas formales del ciclo de vida de la ingeniería de software: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1. Elicitación y especificación: Catálogo formal de requisitos bajo el estándar IEEE 830.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2. Modelado de procesos BPMN: Flujo del negocio en Bizagi Modeler y matriz técnica de actividades.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3. Arquitectura y Prototipado: Modelo relacional en PostgreSQL, especificación de casos de uso y wireframes web responsivos.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4. Codificación modular: Interfaces en ReactJS, lógica transaccional en Node.js REST, mensajería SMTP y asistente de IA.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5. Pruebas y Aseguramiento: Pruebas estáticas, unitarias, de estrés para concurrencia en reservas, validación de reglas temporales y pruebas E2E.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6. Puesta en producción: Despliegue del entorno web responsivo, elaboración de manuales y validación final frente a criterios de aceptación.</a:t>
            </a: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EQUIPO DE TRABAJO</a:t>
            </a:r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77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5.1 Roles y Asignación de Responsabilidades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El equipo de trabajo está conformado por dos integrantes: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Daniela Tituaña Moreno: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Roles: Analista de Requisitos, Diseñadora UI/UX y Desarrolladora Frontend.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Responsabilidades: Levantamiento de especificaciones bajo IEEE 830, prototipado web responsivo, diseño de componentes en ReactJS + Tailwind CSS y validaciones de interfaz.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Gustavo Molina: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Roles: Analista de Requisitos, Arquitecto de Software y Desarrollador Backend/Datos.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Responsabilidades: Modelado relacional en PostgreSQL, control de concurrencia y transacciones atómicas, servicios de mensajería SMTP y lógica del asistente conversacional con IA (Function Calling).</a:t>
            </a: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b="1" dirty="0">
                <a:solidFill>
                  <a:schemeClr val="bg1"/>
                </a:solidFill>
              </a:rPr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PLANIFICACIÓN EN LINEAR</a:t>
            </a:r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50" b="1">
                <a:solidFill>
                  <a:srgbClr val="006633"/>
                </a:solidFill>
                <a:latin typeface="Arial"/>
              </a:defRPr>
            </a:pPr>
            <a:r>
              <a:t>6.1 Cronograma Dinámico de Sprints y Fases (Linear) - Parte 1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Link cronograma Linear: https://linear.app/cm-construccion/projects/all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Planificación de 18 semanas de ejecución estructurada en nueve ciclos quincenales continuos: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1 / Sprint 0 (26 Oct – 08 Nov 2026):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Consolidación de requisitos, modelado BPMN en Bizagi y arquitectura de datos PostgreSQL correspondientes al cierre del primer parcial.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2 / Sprint 1 (09 Nov – 22 Nov 2026):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Desarrollo de autenticación, control de accesos RBAC y validación de cuentas por correo electrónico.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3 / Sprint 2 (23 Nov – 06 Dic 2026):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Implementación del registro médico con carga de licencias en PDF y panel administrativo de auditoría.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4 / Sprint 3 (07 Dic – 20 Dic 2026):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Módulo de configuración de jornadas laborales, descansos y publicación de cupos presenciales y virtuales.</a:t>
            </a: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b="1" dirty="0">
                <a:solidFill>
                  <a:schemeClr val="bg1"/>
                </a:solidFill>
              </a:rPr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PLANIFICACIÓN EN LINEAR</a:t>
            </a:r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 lnSpcReduction="20000"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77"/>
              <a:buFont typeface="Cambria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6.2 Cronograma Dinámico de Sprints y Fases (Linear) - Parte 2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5 / Sprint 4 (21 Dic – 03 Ene 2027):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Motor transaccional de reservas con bloqueo preventivo de 5 minutos y servicio de notificaciones SMTP.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6 / Sprint 5 (04 Ene – 17 Ene 2027):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Integración del asistente conversacional con inteligencia artificial para reprogramación bajo reglas de antelación.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7 / Sprint 6 (18 Ene – 31 Ene 2027):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Marcación médica de asistencia (atendida/inasistencia), exportación de reportes a PDF o Excel y módulo de bajas lógicas.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8 / Sprint 7 (01 Feb – 14 Feb 2027):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Batería transversal de pruebas de estrés para reservas simultáneas y pruebas integrales de extremo a extremo.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Cycle 9 / Cierre (15 Feb – 28 Feb 2027):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Despliegue final del entorno web, manuales de usuario y sustentación final del proyecto.</a:t>
            </a: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b="1" dirty="0">
                <a:solidFill>
                  <a:schemeClr val="bg1"/>
                </a:solidFill>
              </a:rPr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CONCLUSIONES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ARTEFACTOS ENTREGABLES</a:t>
            </a:r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77"/>
              <a:buFont typeface="Cambria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7.1 Instrumentos Documentales y Técnicos Entregables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Los instrumentos elaborados para respaldar la calidad de la solución son: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1. Catálogo formal de requerimientos: Especificación SRS bajo estándar IEEE 830 (funcionales, no funcionales y límites).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2. Modelado de procesos (BPMN): Diagramas de flujo en Bizagi Modeler documentando paciente, médico y administración.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3. Fichas de detalle: Entradas, reglas de negocio y salidas de cada tarea del proceso.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4. Diagrama de Casos de Uso: Representación de actores y escenarios de interacción con el sistema web.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5. Matriz de trazabilidad: Mapeo de necesidades operativas frente a los módulos y componentes de software.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6. Esquema relacional de base de datos: Modelo conceptual y físico en PostgreSQL con claves foráneas, restricciones y estados de concurrencia.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7. Bocetos visuales UI/UX: Wireframes y pantallas adaptables para entornos de escritorio y dispositivos móviles.</a:t>
            </a: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419"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CRONOGRAMA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lang="es-419"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lang="es-419" sz="1300" dirty="0"/>
              <a:t>CONCLUSIONES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SEGURIDAD Y REQUISITOS</a:t>
            </a:r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77"/>
              <a:buFont typeface="Cambria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8.1 Requisitos de Seguridad Técnica y Reglas No Funcionales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Protección de Credenciales: Hashing unidireccional Argon2id o bcrypt. No admite cifrado reversible.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Cifrado de Comunicaciones: Transmisión web obligatoria bajo protocolo seguro HTTPS con certificados TLS activos.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Control de Acceso (RBAC): Permisos diferenciados para Paciente, Médico y Administrador (restringe vistas y endpoints).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Tokens Temporales: Códigos de activación y enlaces de restablecimiento con caducidad estricta de 15 minutos vía correo.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Bloqueo de Sesiones: Inhabilitación temporal de la cuenta por 15 minutos tras registrar 5 intentos fallidos consecutivos.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Auditoría de Licencias: Cuentas médicas inactivas hasta validación administrativa del título profesional en formato digital.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Validación de Documentos: Inspección de archivos adjuntos restringida a formato PDF con tamaño máximo de 5 MB.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Aislamiento en Agente IA: Operación mediante llamadas a funciones internas validadas (Function Calling). Bloquea escrituras directas.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Persistencia por Baja Lógica: Desactivación de registros (Soft Delete) preservando intacto el historial para auditorías.</a:t>
            </a: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RIESGOS Y RESTRICCIONES</a:t>
            </a:r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SzPts val="1677"/>
              <a:buFont typeface="Cambria"/>
              <a:buChar char="∙"/>
              <a:defRPr sz="1150" b="1">
                <a:solidFill>
                  <a:srgbClr val="006633"/>
                </a:solidFill>
                <a:latin typeface="Arial"/>
              </a:defRPr>
            </a:pPr>
            <a:r>
              <a:t>9.1 Restricciones, Supuestos y Matriz de Riesgos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Restricciones del Sistema: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Plataforma exclusivamente web responsiva para navegadores modernos (HTML5/CSS3).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Conectividad a Internet constante requerida para sincronización transaccional.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Licencias médicas restringidas estrictamente a formato PDF (≤ 5 MB).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Validación obligatoria de antelación mínima de 24 horas para reprogramaciones con IA.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Supuestos de Operación: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Los médicos poseen títulos habilitantes válidos y disponibilidad horaria real.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Los pacientes cuentan con acceso a correo electrónico para recibir códigos y recordatorios.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• Matriz de Riesgos y Mitigación: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Colisiones en reservas concurrentes: Mitigado con transacciones atómicas y bloqueo pesimista en PostgreSQL.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Fallas de entrega en SMTP: Mitigado con tabla de trazabilidad LOG_NOTIFICACION_SMTP y cola de reintentos.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t>  - Alucinaciones del Agente IA: Mitigado con Function Calling aislado sin acceso directo a SQL.</a:t>
            </a: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0000" y="450000"/>
            <a:ext cx="83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000" b="1">
                <a:latin typeface="Arial"/>
              </a:defRPr>
            </a:pPr>
            <a:r>
              <a:t>CONCLUSIONES Y CIERRE</a:t>
            </a:r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0000" y="1350000"/>
            <a:ext cx="840000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80" bIns="0" anchor="ctr" anchorCtr="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50" b="1">
                <a:solidFill>
                  <a:srgbClr val="006633"/>
                </a:solidFill>
                <a:latin typeface="Arial"/>
              </a:defRPr>
            </a:pPr>
            <a:r>
              <a:rPr dirty="0"/>
              <a:t>10.1 </a:t>
            </a:r>
            <a:r>
              <a:rPr dirty="0" err="1"/>
              <a:t>Conclusiones</a:t>
            </a:r>
            <a:r>
              <a:rPr dirty="0"/>
              <a:t> y </a:t>
            </a:r>
            <a:r>
              <a:rPr dirty="0" err="1"/>
              <a:t>Próximos</a:t>
            </a:r>
            <a:r>
              <a:rPr dirty="0"/>
              <a:t> Pasos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Automatización</a:t>
            </a:r>
            <a:r>
              <a:rPr dirty="0"/>
              <a:t> Total del </a:t>
            </a:r>
            <a:r>
              <a:rPr dirty="0" err="1"/>
              <a:t>Consultorio</a:t>
            </a:r>
            <a:r>
              <a:rPr dirty="0"/>
              <a:t>: </a:t>
            </a:r>
            <a:r>
              <a:rPr dirty="0" err="1"/>
              <a:t>Eliminación</a:t>
            </a:r>
            <a:r>
              <a:rPr dirty="0"/>
              <a:t> de </a:t>
            </a:r>
            <a:r>
              <a:rPr dirty="0" err="1"/>
              <a:t>ineficiencias</a:t>
            </a:r>
            <a:r>
              <a:rPr dirty="0"/>
              <a:t> y </a:t>
            </a:r>
            <a:r>
              <a:rPr dirty="0" err="1"/>
              <a:t>ausentismo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práctica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</a:t>
            </a:r>
            <a:r>
              <a:rPr dirty="0" err="1"/>
              <a:t>independiente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reservas</a:t>
            </a:r>
            <a:r>
              <a:rPr dirty="0"/>
              <a:t> </a:t>
            </a:r>
            <a:r>
              <a:rPr dirty="0" err="1"/>
              <a:t>concurrentes</a:t>
            </a:r>
            <a:r>
              <a:rPr dirty="0"/>
              <a:t> y </a:t>
            </a:r>
            <a:r>
              <a:rPr dirty="0" err="1"/>
              <a:t>recordatorios</a:t>
            </a:r>
            <a:r>
              <a:rPr dirty="0"/>
              <a:t> </a:t>
            </a:r>
            <a:r>
              <a:rPr dirty="0" err="1"/>
              <a:t>automatizados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Concurrente</a:t>
            </a:r>
            <a:r>
              <a:rPr dirty="0"/>
              <a:t> y Segura: Motor </a:t>
            </a:r>
            <a:r>
              <a:rPr dirty="0" err="1"/>
              <a:t>transaccional</a:t>
            </a:r>
            <a:r>
              <a:rPr dirty="0"/>
              <a:t> con </a:t>
            </a:r>
            <a:r>
              <a:rPr dirty="0" err="1"/>
              <a:t>bloqueo</a:t>
            </a:r>
            <a:r>
              <a:rPr dirty="0"/>
              <a:t> </a:t>
            </a:r>
            <a:r>
              <a:rPr dirty="0" err="1"/>
              <a:t>pesimista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PostgreSQL, control RBAC y hashing </a:t>
            </a:r>
            <a:r>
              <a:rPr dirty="0" err="1"/>
              <a:t>robusto</a:t>
            </a:r>
            <a:r>
              <a:rPr dirty="0"/>
              <a:t> (Argon2id/</a:t>
            </a:r>
            <a:r>
              <a:rPr dirty="0" err="1"/>
              <a:t>bcrypt</a:t>
            </a:r>
            <a:r>
              <a:rPr dirty="0"/>
              <a:t>).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Inteligencia</a:t>
            </a:r>
            <a:r>
              <a:rPr dirty="0"/>
              <a:t> Artificial </a:t>
            </a:r>
            <a:r>
              <a:rPr dirty="0" err="1"/>
              <a:t>Aplicada</a:t>
            </a:r>
            <a:r>
              <a:rPr dirty="0"/>
              <a:t>: </a:t>
            </a:r>
            <a:r>
              <a:rPr dirty="0" err="1"/>
              <a:t>Integración</a:t>
            </a:r>
            <a:r>
              <a:rPr dirty="0"/>
              <a:t> de un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conversacional</a:t>
            </a:r>
            <a:r>
              <a:rPr dirty="0"/>
              <a:t> para </a:t>
            </a:r>
            <a:r>
              <a:rPr dirty="0" err="1"/>
              <a:t>reprogramación</a:t>
            </a:r>
            <a:r>
              <a:rPr dirty="0"/>
              <a:t> </a:t>
            </a:r>
            <a:r>
              <a:rPr dirty="0" err="1"/>
              <a:t>fluida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lenguaje</a:t>
            </a:r>
            <a:r>
              <a:rPr dirty="0"/>
              <a:t> natural </a:t>
            </a:r>
            <a:r>
              <a:rPr dirty="0" err="1"/>
              <a:t>asistida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IA </a:t>
            </a:r>
            <a:r>
              <a:rPr dirty="0" err="1"/>
              <a:t>mediante</a:t>
            </a:r>
            <a:r>
              <a:rPr dirty="0"/>
              <a:t> Function Calling bajo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horarias</a:t>
            </a:r>
            <a:r>
              <a:rPr dirty="0"/>
              <a:t> </a:t>
            </a:r>
            <a:r>
              <a:rPr dirty="0" err="1"/>
              <a:t>estrictas</a:t>
            </a:r>
            <a:r>
              <a:rPr dirty="0"/>
              <a:t>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950">
                <a:latin typeface="Arial"/>
              </a:defRPr>
            </a:pPr>
            <a:r>
              <a:rPr dirty="0" err="1"/>
              <a:t>Planificación</a:t>
            </a:r>
            <a:r>
              <a:rPr dirty="0"/>
              <a:t> </a:t>
            </a:r>
            <a:r>
              <a:rPr dirty="0" err="1"/>
              <a:t>Rigurosa</a:t>
            </a:r>
            <a:r>
              <a:rPr dirty="0"/>
              <a:t>: Control </a:t>
            </a:r>
            <a:r>
              <a:rPr dirty="0" err="1"/>
              <a:t>dinámico</a:t>
            </a:r>
            <a:r>
              <a:rPr dirty="0"/>
              <a:t> de 9 sprints </a:t>
            </a:r>
            <a:r>
              <a:rPr dirty="0" err="1"/>
              <a:t>en</a:t>
            </a:r>
            <a:r>
              <a:rPr dirty="0"/>
              <a:t> Linear </a:t>
            </a:r>
            <a:r>
              <a:rPr dirty="0" err="1"/>
              <a:t>asegurando</a:t>
            </a:r>
            <a:r>
              <a:rPr dirty="0"/>
              <a:t> </a:t>
            </a:r>
            <a:r>
              <a:rPr dirty="0" err="1"/>
              <a:t>cumplimiento</a:t>
            </a:r>
            <a:r>
              <a:rPr dirty="0"/>
              <a:t> continuo de </a:t>
            </a:r>
            <a:r>
              <a:rPr dirty="0" err="1"/>
              <a:t>especificaciones</a:t>
            </a:r>
            <a:r>
              <a:rPr dirty="0"/>
              <a:t> IEEE 830.</a:t>
            </a:r>
          </a:p>
          <a:p>
            <a:pPr marL="123444" indent="0">
              <a:spcBef>
                <a:spcPts val="100"/>
              </a:spcBef>
              <a:spcAft>
                <a:spcPts val="200"/>
              </a:spcAft>
              <a:buNone/>
              <a:defRPr sz="950">
                <a:latin typeface="Arial"/>
              </a:defRPr>
            </a:pPr>
            <a:endParaRPr dirty="0"/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INTRODUCCIÓN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OBJETIVOS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INCLUIDO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ALCANCE EXCLUIDO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METODOLOGÍA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ROLES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CRONOGRAMA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ARTEFACTOS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SEGURIDAD</a:t>
            </a:r>
          </a:p>
          <a:p>
            <a:pPr>
              <a:defRPr sz="750" b="0">
                <a:solidFill>
                  <a:srgbClr val="C8DCC8"/>
                </a:solidFill>
                <a:latin typeface="Arial"/>
              </a:defRPr>
            </a:pPr>
            <a:r>
              <a:rPr sz="1300" dirty="0"/>
              <a:t>RIESGOS</a:t>
            </a:r>
          </a:p>
          <a:p>
            <a:pPr>
              <a:defRPr sz="750" b="1">
                <a:solidFill>
                  <a:srgbClr val="FFFFFF"/>
                </a:solidFill>
                <a:latin typeface="Arial"/>
              </a:defRPr>
            </a:pPr>
            <a:r>
              <a:rPr sz="1300" dirty="0"/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2406</Words>
  <Application>Microsoft Office PowerPoint</Application>
  <PresentationFormat>Panorámica</PresentationFormat>
  <Paragraphs>303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Noto Sans Symbols</vt:lpstr>
      <vt:lpstr>Gill Sans</vt:lpstr>
      <vt:lpstr>Arial</vt:lpstr>
      <vt:lpstr>Cambria</vt:lpstr>
      <vt:lpstr>Dividendo</vt:lpstr>
      <vt:lpstr>SISTEMA DE GESTIÓN Y AGENDAMIENTO DE CITAS MÉDICAS SISTEMA DE INFORMACIÓN WEB PARA MEDICINA GENERAL (PRESENCIAL Y VIRTUAL)</vt:lpstr>
      <vt:lpstr>Presentación de PowerPoint</vt:lpstr>
      <vt:lpstr>INTRODUCCIÓN</vt:lpstr>
      <vt:lpstr>OBJETIVOS DEL PROYECTO</vt:lpstr>
      <vt:lpstr>ALCANCE DEL SISTEMA</vt:lpstr>
      <vt:lpstr>ALCANCE DEL SISTEMA</vt:lpstr>
      <vt:lpstr>ALCANCE DEL SISTEMA</vt:lpstr>
      <vt:lpstr>METODOLOGÍA DE DESARROLLO</vt:lpstr>
      <vt:lpstr>EQUIPO DE TRABAJO</vt:lpstr>
      <vt:lpstr>PLANIFICACIÓN EN LINEAR</vt:lpstr>
      <vt:lpstr>PLANIFICACIÓN EN LINEAR</vt:lpstr>
      <vt:lpstr>ARTEFACTOS ENTREGABLES</vt:lpstr>
      <vt:lpstr>SEGURIDAD Y REQUISITOS</vt:lpstr>
      <vt:lpstr>RIESGOS Y RESTRICCIONES</vt:lpstr>
      <vt:lpstr>CONCLUSIONES Y 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Daniela Tituaña</cp:lastModifiedBy>
  <cp:revision>4</cp:revision>
  <dcterms:modified xsi:type="dcterms:W3CDTF">2026-10-27T03:29:21Z</dcterms:modified>
</cp:coreProperties>
</file>