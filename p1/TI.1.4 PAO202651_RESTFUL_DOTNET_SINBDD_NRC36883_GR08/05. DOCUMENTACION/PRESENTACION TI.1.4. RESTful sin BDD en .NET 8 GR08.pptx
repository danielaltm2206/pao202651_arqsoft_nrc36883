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sldSz cx="12192000" cy="6858000"/>
  <p:notesSz cx="6858000" cy="9144000"/>
  <p:embeddedFontLst>
    <p:embeddedFont>
      <p:font typeface="Cambria" panose="02040503050406030204" pitchFamily="18" charset="0"/>
      <p:regular r:id="rId77"/>
      <p:bold r:id="rId78"/>
      <p:italic r:id="rId79"/>
      <p:boldItalic r:id="rId80"/>
    </p:embeddedFont>
    <p:embeddedFont>
      <p:font typeface="Gill Sans" panose="020B0604020202020204" charset="0"/>
      <p:regular r:id="rId81"/>
      <p:bold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36021-7255-42B7-A7E7-87A8D8FFE9CA}">
  <a:tblStyle styleId="{BF136021-7255-42B7-A7E7-87A8D8FFE9C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12"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3.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4.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8526227be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a8526227be_0_4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526227be_0_4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8526227be_0_4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8526227be_0_4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g3a8526227be_0_43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8526227be_0_4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a8526227be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8526227be_0_4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a8526227be_0_4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8526227be_0_4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g3a8526227be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526227be_0_4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g3a8526227be_0_4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8526227be_0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a8526227be_0_4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8526227be_0_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a8526227b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8526227be_0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g3a8526227b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8526227be_0_4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a8526227be_0_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8526227be_0_5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g3a8526227be_0_5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8526227be_0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3a8526227be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8526227be_0_5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a8526227be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8526227be_0_5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g3a8526227be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8526227be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g3a8526227be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8526227be_0_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3a8526227be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8526227be_0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g3a8526227be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8526227be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g3a8526227be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a8526227be_0_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g3a8526227be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a8526227be_0_5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g3a8526227be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8526227be_0_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g3a8526227be_0_5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8526227be_0_5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a8526227be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854632a9a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a854632a9a_2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854632a9a_2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a854632a9a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a854632a9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g3a854632a9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854632a9a_2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g3a854632a9a_2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a854632a9a_2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a854632a9a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a854632a9a_2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a854632a9a_2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854632a9a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8" name="Google Shape;358;g3a854632a9a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a854632a9a_2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a8526227be_0_5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5" name="Google Shape;375;g3a8526227be_0_5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a854632a9a_2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3" name="Google Shape;383;g3a854632a9a_2_8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a854632a9a_2_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2" name="Google Shape;392;g3a854632a9a_2_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a854632a9a_2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1" name="Google Shape;401;g3a854632a9a_2_1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a854632a9a_2_1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0" name="Google Shape;410;g3a854632a9a_2_1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a854632a9a_2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9" name="Google Shape;419;g3a854632a9a_2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a854632a9a_2_1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8" name="Google Shape;428;g3a854632a9a_2_1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a854632a9a_2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6" name="Google Shape;436;g3a854632a9a_2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a854632a9a_2_1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4" name="Google Shape;444;g3a854632a9a_2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a854632a9a_2_1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2" name="Google Shape;452;g3a854632a9a_2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a854632a9a_2_1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0" name="Google Shape;460;g3a854632a9a_2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a854632a9a_2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8" name="Google Shape;468;g3a854632a9a_2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a854632a9a_2_3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6" name="Google Shape;476;g3a854632a9a_2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a854632a9a_2_3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4" name="Google Shape;484;g3a854632a9a_2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a854632a9a_2_3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2" name="Google Shape;492;g3a854632a9a_2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a854632a9a_2_3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0" name="Google Shape;500;g3a854632a9a_2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a854632a9a_2_3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8" name="Google Shape;508;g3a854632a9a_2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a854632a9a_2_3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6" name="Google Shape;516;g3a854632a9a_2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a854632a9a_2_3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4" name="Google Shape;524;g3a854632a9a_2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854632a9a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2" name="Google Shape;532;g3a854632a9a_2_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a854632a9a_2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2" name="Google Shape;542;g3a854632a9a_2_2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a854632a9a_2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0" name="Google Shape;550;g3a854632a9a_2_2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a854632a9a_2_2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8" name="Google Shape;558;g3a854632a9a_2_2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a854632a9a_2_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6" name="Google Shape;566;g3a854632a9a_2_2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854632a9a_2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4" name="Google Shape;574;g3a854632a9a_2_2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a854632a9a_2_2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g3a854632a9a_2_2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a854632a9a_2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0" name="Google Shape;590;g3a854632a9a_2_2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a854632a9a_2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9" name="Google Shape;599;g3a854632a9a_2_26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a854632a9a_2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7" name="Google Shape;607;g3a854632a9a_2_2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a854632a9a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a854632a9a_2_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3" name="Google Shape;623;g3a854632a9a_2_2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a854632a9a_2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1" name="Google Shape;631;g3a854632a9a_2_28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a8526227be_0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a8526227be_0_6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a854632a9a_2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9" name="Google Shape;649;g3a854632a9a_2_3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854632a9a_2_3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a854632a9a_2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g3a854632a9a_2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a854632a9a_2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3" name="Google Shape;673;g3a854632a9a_2_3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a854632a9a_2_3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1" name="Google Shape;681;g3a854632a9a_2_34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a8526227be_0_6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g3a8526227be_0_6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a8526227be_0_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g3a8526227be_0_6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c.edu"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a:defRPr b="1">
                <a:latin typeface="Calibri"/>
              </a:defRPr>
            </a:pPr>
            <a:r>
              <a:t>MANUAL DE CONFIGURACIÓN</a:t>
            </a:r>
          </a:p>
          <a:p>
            <a:pPr>
              <a:defRPr b="1">
                <a:latin typeface="Calibri"/>
              </a:defRPr>
            </a:pPr>
            <a:r>
              <a:t>SISTEMA CONVERSIÓN DE UNIDADES RESTFUL .NET 8 (SIN BDD)</a:t>
            </a:r>
          </a:p>
        </p:txBody>
      </p:sp>
      <p:sp>
        <p:nvSpPr>
          <p:cNvPr id="97" name="Google Shape;97;p13"/>
          <p:cNvSpPr txBox="1">
            <a:spLocks noGrp="1"/>
          </p:cNvSpPr>
          <p:nvPr>
            <p:ph type="subTitle" idx="1"/>
          </p:nvPr>
        </p:nvSpPr>
        <p:spPr>
          <a:xfrm>
            <a:off x="599226" y="4572000"/>
            <a:ext cx="4261531" cy="1812758"/>
          </a:xfrm>
          <a:prstGeom prst="rect">
            <a:avLst/>
          </a:prstGeom>
          <a:noFill/>
          <a:ln>
            <a:noFill/>
          </a:ln>
        </p:spPr>
        <p:txBody>
          <a:bodyPr spcFirstLastPara="1" wrap="square" lIns="91425" tIns="45700" rIns="91425" bIns="45700" anchor="t" anchorCtr="0">
            <a:normAutofit/>
          </a:bodyPr>
          <a:lstStyle/>
          <a:p>
            <a:pPr>
              <a:defRPr>
                <a:latin typeface="Calibri"/>
              </a:defRPr>
            </a:pPr>
            <a:endParaRPr/>
          </a:p>
          <a:p>
            <a:pPr>
              <a:defRPr>
                <a:latin typeface="Calibri"/>
              </a:defRPr>
            </a:pPr>
            <a:r>
              <a:t>INTEGRANTE: 	DANIELA TITUAÑA MORENO</a:t>
            </a:r>
          </a:p>
          <a:p>
            <a:pPr>
              <a:defRPr>
                <a:latin typeface="Calibri"/>
              </a:defRPr>
            </a:pPr>
            <a:r>
              <a:t>GRUPO:       	GRUPO 08</a:t>
            </a:r>
          </a:p>
          <a:p>
            <a:pPr>
              <a:defRPr>
                <a:latin typeface="Calibri"/>
              </a:defRPr>
            </a:pPr>
            <a:r>
              <a:t>NRC:         	36883</a:t>
            </a: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a:defRPr>
                <a:latin typeface="Calibri"/>
              </a:defRPr>
            </a:pPr>
            <a:r>
              <a:t>FECHA:  25/10/2026</a:t>
            </a:r>
          </a:p>
          <a:p>
            <a:pPr>
              <a:defRPr>
                <a:latin typeface="Calibri"/>
              </a:defRPr>
            </a:pPr>
            <a:r>
              <a:t>ING: CAMPAÑA MAURICIO</a:t>
            </a: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a:solidFill>
                  <a:schemeClr val="lt1"/>
                </a:solidFill>
              </a:rPr>
              <a:t>DESARROLLO</a:t>
            </a:r>
            <a:endParaRPr/>
          </a:p>
          <a:p>
            <a:pPr marL="630000" lvl="1" indent="-320020" algn="l" rtl="0">
              <a:lnSpc>
                <a:spcPct val="100000"/>
              </a:lnSpc>
              <a:spcBef>
                <a:spcPts val="872"/>
              </a:spcBef>
              <a:spcAft>
                <a:spcPts val="0"/>
              </a:spcAft>
              <a:buSzPts val="1472"/>
              <a:buChar char="◼"/>
            </a:pPr>
            <a:r>
              <a:rPr lang="es-ES">
                <a:solidFill>
                  <a:schemeClr val="lt1"/>
                </a:solidFill>
              </a:rPr>
              <a:t>OBJETIVO</a:t>
            </a:r>
            <a:endParaRPr/>
          </a:p>
          <a:p>
            <a:pPr marL="630000" lvl="1" indent="-320020" algn="l" rtl="0">
              <a:lnSpc>
                <a:spcPct val="100000"/>
              </a:lnSpc>
              <a:spcBef>
                <a:spcPts val="872"/>
              </a:spcBef>
              <a:spcAft>
                <a:spcPts val="0"/>
              </a:spcAft>
              <a:buSzPts val="1472"/>
              <a:buChar char="◼"/>
            </a:pPr>
            <a:r>
              <a:rPr lang="es-ES">
                <a:solidFill>
                  <a:schemeClr val="lt1"/>
                </a:solidFill>
              </a:rPr>
              <a:t>CREACIÓN DEL SERVIDOR RESTful EN .NET 8</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CONSOLA</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ESCRITORIO</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WEB</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MÓVIL</a:t>
            </a:r>
            <a:endParaRPr/>
          </a:p>
          <a:p>
            <a:pPr marL="306000" marR="0" lvl="0" indent="-306000" algn="l" rtl="0">
              <a:lnSpc>
                <a:spcPct val="100000"/>
              </a:lnSpc>
              <a:spcBef>
                <a:spcPts val="906"/>
              </a:spcBef>
              <a:spcAft>
                <a:spcPts val="0"/>
              </a:spcAft>
              <a:buSzPts val="1656"/>
              <a:buChar char="◼"/>
            </a:pPr>
            <a:r>
              <a:rPr lang="es-ES">
                <a:solidFill>
                  <a:schemeClr val="lt1"/>
                </a:solidFill>
              </a:rPr>
              <a:t>CONCLUSIONES</a:t>
            </a:r>
            <a:endParaRPr/>
          </a:p>
          <a:p>
            <a:pPr marL="306000" marR="0" lvl="0" indent="-306000" algn="l" rtl="0">
              <a:lnSpc>
                <a:spcPct val="100000"/>
              </a:lnSpc>
              <a:spcBef>
                <a:spcPts val="906"/>
              </a:spcBef>
              <a:spcAft>
                <a:spcPts val="0"/>
              </a:spcAft>
              <a:buSzPts val="1656"/>
              <a:buChar char="◼"/>
            </a:pPr>
            <a:r>
              <a:rPr lang="es-ES">
                <a:solidFill>
                  <a:schemeClr val="lt1"/>
                </a:solidFill>
              </a:rPr>
              <a:t>RECOMENDACIONES</a:t>
            </a:r>
            <a:endParaRPr/>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a:latin typeface="Cambria"/>
                <a:ea typeface="Cambria"/>
                <a:cs typeface="Cambria"/>
                <a:sym typeface="Cambria"/>
              </a:rPr>
              <a:t>1</a:t>
            </a:r>
            <a:r>
              <a:rPr lang="es-ES" sz="1800" b="1">
                <a:latin typeface="Cambria"/>
                <a:ea typeface="Cambria"/>
                <a:cs typeface="Cambria"/>
                <a:sym typeface="Cambria"/>
              </a:rPr>
              <a:t>.1	OBJETIVO</a:t>
            </a:r>
            <a:endParaRPr b="1"/>
          </a:p>
          <a:p>
            <a:pPr marL="342900" marR="0" lvl="0" indent="-237744"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a:latin typeface="Cambria"/>
                <a:ea typeface="Cambria"/>
                <a:cs typeface="Cambria"/>
                <a:sym typeface="Cambria"/>
              </a:rPr>
              <a:t>Desarrollar e implementar un Web Service utilizando RESTful mediante .NET 8 para realizar conversiones de unidades.</a:t>
            </a:r>
            <a:endParaRPr>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OBJETIVO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RESTful</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1.2.1 	Servidor Kestrel</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En primer lugar, en Visual Studio 2022, en la sección de Servicios se crea un servidor, específicamente Kestrel.</a:t>
            </a:r>
            <a:endParaRPr>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Google Shape;124;p16"/>
          <p:cNvPicPr preferRelativeResize="0"/>
          <p:nvPr/>
        </p:nvPicPr>
        <p:blipFill>
          <a:blip r:embed="rId3">
            <a:alphaModFix/>
          </a:blip>
          <a:stretch>
            <a:fillRect/>
          </a:stretch>
        </p:blipFill>
        <p:spPr>
          <a:xfrm>
            <a:off x="2594613" y="3539075"/>
            <a:ext cx="4562475" cy="314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a:spLocks noGrp="1"/>
          </p:cNvSpPr>
          <p:nvPr>
            <p:ph type="body" idx="1"/>
          </p:nvPr>
        </p:nvSpPr>
        <p:spPr>
          <a:xfrm>
            <a:off x="581200" y="17815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selecciona la versión 7.2026.4, se aceptan los términos de condiciones y se selecciona un directorio donde instalar el servidor.</a:t>
            </a:r>
            <a:endParaRPr>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32" name="Google Shape;132;p17"/>
          <p:cNvPicPr preferRelativeResize="0"/>
          <p:nvPr/>
        </p:nvPicPr>
        <p:blipFill>
          <a:blip r:embed="rId3">
            <a:alphaModFix/>
          </a:blip>
          <a:stretch>
            <a:fillRect/>
          </a:stretch>
        </p:blipFill>
        <p:spPr>
          <a:xfrm>
            <a:off x="2542225" y="3200392"/>
            <a:ext cx="4667250" cy="3257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a:spLocks noGrp="1"/>
          </p:cNvSpPr>
          <p:nvPr>
            <p:ph type="body" idx="1"/>
          </p:nvPr>
        </p:nvSpPr>
        <p:spPr>
          <a:xfrm>
            <a:off x="581192" y="2180497"/>
            <a:ext cx="8589300" cy="1248600"/>
          </a:xfrm>
          <a:prstGeom prst="rect">
            <a:avLst/>
          </a:prstGeom>
          <a:noFill/>
          <a:ln>
            <a:noFill/>
          </a:ln>
        </p:spPr>
        <p:txBody>
          <a:bodyPr spcFirstLastPara="1" wrap="square" lIns="91425" tIns="45700" rIns="91425" bIns="45700" anchor="ctr" anchorCtr="0">
            <a:normAutofit/>
          </a:bodyPr>
          <a:lstStyle/>
          <a:p>
            <a:pPr marL="457200" lvl="0" indent="-333756" algn="just" rtl="0">
              <a:lnSpc>
                <a:spcPct val="107000"/>
              </a:lnSpc>
              <a:spcBef>
                <a:spcPts val="0"/>
              </a:spcBef>
              <a:spcAft>
                <a:spcPts val="0"/>
              </a:spcAft>
              <a:buSzPts val="1656"/>
              <a:buChar char="∙"/>
            </a:pPr>
            <a:r>
              <a:rPr lang="es-ES" sz="1300">
                <a:latin typeface="Cambria"/>
                <a:ea typeface="Cambria"/>
                <a:cs typeface="Cambria"/>
                <a:sym typeface="Cambria"/>
              </a:rPr>
              <a:t>Para terminar la configuración del servidor de payara se configura un nombre de dominio, un host (en nuestro caso, loopback) y se cambian los puertos si se desea.</a:t>
            </a:r>
            <a:endParaRPr sz="1300">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40" name="Google Shape;140;p18"/>
          <p:cNvPicPr preferRelativeResize="0"/>
          <p:nvPr/>
        </p:nvPicPr>
        <p:blipFill>
          <a:blip r:embed="rId3">
            <a:alphaModFix/>
          </a:blip>
          <a:stretch>
            <a:fillRect/>
          </a:stretch>
        </p:blipFill>
        <p:spPr>
          <a:xfrm>
            <a:off x="2623250" y="3171650"/>
            <a:ext cx="4505325" cy="349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1.2.2 	Creación del Proyecto</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Una vez creado el servidor, se crea un proyecto C# .NET 8, Web Application </a:t>
            </a:r>
            <a:endParaRPr>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48" name="Picture 147" descr="04_Paso4_Creacion_Proyecto_WebAPI.png"/>
          <p:cNvPicPr>
            <a:picLocks noChangeAspect="1"/>
          </p:cNvPicPr>
          <p:nvPr/>
        </p:nvPicPr>
        <p:blipFill>
          <a:blip r:embed="rId3"/>
          <a:stretch>
            <a:fillRect/>
          </a:stretch>
        </p:blipFill>
        <p:spPr>
          <a:xfrm>
            <a:off x="2537463" y="3549050"/>
            <a:ext cx="4676775" cy="3200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a:spLocks noGrp="1"/>
          </p:cNvSpPr>
          <p:nvPr>
            <p:ph type="body" idx="1"/>
          </p:nvPr>
        </p:nvSpPr>
        <p:spPr>
          <a:xfrm>
            <a:off x="581192" y="1948172"/>
            <a:ext cx="8589300" cy="1248600"/>
          </a:xfrm>
          <a:prstGeom prst="rect">
            <a:avLst/>
          </a:prstGeom>
          <a:noFill/>
          <a:ln>
            <a:noFill/>
          </a:ln>
        </p:spPr>
        <p:txBody>
          <a:bodyPr spcFirstLastPara="1" wrap="square" lIns="91425" tIns="45700" rIns="91425" bIns="45700" anchor="ctr" anchorCtr="0">
            <a:normAutofit/>
          </a:bodyPr>
          <a:lstStyle/>
          <a:p>
            <a:pPr marL="457200" lvl="0" indent="-333756" algn="just" rtl="0">
              <a:lnSpc>
                <a:spcPct val="107000"/>
              </a:lnSpc>
              <a:spcBef>
                <a:spcPts val="0"/>
              </a:spcBef>
              <a:spcAft>
                <a:spcPts val="0"/>
              </a:spcAft>
              <a:buSzPts val="1656"/>
              <a:buChar char="∙"/>
            </a:pPr>
            <a:r>
              <a:rPr lang="es-ES" sz="1300">
                <a:latin typeface="Cambria"/>
                <a:ea typeface="Cambria"/>
                <a:cs typeface="Cambria"/>
                <a:sym typeface="Cambria"/>
              </a:rPr>
              <a:t>Se aplica el nombre del proyecto como ‘WS_CON_UNI_.NET 8_RESTful’, y se configura el grupo como ‘</a:t>
            </a:r>
            <a:r>
              <a:rPr lang="es-ES" sz="1300" u="sng">
                <a:solidFill>
                  <a:schemeClr val="hlink"/>
                </a:solidFill>
                <a:latin typeface="Cambria"/>
                <a:ea typeface="Cambria"/>
                <a:cs typeface="Cambria"/>
                <a:sym typeface="Cambria"/>
                <a:hlinkClick r:id="rId3"/>
              </a:rPr>
              <a:t>ec.edu</a:t>
            </a:r>
            <a:r>
              <a:rPr lang="es-ES" sz="1300">
                <a:latin typeface="Cambria"/>
                <a:ea typeface="Cambria"/>
                <a:cs typeface="Cambria"/>
                <a:sym typeface="Cambria"/>
              </a:rPr>
              <a:t>.monster’</a:t>
            </a:r>
            <a:endParaRPr sz="1300">
              <a:latin typeface="Cambria"/>
              <a:ea typeface="Cambria"/>
              <a:cs typeface="Cambria"/>
              <a:sym typeface="Cambria"/>
            </a:endParaRPr>
          </a:p>
          <a:p>
            <a:pPr marL="457200" lvl="0" indent="-311150" algn="just" rtl="0">
              <a:lnSpc>
                <a:spcPct val="107000"/>
              </a:lnSpc>
              <a:spcBef>
                <a:spcPts val="0"/>
              </a:spcBef>
              <a:spcAft>
                <a:spcPts val="0"/>
              </a:spcAft>
              <a:buSzPts val="1300"/>
              <a:buFont typeface="Cambria"/>
              <a:buChar char="∙"/>
            </a:pPr>
            <a:r>
              <a:rPr lang="es-ES" sz="1300">
                <a:latin typeface="Cambria"/>
                <a:ea typeface="Cambria"/>
                <a:cs typeface="Cambria"/>
                <a:sym typeface="Cambria"/>
              </a:rPr>
              <a:t>Se selecciona nuestro Servidor Kestrel creado y .NET 8.0 LTS como conjunto de desarrollo de aplicaciones C# .NET 8.</a:t>
            </a:r>
            <a:endParaRPr sz="130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58" name="Picture 157" descr="05_Paso5_Nombre_Proyecto_Servidor.png"/>
          <p:cNvPicPr>
            <a:picLocks noChangeAspect="1"/>
          </p:cNvPicPr>
          <p:nvPr/>
        </p:nvPicPr>
        <p:blipFill>
          <a:blip r:embed="rId4"/>
          <a:stretch>
            <a:fillRect/>
          </a:stretch>
        </p:blipFill>
        <p:spPr>
          <a:xfrm>
            <a:off x="581200" y="3429100"/>
            <a:ext cx="4105699" cy="2807825"/>
          </a:xfrm>
          <a:prstGeom prst="rect">
            <a:avLst/>
          </a:prstGeom>
        </p:spPr>
      </p:pic>
      <p:pic>
        <p:nvPicPr>
          <p:cNvPr id="159" name="Picture 158" descr="06_Paso6_Seleccion_Framework_Net8.png"/>
          <p:cNvPicPr>
            <a:picLocks noChangeAspect="1"/>
          </p:cNvPicPr>
          <p:nvPr/>
        </p:nvPicPr>
        <p:blipFill>
          <a:blip r:embed="rId5"/>
          <a:stretch>
            <a:fillRect/>
          </a:stretch>
        </p:blipFill>
        <p:spPr>
          <a:xfrm>
            <a:off x="4686900" y="3251850"/>
            <a:ext cx="4600575" cy="3162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a:spLocks noGrp="1"/>
          </p:cNvSpPr>
          <p:nvPr>
            <p:ph type="body" idx="1"/>
          </p:nvPr>
        </p:nvSpPr>
        <p:spPr>
          <a:xfrm>
            <a:off x="581200" y="2180500"/>
            <a:ext cx="4557900" cy="38700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77"/>
              <a:buChar char="∙"/>
            </a:pPr>
            <a:r>
              <a:rPr lang="es-ES" sz="1677" b="1">
                <a:latin typeface="Cambria"/>
                <a:ea typeface="Cambria"/>
                <a:cs typeface="Cambria"/>
                <a:sym typeface="Cambria"/>
              </a:rPr>
              <a:t>ESTRUCTURA MVC</a:t>
            </a: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Aplicando un patrón arquitectónico MVC junto a otras capas se configuran los paquetes principales.</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65" name="Google Shape;165;p21"/>
          <p:cNvPicPr preferRelativeResize="0"/>
          <p:nvPr/>
        </p:nvPicPr>
        <p:blipFill>
          <a:blip r:embed="rId3">
            <a:alphaModFix/>
          </a:blip>
          <a:stretch>
            <a:fillRect/>
          </a:stretch>
        </p:blipFill>
        <p:spPr>
          <a:xfrm>
            <a:off x="5651675" y="2696275"/>
            <a:ext cx="3219450" cy="2838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r>
              <a:t>1.2.3 	Creación del Controlador de API (RESTful)</a:t>
            </a:r>
          </a:p>
          <a:p>
            <a:r>
              <a:t>Dentro de la carpeta Controllers se crea un controlador de API en blanco.</a:t>
            </a:r>
          </a:p>
          <a:p>
            <a:r>
              <a:t>Se configura el controlador con su nombre ConversionController.cs.</a:t>
            </a:r>
          </a:p>
        </p:txBody>
      </p:sp>
      <p:sp>
        <p:nvSpPr>
          <p:cNvPr id="172" name="Google Shape;172;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75" name="Picture 174" descr="08_Paso8_Creacion_Controlador_API.png"/>
          <p:cNvPicPr>
            <a:picLocks noChangeAspect="1"/>
          </p:cNvPicPr>
          <p:nvPr/>
        </p:nvPicPr>
        <p:blipFill>
          <a:blip r:embed="rId3"/>
          <a:stretch>
            <a:fillRect/>
          </a:stretch>
        </p:blipFill>
        <p:spPr>
          <a:xfrm>
            <a:off x="958600" y="3499338"/>
            <a:ext cx="3280200" cy="3261975"/>
          </a:xfrm>
          <a:prstGeom prst="rect">
            <a:avLst/>
          </a:prstGeom>
        </p:spPr>
      </p:pic>
      <p:pic>
        <p:nvPicPr>
          <p:cNvPr id="176" name="Picture 175" descr="09_Paso9_Configuracion_Controlador_WebService.png"/>
          <p:cNvPicPr>
            <a:picLocks noChangeAspect="1"/>
          </p:cNvPicPr>
          <p:nvPr/>
        </p:nvPicPr>
        <p:blipFill>
          <a:blip r:embed="rId4"/>
          <a:stretch>
            <a:fillRect/>
          </a:stretch>
        </p:blipFill>
        <p:spPr>
          <a:xfrm>
            <a:off x="5103225" y="3844438"/>
            <a:ext cx="3810000" cy="2571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lnSpcReduction="20000"/>
          </a:bodyPr>
          <a:lstStyle/>
          <a:p>
            <a:pPr marL="457200" lvl="0" indent="-335090" algn="just" rtl="0">
              <a:lnSpc>
                <a:spcPct val="107000"/>
              </a:lnSpc>
              <a:spcBef>
                <a:spcPts val="0"/>
              </a:spcBef>
              <a:spcAft>
                <a:spcPts val="0"/>
              </a:spcAft>
              <a:buSzPts val="1677"/>
              <a:buFont typeface="Cambria"/>
              <a:buChar char="∙"/>
            </a:pPr>
            <a:r>
              <a:rPr lang="es-ES" sz="1677" b="1">
                <a:latin typeface="Cambria"/>
                <a:ea typeface="Cambria"/>
                <a:cs typeface="Cambria"/>
                <a:sym typeface="Cambria"/>
              </a:rPr>
              <a:t>Se codifica el webservice bajo los siguientes lineamientos</a:t>
            </a:r>
            <a:endParaRPr sz="1677" b="1">
              <a:latin typeface="Cambria"/>
              <a:ea typeface="Cambria"/>
              <a:cs typeface="Cambria"/>
              <a:sym typeface="Cambria"/>
            </a:endParaRPr>
          </a:p>
          <a:p>
            <a:pPr marL="457200" lvl="0" indent="0" algn="just" rtl="0">
              <a:lnSpc>
                <a:spcPct val="107000"/>
              </a:lnSpc>
              <a:spcBef>
                <a:spcPts val="0"/>
              </a:spcBef>
              <a:spcAft>
                <a:spcPts val="0"/>
              </a:spcAft>
              <a:buNone/>
            </a:pP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1. Se dejan preparadas las siguientes importaciones que se encargarán de gestionar toda la lógica.</a:t>
            </a:r>
            <a:br>
              <a:rPr lang="es-ES" sz="1677" b="1">
                <a:latin typeface="Cambria"/>
                <a:ea typeface="Cambria"/>
                <a:cs typeface="Cambria"/>
                <a:sym typeface="Cambria"/>
              </a:rPr>
            </a:b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82" name="Google Shape;182;p23"/>
          <p:cNvGraphicFramePr/>
          <p:nvPr/>
        </p:nvGraphicFramePr>
        <p:xfrm>
          <a:off x="3395925" y="2866125"/>
          <a:ext cx="5400050" cy="280924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package ec.edu.monster.controladores.ws;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ec.edu.monster.modelos.utilidades.enums.UnidadTemperatura;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ec.edu.monster.modelos.utilidades.enums.UnidadMasa;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ec.edu.monster.modelos.utilidades.enums.UnidadLongitud;</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ec.edu.monster.modelos.utilidades.ConversorTemperatura;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ec.edu.monster.modelos.utilidades.ConversorMasa;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ec.edu.monster.modelos.utilidades.ConversorLongitud;</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ec.edu.monster.servicios.ServicioConversor;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ec.edu.monster.modelos.utilidades.mapeadores.UnidadMapper;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ec.edu.monster.seguridad.AdministradorCredenciales;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ec.edu.monster.seguridad.AdministradorTokens;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2. Se configura el endpoint de nuestro servicio web.</a:t>
            </a:r>
            <a:endParaRPr sz="1677">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3. Se crean los atributos respectivos.</a:t>
            </a:r>
            <a:br>
              <a:rPr lang="es-ES" sz="1677" b="1">
                <a:latin typeface="Cambria"/>
                <a:ea typeface="Cambria"/>
                <a:cs typeface="Cambria"/>
                <a:sym typeface="Cambria"/>
              </a:rPr>
            </a:b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90" name="Google Shape;190;p24"/>
          <p:cNvGraphicFramePr/>
          <p:nvPr/>
        </p:nvGraphicFramePr>
        <p:xfrm>
          <a:off x="3701450" y="2180500"/>
          <a:ext cx="5400050" cy="46228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@WebService(serviceName = "WSConversorUnidades")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public class WSConversorUnidades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191" name="Google Shape;191;p24"/>
          <p:cNvGraphicFramePr/>
          <p:nvPr/>
        </p:nvGraphicFramePr>
        <p:xfrm>
          <a:off x="3701450" y="3375275"/>
          <a:ext cx="5400050" cy="146812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private final ServicioConversor&lt;UnidadLongitud&gt; servicioLongitud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new ServicioConversor&lt;&gt;(new ConversorLongitud());</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final ServicioConversor&lt;UnidadMasa&gt; servicioMasa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new ServicioConversor&lt;&gt;(new ConversorMasa());</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final ServicioConversor&lt;UnidadTemperatura&gt; servicioTemperatura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new ServicioConversor&lt;&gt;(new ConversorTemperatura());</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99" name="Google Shape;199;p25"/>
          <p:cNvGraphicFramePr/>
          <p:nvPr/>
        </p:nvGraphicFramePr>
        <p:xfrm>
          <a:off x="3917100" y="1928900"/>
          <a:ext cx="4894525" cy="46990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4533675">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@WebMethod(operationName = "login")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login(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"usuario") String usuario,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"contrasenia") String contrasenia)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(AdministradorCredenciales.validarCredenciales(usuario, contrasenia))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AdministradorTokens.generarToken();</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RuntimeException("Credenciales incorrectas");</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@WebMethod(operationName = "cambiarContrasenia")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cambiarContrasenia(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"contraseniaActual") String contraseniaActual,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"contraseniaNueva") String contraseniaNueva)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AdministradorCredenciales.cambiarContrasenia(contraseniaActual, contraseniaNueva);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"Contrasenia actualizada correctamente";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@WebMethod(operationName = "convertirLongitud")</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convertirLongitud(</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 origen = UnidadMapper.toLongitud(unidadInicial);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 destino = UnidadMapper.toLongitud(unidadFinal);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servicioLongitud.convertir(valor, origen,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nvGraphicFramePr>
        <p:xfrm>
          <a:off x="3881150" y="2291900"/>
          <a:ext cx="4894525" cy="37429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@WebMethod(operationName = "convertirMasa")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convertirMasa(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 origen = UnidadMapper.toMasa(unidadInicial);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 destino = UnidadMapper.toMasa(unidadFinal);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servicioMasa.convertir(valor, origen,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@WebMethod(operationName = "convertirTemperatura")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convertirTemperatura(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UnidadTemperatura origen = UnidadMapper.toTemperatura(unidadInicial);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UnidadTemperatura destino = UnidadMapper.toTemperatura(unidadFinal);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servicioTemperatura.convertir(valor, origen, destino);</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a:spLocks noGrp="1"/>
          </p:cNvSpPr>
          <p:nvPr>
            <p:ph type="body" idx="1"/>
          </p:nvPr>
        </p:nvSpPr>
        <p:spPr>
          <a:xfrm>
            <a:off x="581200" y="2018775"/>
            <a:ext cx="8589300" cy="1633500"/>
          </a:xfrm>
          <a:prstGeom prst="rect">
            <a:avLst/>
          </a:prstGeom>
          <a:noFill/>
          <a:ln>
            <a:noFill/>
          </a:ln>
        </p:spPr>
        <p:txBody>
          <a:bodyPr spcFirstLastPara="1" wrap="square" lIns="91425" tIns="45700" rIns="91425" bIns="45700" anchor="ctr" anchorCtr="0">
            <a:normAutofit/>
          </a:bodyPr>
          <a:lstStyle/>
          <a:p>
            <a:r>
              <a:t>1.2.4 	Autenticación</a:t>
            </a:r>
          </a:p>
          <a:p>
            <a:r>
              <a:t>Una clase fundamental es ServicioSeguridad.cs junto a su controlador AuthController.cs, que actúan como la capa de seguridad y autenticación en la arquitectura RESTful con el fin de autenticar debidamente las peticiones antes de permitir el acceso a los servicios de conversión.</a:t>
            </a:r>
          </a:p>
        </p:txBody>
      </p:sp>
      <p:sp>
        <p:nvSpPr>
          <p:cNvPr id="214" name="Google Shape;214;p2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215" name="Google Shape;215;p27"/>
          <p:cNvPicPr preferRelativeResize="0"/>
          <p:nvPr/>
        </p:nvPicPr>
        <p:blipFill>
          <a:blip r:embed="rId3">
            <a:alphaModFix/>
          </a:blip>
          <a:stretch>
            <a:fillRect/>
          </a:stretch>
        </p:blipFill>
        <p:spPr>
          <a:xfrm>
            <a:off x="2589850" y="3549050"/>
            <a:ext cx="4572000" cy="312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a:spLocks noGrp="1"/>
          </p:cNvSpPr>
          <p:nvPr>
            <p:ph type="body" idx="1"/>
          </p:nvPr>
        </p:nvSpPr>
        <p:spPr>
          <a:xfrm>
            <a:off x="581192" y="1876272"/>
            <a:ext cx="8589300" cy="1248600"/>
          </a:xfrm>
          <a:prstGeom prst="rect">
            <a:avLst/>
          </a:prstGeom>
          <a:noFill/>
          <a:ln>
            <a:noFill/>
          </a:ln>
        </p:spPr>
        <p:txBody>
          <a:bodyPr spcFirstLastPara="1" wrap="square" lIns="91425" tIns="45700" rIns="91425" bIns="45700" anchor="ctr" anchorCtr="0">
            <a:normAutofit/>
          </a:bodyPr>
          <a:lstStyle/>
          <a:p>
            <a:r>
              <a:t>A diferencia de SOAP que requería un manejador.xml rígido, en ASP.NET Core .NET 8 la configuración se realiza en Program.cs registrando el servicio de seguridad (AddSingleton&lt;IServicioSeguridad, ServicioSeguridad&gt;()) e inyectándolo limpiamente en los controladores.</a:t>
            </a:r>
          </a:p>
        </p:txBody>
      </p:sp>
      <p:sp>
        <p:nvSpPr>
          <p:cNvPr id="222" name="Google Shape;222;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24" name="Google Shape;224;p28"/>
          <p:cNvGraphicFramePr/>
          <p:nvPr/>
        </p:nvGraphicFramePr>
        <p:xfrm>
          <a:off x="4024925" y="4574350"/>
          <a:ext cx="4894525" cy="22153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22153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package ec.edu.monster.controladores.manejadoresws;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ec.edu.monster.seguridad.AdministradorTokens;</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jakarta.xml.ws.handler.soap.SOAPHandler;</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jakarta.xml.ws.handler.soap.SOAPMessageContext;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jakarta.xml.ws.handler.MessageContext;</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javax.xml.namespace.QName;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org.w3c.dom.NodeList;</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java.util.Set;</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ManejadorAutenticacion implements SOAPHandler&lt;SOAPMessageContext&gt;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pic>
        <p:nvPicPr>
          <p:cNvPr id="225" name="Picture 224" descr="image.png"/>
          <p:cNvPicPr>
            <a:picLocks noChangeAspect="1"/>
          </p:cNvPicPr>
          <p:nvPr/>
        </p:nvPicPr>
        <p:blipFill>
          <a:blip r:embed="rId3"/>
          <a:stretch>
            <a:fillRect/>
          </a:stretch>
        </p:blipFill>
        <p:spPr>
          <a:xfrm>
            <a:off x="653100" y="3013525"/>
            <a:ext cx="5734050" cy="13811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32" name="Google Shape;232;p29"/>
          <p:cNvGraphicFramePr/>
          <p:nvPr/>
        </p:nvGraphicFramePr>
        <p:xfrm>
          <a:off x="2964625" y="1876275"/>
          <a:ext cx="6062675" cy="50647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@Override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boolean handleMessage(SOAPMessageContext contexto)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Boolean esSalida = (Boolean) contexto.get(MessageContext.MESSAGE_OUTBOUND_PROPERTY);</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(!esSalida)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try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QName operacion = (QName) contexto.get(MessageContext.WSDL_OPERATION);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(operacion != null &amp;&amp; "login".equals(operacion.getLocalPart()))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return true;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mensajeSOAP = contexto.getMessage();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encabezado = mensajeSOAP.getSOAPHeader();</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(encabezado == null)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Se requiere encabezado SOAP con el token de seguridad.");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NodeList nodosToken = encabezado.getElementsByTagNameNS("*", "token");</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(nodosToken.getLength() == 0)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No se encontró el token. Inicie sesión primero.");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String token = nodosToken.item(0).getTextContent();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(!AdministradorTokens.validarToken(token))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Token inválido o expirado.");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catch (Exception 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RuntimeException(e.getMessage());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return true;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40" name="Google Shape;240;p30"/>
          <p:cNvGraphicFramePr/>
          <p:nvPr/>
        </p:nvGraphicFramePr>
        <p:xfrm>
          <a:off x="3064663" y="2920413"/>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951625">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Set&lt;QName&gt; getHeaders()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null;</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boolean handleFault(SOAPMessageContext contexto)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true;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void close(MessageContext contexto)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20000"/>
          </a:bodyPr>
          <a:lstStyle/>
          <a:p>
            <a:pPr marL="342900" lvl="0" indent="-342900" algn="just" rtl="0">
              <a:lnSpc>
                <a:spcPct val="107000"/>
              </a:lnSpc>
              <a:spcBef>
                <a:spcPts val="0"/>
              </a:spcBef>
              <a:spcAft>
                <a:spcPts val="0"/>
              </a:spcAft>
              <a:buSzPts val="1785"/>
              <a:buChar char="∙"/>
            </a:pPr>
            <a:r>
              <a:rPr lang="es-ES" sz="1929" b="1">
                <a:latin typeface="Cambria"/>
                <a:ea typeface="Cambria"/>
                <a:cs typeface="Cambria"/>
                <a:sym typeface="Cambria"/>
              </a:rPr>
              <a:t>1.2.5	Lógica</a:t>
            </a:r>
            <a:endParaRPr>
              <a:latin typeface="Cambria"/>
              <a:ea typeface="Cambria"/>
              <a:cs typeface="Cambria"/>
              <a:sym typeface="Cambria"/>
            </a:endParaRPr>
          </a:p>
          <a:p>
            <a:pPr marL="0" lvl="0" indent="0" algn="just" rtl="0">
              <a:lnSpc>
                <a:spcPct val="107000"/>
              </a:lnSpc>
              <a:spcBef>
                <a:spcPts val="0"/>
              </a:spcBef>
              <a:spcAft>
                <a:spcPts val="0"/>
              </a:spcAft>
              <a:buNone/>
            </a:pPr>
            <a:endParaRPr sz="1200">
              <a:latin typeface="Cambria"/>
              <a:ea typeface="Cambria"/>
              <a:cs typeface="Cambria"/>
              <a:sym typeface="Cambria"/>
            </a:endParaRPr>
          </a:p>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48" name="Google Shape;248;p31"/>
          <p:cNvGraphicFramePr/>
          <p:nvPr/>
        </p:nvGraphicFramePr>
        <p:xfrm>
          <a:off x="3017313" y="3676500"/>
          <a:ext cx="6062675" cy="14071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public interface IConversor&lt;T&gt;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double convertir(double valor, T unidadInicial, T unidadFinal);</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56" name="Google Shape;256;p32"/>
          <p:cNvGraphicFramePr/>
          <p:nvPr/>
        </p:nvGraphicFramePr>
        <p:xfrm>
          <a:off x="3017313" y="1838175"/>
          <a:ext cx="6062675" cy="5003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ec.edu.monster.modelos.utilidades.enums.UnidadLongitud;</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ConversorLongitud implements IConversor&lt;UnidadLongitud&gt;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private final Map&lt;UnidadLongitud, Double&gt; factores = Map.of(</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UnidadLongitud.MILIMETRO, 0.001,</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UnidadLongitud.CENTIMETRO, 0.01,</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UnidadLongitud.METRO, 1.0,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UnidadLongitud.KILOMETRO, 1000.0,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UnidadLongitud.YARDA, 0.9144</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ConversorLongitud()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convertir(double valor, UnidadLongitud unidadOrigen, UnidadLongitud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64" name="Google Shape;264;p33"/>
          <p:cNvGraphicFramePr/>
          <p:nvPr/>
        </p:nvGraphicFramePr>
        <p:xfrm>
          <a:off x="3017313" y="1838175"/>
          <a:ext cx="6062675" cy="5003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ec.edu.monster.modelos.utilidades.enums.UnidadMasa;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ConversorMasa implements IConversor&lt;UnidadMasa&gt;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private final Map&lt;UnidadMasa, Double&gt; factores = Map.of(</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UnidadMasa.MILIGRAMO, 0.001,</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UnidadMasa.GRAMO, 1.0,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UnidadMasa.KILOGRAMO, 1000.0,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UnidadMasa.TONELADA, 1_000_000.0,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UnidadMasa.ONZA, 28.3495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ConversorMasa()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convertir(double valor, UnidadMasa unidadOrigen, UnidadMasa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72" name="Google Shape;272;p34"/>
          <p:cNvGraphicFramePr/>
          <p:nvPr/>
        </p:nvGraphicFramePr>
        <p:xfrm>
          <a:off x="2891513" y="2209650"/>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ec.edu.monster.modelos.utilidades.enums.UnidadTemperatura;</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ec.edu.monster.modelos.utilidades.enums.UnidadTemperatura.CELSIUS;</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ec.edu.monster.modelos.utilidades.enums.UnidadTemperatura.FAHRENHEIT;</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ec.edu.monster.modelos.utilidades.enums.UnidadTemperatura.KELVIN;</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ec.edu.monster.modelos.utilidades.enums.UnidadTemperatura.RANKINE;</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public class ConversorTemperatura implements IConversor&lt;UnidadTemperatura&gt;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ConversorTemperatura()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double convertir(double valor, UnidadTemperatura origen, UnidadTemperatura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(origen == null || destino == null)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throw new IllegalArgumentException("Las unidades no pueden ser null");</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(origen ==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valor;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80" name="Google Shape;280;p35"/>
          <p:cNvGraphicFramePr/>
          <p:nvPr/>
        </p:nvGraphicFramePr>
        <p:xfrm>
          <a:off x="2891513" y="1838175"/>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return switch (origen)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9 / 5) + 32;</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+ 273.15) * 9 / 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- 32)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- 32) * 5 / 9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+ 459.67;</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- 273.15) * 9 / 5 + 32;</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9 / 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- 491.67)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- 459.67;</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8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20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30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88" name="Google Shape;288;p36"/>
          <p:cNvGraphicFramePr/>
          <p:nvPr/>
        </p:nvGraphicFramePr>
        <p:xfrm>
          <a:off x="2891513" y="2557313"/>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package ec.edu.monster.servicios;</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ec.edu.monster.modelos.utilidades.IConversor;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public class ServicioConversor&lt;T&gt;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private final IConversor&lt;T&gt;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ServicioConversor(IConversor&lt;T&gt; conversor)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this.conversor =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double convertir(double valor, T origen, T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(conversor == null)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throw new IllegalStateException("No se ha inyectado un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conversor.convertir(valor, origen, destino);</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a:spLocks noGrp="1"/>
          </p:cNvSpPr>
          <p:nvPr>
            <p:ph type="body" idx="1"/>
          </p:nvPr>
        </p:nvSpPr>
        <p:spPr>
          <a:xfrm>
            <a:off x="581200" y="2018775"/>
            <a:ext cx="2685600" cy="4558800"/>
          </a:xfrm>
          <a:prstGeom prst="rect">
            <a:avLst/>
          </a:prstGeom>
          <a:noFill/>
          <a:ln>
            <a:noFill/>
          </a:ln>
        </p:spPr>
        <p:txBody>
          <a:bodyPr spcFirstLastPara="1" wrap="square" lIns="91425" tIns="45700" rIns="91425" bIns="45700" anchor="ctr" anchorCtr="0">
            <a:normAutofit/>
          </a:bodyPr>
          <a:lstStyle/>
          <a:p>
            <a:r>
              <a:t>1.2.6 	Ejecución en Servidor Kestrel (.NET 8)</a:t>
            </a:r>
          </a:p>
          <a:p>
            <a:r>
              <a:t>Se ejecuta el servicio RESTful en nuestro servidor Kestrel y se comprueba la documentación interactiva Swagger UI / OpenAPI 3.0 en: http://localhost:5000/swagger</a:t>
            </a:r>
          </a:p>
        </p:txBody>
      </p:sp>
      <p:sp>
        <p:nvSpPr>
          <p:cNvPr id="295" name="Google Shape;295;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RESTful</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296" name="Picture 295" descr="image.png"/>
          <p:cNvPicPr>
            <a:picLocks noChangeAspect="1"/>
          </p:cNvPicPr>
          <p:nvPr/>
        </p:nvPicPr>
        <p:blipFill>
          <a:blip r:embed="rId3"/>
          <a:stretch>
            <a:fillRect/>
          </a:stretch>
        </p:blipFill>
        <p:spPr>
          <a:xfrm>
            <a:off x="3728750" y="1878563"/>
            <a:ext cx="5192894" cy="48392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RESTful</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12096" algn="l" rtl="0">
              <a:lnSpc>
                <a:spcPct val="100000"/>
              </a:lnSpc>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3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03" name="Google Shape;303;p38"/>
          <p:cNvSpPr txBox="1">
            <a:spLocks noGrp="1"/>
          </p:cNvSpPr>
          <p:nvPr>
            <p:ph type="body" idx="1"/>
          </p:nvPr>
        </p:nvSpPr>
        <p:spPr>
          <a:xfrm>
            <a:off x="581200" y="1983000"/>
            <a:ext cx="8581500" cy="2149500"/>
          </a:xfrm>
          <a:prstGeom prst="rect">
            <a:avLst/>
          </a:prstGeom>
          <a:noFill/>
          <a:ln>
            <a:noFill/>
          </a:ln>
        </p:spPr>
        <p:txBody>
          <a:bodyPr spcFirstLastPara="1" wrap="square" lIns="91425" tIns="45700" rIns="91425" bIns="45700" anchor="ctr" anchorCtr="0">
            <a:normAutofit fontScale="92500" lnSpcReduction="10000"/>
          </a:bodyPr>
          <a:lstStyle/>
          <a:p>
            <a:pPr marL="0" lvl="0" indent="0" algn="l" rtl="0">
              <a:lnSpc>
                <a:spcPct val="115000"/>
              </a:lnSpc>
              <a:spcBef>
                <a:spcPts val="1200"/>
              </a:spcBef>
              <a:spcAft>
                <a:spcPts val="0"/>
              </a:spcAft>
              <a:buClr>
                <a:schemeClr val="dk1"/>
              </a:buClr>
              <a:buSzPct val="70332"/>
              <a:buFont typeface="Arial"/>
              <a:buNone/>
            </a:pPr>
            <a:r>
              <a:rPr lang="es-ES" sz="1564" b="1">
                <a:latin typeface="Cambria"/>
                <a:ea typeface="Cambria"/>
                <a:cs typeface="Cambria"/>
                <a:sym typeface="Cambria"/>
              </a:rPr>
              <a:t>1.3 	CREACIÓN DEL PROYECTO CLIENTE CONSOLA</a:t>
            </a:r>
            <a:endParaRPr sz="1564" b="1">
              <a:latin typeface="Cambria"/>
              <a:ea typeface="Cambria"/>
              <a:cs typeface="Cambria"/>
              <a:sym typeface="Cambria"/>
            </a:endParaRPr>
          </a:p>
          <a:p>
            <a:pPr marL="0" lvl="0" indent="0" algn="l" rtl="0">
              <a:lnSpc>
                <a:spcPct val="115000"/>
              </a:lnSpc>
              <a:spcBef>
                <a:spcPts val="1200"/>
              </a:spcBef>
              <a:spcAft>
                <a:spcPts val="0"/>
              </a:spcAft>
              <a:buClr>
                <a:schemeClr val="dk1"/>
              </a:buClr>
              <a:buSzPct val="70332"/>
              <a:buFont typeface="Arial"/>
              <a:buNone/>
            </a:pPr>
            <a:endParaRPr sz="1564" b="1">
              <a:latin typeface="Cambria"/>
              <a:ea typeface="Cambria"/>
              <a:cs typeface="Cambria"/>
              <a:sym typeface="Cambria"/>
            </a:endParaRPr>
          </a:p>
          <a:p>
            <a:pPr marL="457200" lvl="0" indent="-320524" algn="l" rtl="0">
              <a:lnSpc>
                <a:spcPct val="115000"/>
              </a:lnSpc>
              <a:spcBef>
                <a:spcPts val="0"/>
              </a:spcBef>
              <a:spcAft>
                <a:spcPts val="0"/>
              </a:spcAft>
              <a:buSzPct val="100064"/>
              <a:buFont typeface="Cambria"/>
              <a:buChar char="◼"/>
            </a:pPr>
            <a:r>
              <a:rPr lang="es-ES" sz="1564">
                <a:latin typeface="Cambria"/>
                <a:ea typeface="Cambria"/>
                <a:cs typeface="Cambria"/>
                <a:sym typeface="Cambria"/>
              </a:rPr>
              <a:t>Para el cliente consola se uso Visual Studio en el cual se debe crear un nuevo proyecto para ello se seleccionó el gestor de proyectos C# .NET 8 with Maven, el tipo de aplicativo que se usa es C# .NET 8 Application.</a:t>
            </a:r>
            <a:endParaRPr sz="1564">
              <a:latin typeface="Cambria"/>
              <a:ea typeface="Cambria"/>
              <a:cs typeface="Cambria"/>
              <a:sym typeface="Cambria"/>
            </a:endParaRPr>
          </a:p>
          <a:p>
            <a:pPr marL="457200" lvl="0" indent="-320465" algn="l" rtl="0">
              <a:lnSpc>
                <a:spcPct val="115000"/>
              </a:lnSpc>
              <a:spcBef>
                <a:spcPts val="0"/>
              </a:spcBef>
              <a:spcAft>
                <a:spcPts val="0"/>
              </a:spcAft>
              <a:buSzPct val="100000"/>
              <a:buFont typeface="Cambria"/>
              <a:buChar char="◼"/>
            </a:pPr>
            <a:r>
              <a:rPr lang="es-ES" sz="1564">
                <a:latin typeface="Cambria"/>
                <a:ea typeface="Cambria"/>
                <a:cs typeface="Cambria"/>
                <a:sym typeface="Cambria"/>
              </a:rPr>
              <a:t>Se asigna un nombre al proyecto, se da una ubicacion, y se configura el group id con el que se quiere nombrar.</a:t>
            </a:r>
            <a:endParaRPr sz="1564">
              <a:latin typeface="Cambria"/>
              <a:ea typeface="Cambria"/>
              <a:cs typeface="Cambria"/>
              <a:sym typeface="Cambria"/>
            </a:endParaRPr>
          </a:p>
          <a:p>
            <a:pPr marL="0" lvl="0" indent="0" algn="l" rtl="0">
              <a:lnSpc>
                <a:spcPct val="115000"/>
              </a:lnSpc>
              <a:spcBef>
                <a:spcPts val="1200"/>
              </a:spcBef>
              <a:spcAft>
                <a:spcPts val="1200"/>
              </a:spcAft>
              <a:buSzPct val="99162"/>
              <a:buNone/>
            </a:pPr>
            <a:endParaRPr sz="1670">
              <a:latin typeface="Cambria"/>
              <a:ea typeface="Cambria"/>
              <a:cs typeface="Cambria"/>
              <a:sym typeface="Cambria"/>
            </a:endParaRPr>
          </a:p>
        </p:txBody>
      </p:sp>
      <p:pic>
        <p:nvPicPr>
          <p:cNvPr id="304" name="Google Shape;304;p38"/>
          <p:cNvPicPr preferRelativeResize="0"/>
          <p:nvPr/>
        </p:nvPicPr>
        <p:blipFill>
          <a:blip r:embed="rId3">
            <a:alphaModFix/>
          </a:blip>
          <a:stretch>
            <a:fillRect/>
          </a:stretch>
        </p:blipFill>
        <p:spPr>
          <a:xfrm>
            <a:off x="3214397" y="3900550"/>
            <a:ext cx="3704150" cy="2528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RESTful</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12096" algn="l" rtl="0">
              <a:lnSpc>
                <a:spcPct val="100000"/>
              </a:lnSpc>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a:spLocks noGrp="1"/>
          </p:cNvSpPr>
          <p:nvPr>
            <p:ph type="body" idx="1"/>
          </p:nvPr>
        </p:nvSpPr>
        <p:spPr>
          <a:xfrm>
            <a:off x="581200" y="1983000"/>
            <a:ext cx="8581500" cy="21495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r>
              <a:rPr lang="es-ES" sz="1564" b="1">
                <a:latin typeface="Cambria"/>
                <a:ea typeface="Cambria"/>
                <a:cs typeface="Cambria"/>
                <a:sym typeface="Cambria"/>
              </a:rPr>
              <a:t>1.3 	CREACIÓN DEL PROYECTO CLIENTE CONSOLA</a:t>
            </a:r>
            <a:endParaRPr sz="1564" b="1">
              <a:latin typeface="Cambria"/>
              <a:ea typeface="Cambria"/>
              <a:cs typeface="Cambria"/>
              <a:sym typeface="Cambria"/>
            </a:endParaRPr>
          </a:p>
          <a:p>
            <a:pPr marL="0" lvl="0" indent="0" algn="l" rtl="0">
              <a:lnSpc>
                <a:spcPct val="115000"/>
              </a:lnSpc>
              <a:spcBef>
                <a:spcPts val="1200"/>
              </a:spcBef>
              <a:spcAft>
                <a:spcPts val="0"/>
              </a:spcAft>
              <a:buClr>
                <a:schemeClr val="dk1"/>
              </a:buClr>
              <a:buSzPts val="1100"/>
              <a:buFont typeface="Arial"/>
              <a:buNone/>
            </a:pPr>
            <a:endParaRPr sz="1564" b="1">
              <a:latin typeface="Cambria"/>
              <a:ea typeface="Cambria"/>
              <a:cs typeface="Cambria"/>
              <a:sym typeface="Cambria"/>
            </a:endParaRPr>
          </a:p>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Una vez que se creó el proyecto se debe generar los diferentes paquetes, donde se colocarán los archivos con código fuente.</a:t>
            </a:r>
            <a:endParaRPr sz="1564">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a:latin typeface="Cambria"/>
              <a:ea typeface="Cambria"/>
              <a:cs typeface="Cambria"/>
              <a:sym typeface="Cambria"/>
            </a:endParaRPr>
          </a:p>
        </p:txBody>
      </p:sp>
      <p:pic>
        <p:nvPicPr>
          <p:cNvPr id="313" name="Google Shape;313;p39"/>
          <p:cNvPicPr preferRelativeResize="0"/>
          <p:nvPr/>
        </p:nvPicPr>
        <p:blipFill>
          <a:blip r:embed="rId3">
            <a:alphaModFix/>
          </a:blip>
          <a:stretch>
            <a:fillRect/>
          </a:stretch>
        </p:blipFill>
        <p:spPr>
          <a:xfrm>
            <a:off x="2668875" y="3950625"/>
            <a:ext cx="3743325" cy="2409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21" name="Google Shape;321;p40"/>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jakarta.jws.WebResult;</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jakarta.jws.soap.SOAPBinding;</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@WebService(name = "WSConversorUnidades", targetNamespace = "http://ws.controladores.monster.edu.ec/")</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@SOAPBinding(parameterStyle = SOAPBinding.ParameterStyle.WRAPPED)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interface ContratoWSConversor {</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"login")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login(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"usuario") String usuario,</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"contrasenia") String contrasenia);</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"convertirLongitud")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convertirLongitud(</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7" name="Google Shape;327;p41"/>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28" name="Google Shape;328;p4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29" name="Google Shape;329;p41"/>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@WebMethod(operationName = "convertirMasa")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double convertirMasa(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@WebMethod(operationName = "convertirTemperatura")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double convertirTemperatura(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5" name="Google Shape;335;p42"/>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36" name="Google Shape;336;p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37" name="Google Shape;337;p42"/>
          <p:cNvGraphicFramePr/>
          <p:nvPr/>
        </p:nvGraphicFramePr>
        <p:xfrm>
          <a:off x="2278500" y="1818850"/>
          <a:ext cx="3000000" cy="3000000"/>
        </p:xfrm>
        <a:graphic>
          <a:graphicData uri="http://schemas.openxmlformats.org/drawingml/2006/table">
            <a:tbl>
              <a:tblPr>
                <a:noFill/>
                <a:tableStyleId>{BF136021-7255-42B7-A7E7-87A8D8FFE9CA}</a:tableStyleId>
              </a:tblPr>
              <a:tblGrid>
                <a:gridCol w="543942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jakarta.xml.ws.Binding;</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jakarta.xml.ws.BindingProvider;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jakarta.xml.ws.Service;</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jakarta.xml.ws.handler.Handler;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java.net.URL;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java.util.ArrayList;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java.util.List;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import javax.xml.namespace.QName;</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public class ClienteWSConversor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String ESPACIO_NOMBRES = "http://ws.controladores.monster.edu.ec/";</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String PROPIEDAD_BASE_WS = "ws.base.url";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String VARIABLE_BASE_WS = "WS_BASE_URL";</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QName QNOMBRE_SERVICIO = new QName(ESPACIO_NOMBRES, "WSConversorUnidades");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QName QNOMBRE_PUERTO = new QName(ESPACIO_NOMBRES, "WSConversorUnidadesPort");</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static final List&lt;String&gt; BASES_URL_POR_DEFECTO = List.of(</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"http://localhost:8080/04.SERVIDOR",</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"http://localhost:8080/WS_ConUni_Java_GR5",</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"http://localhost:8080/WS_ConUni_Java_GR5-1.0-SNAPSHOT"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45" name="Google Shape;345;p43"/>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private final ContratoWSConversor puerto;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String tokenSesion;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String endpointActivo;</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ClienteWSConversor()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this.puerto = inicializarPuerto();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ContratoWSConversor inicializarPuerto()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List&lt;String&gt; basesUrl = construirBasesUrl();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List&lt;String&gt; wsdlsIntentados = new ArrayList&lt;&gt;();</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for (String baseUrl : basesUrl)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endpoint = baseUrl + "/WSConversorUnidades";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List&lt;String&gt; wsdlsCandidatos = List.of(</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46" name="Google Shape;346;p43"/>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for (String wsdl : wsdlsCandidatos)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Service servicio = Service.create(new URL(wsdl), QNOMBRE_SERVICIO);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ContratoWSConversor puertoTemporal = servicio.getPort(QNOMBRE_PUERTO, ContratoWSConversor.class);</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BindingProvider proveedor = (BindingProvider) puertoTemporal;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proveedor.getRequestContext().put(BindingProvider.ENDPOINT_ADDRESS_PROPERTY, endpoint);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configurarManejadorToken(proveedor);</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this.endpointActivo = endpoint;</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puertoTemporal;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 catch (Exception ex)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wsdlsIntentados.add(wsdl);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2" name="Google Shape;352;p4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53" name="Google Shape;353;p4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54" name="Google Shape;354;p44"/>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throw new IllegalStateException(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"No fue posible inicializar el cliente SOAP.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 "No se encontro el WSDL en ninguna URL candidata: " + String.join(", ", wsdlsIntentados)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 ". Verifique que 04. SERVIDOR este desplegado y activo en Payara."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List&lt;String&gt; construirBasesUrl()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List&lt;String&gt; basesUrl = new ArrayList&lt;&gt;();</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baseConfigurada = obtenerBaseConfigurada();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if (baseConfigurada != null &amp;&amp; !baseConfigurada.isBlank())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basesUrl.add(normalizarBase(baseConfigurada));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for (String baseDefecto : BASES_URL_POR_DEFECTO)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if (!basesUrl.contains(baseDefecto))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basesUrl.add(baseDefecto);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basesUrl;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55" name="Google Shape;355;p44"/>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String obtenerBaseConfigurada()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desdePropiedad = System.getProperty(PROPIEDAD_BASE_WS);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if (desdePropiedad != null &amp;&amp; !desdePropiedad.isBlank())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desdePropiedad;</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desdeVariable = System.getenv(VARIABLE_BASE_WS);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if (desdeVariable != null &amp;&amp; !desdeVariable.isBlank())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desdeVariable;</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null;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String normalizarBase(String base)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String baseNormalizada = base.trim();</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while (baseNormalizada.endsWith("/"))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baseNormalizada = baseNormalizada.substring(0, baseNormalizada.length() - 1);</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baseNormalizada;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61" name="Google Shape;361;p4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62" name="Google Shape;362;p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63" name="Google Shape;363;p45"/>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private void configurarManejadorToken(BindingProvider proveedor)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Binding enlace = proveedor.getBinding();</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List&lt;Handler&gt; cadenaManejadores = new ArrayList&lt;&gt;(enlace.getHandlerChain());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cadenaManejadores.add(new ManejadorTokenSOAP(() -&gt; tokenSesion));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enlace.setHandlerChain(cadenaManejadores);</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String login(String usuario, String contrasenia)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this.tokenSesion = puerto.login(usuario, contrasenia);</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this.tokenSesion;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double convertirLongitud(double valor, String unidadInicial, String unidadFinal)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puerto.convertirLongitud(valor, unidadInicial, unidadFinal);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double convertirMasa(double valor, String unidadInicial, String unidadFinal)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puerto.convertirMasa(valor, unidadInicial, unidadFinal);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64" name="Google Shape;364;p45"/>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public double convertirTemperatura(double valor, String unidadInicial, String unidadFinal)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puerto.convertirTemperatura(valor, unidadInicial, unidadFinal);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String getTokenSesion()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tokenSesion;</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String getEndpointActivo()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return endpointActivo;</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void cerrarSesion()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this.tokenSesion = null;</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Se puede verificar que el cliente funciona de forma correcta, se levanta y tiene comunicación </a:t>
            </a:r>
            <a:endParaRPr sz="1400" b="1">
              <a:solidFill>
                <a:srgbClr val="17365D"/>
              </a:solidFill>
              <a:latin typeface="Calibri"/>
              <a:ea typeface="Calibri"/>
              <a:cs typeface="Calibri"/>
              <a:sym typeface="Calibri"/>
            </a:endParaRPr>
          </a:p>
          <a:p>
            <a:pPr marL="457200" lvl="0" indent="-298450" algn="l" rtl="0">
              <a:lnSpc>
                <a:spcPct val="150000"/>
              </a:lnSpc>
              <a:spcBef>
                <a:spcPts val="0"/>
              </a:spcBef>
              <a:spcAft>
                <a:spcPts val="0"/>
              </a:spcAft>
              <a:buClr>
                <a:schemeClr val="dk1"/>
              </a:buClr>
              <a:buSzPts val="1100"/>
              <a:buFont typeface="Calibri"/>
              <a:buChar char="∙"/>
            </a:pP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372" name="Google Shape;372;p46"/>
          <p:cNvPicPr preferRelativeResize="0"/>
          <p:nvPr/>
        </p:nvPicPr>
        <p:blipFill>
          <a:blip r:embed="rId3">
            <a:alphaModFix/>
          </a:blip>
          <a:stretch>
            <a:fillRect/>
          </a:stretch>
        </p:blipFill>
        <p:spPr>
          <a:xfrm>
            <a:off x="3228913" y="2794000"/>
            <a:ext cx="5734050" cy="2505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8" name="Google Shape;378;p4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379" name="Google Shape;379;p47"/>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fontScale="92500"/>
          </a:bodyPr>
          <a:lstStyle/>
          <a:p>
            <a:pPr marL="457200" marR="0" lvl="0" indent="-320524" algn="l" rtl="0">
              <a:lnSpc>
                <a:spcPct val="115000"/>
              </a:lnSpc>
              <a:spcBef>
                <a:spcPts val="0"/>
              </a:spcBef>
              <a:spcAft>
                <a:spcPts val="0"/>
              </a:spcAft>
              <a:buSzPct val="100064"/>
              <a:buFont typeface="Cambria"/>
              <a:buChar char="◼"/>
            </a:pPr>
            <a:r>
              <a:rPr lang="es-ES" sz="1564">
                <a:latin typeface="Cambria"/>
                <a:ea typeface="Cambria"/>
                <a:cs typeface="Cambria"/>
                <a:sym typeface="Cambria"/>
              </a:rPr>
              <a:t>Para este caso, para poder optimizar el tiempo se optó por usar el framework de MAUI el cual permite crear un proyecto central el cual después puede adaptarse a las distintas plataformas(web, mobile y Desktop)</a:t>
            </a:r>
            <a:endParaRPr sz="1564">
              <a:latin typeface="Cambria"/>
              <a:ea typeface="Cambria"/>
              <a:cs typeface="Cambria"/>
              <a:sym typeface="Cambria"/>
            </a:endParaRPr>
          </a:p>
          <a:p>
            <a:pPr marL="457200" marR="0" lvl="0" indent="-320524" algn="l" rtl="0">
              <a:lnSpc>
                <a:spcPct val="115000"/>
              </a:lnSpc>
              <a:spcBef>
                <a:spcPts val="0"/>
              </a:spcBef>
              <a:spcAft>
                <a:spcPts val="0"/>
              </a:spcAft>
              <a:buSzPct val="100064"/>
              <a:buFont typeface="Cambria"/>
              <a:buChar char="◼"/>
            </a:pPr>
            <a:r>
              <a:rPr lang="es-ES" sz="1564">
                <a:latin typeface="Cambria"/>
                <a:ea typeface="Cambria"/>
                <a:cs typeface="Cambria"/>
                <a:sym typeface="Cambria"/>
              </a:rPr>
              <a:t>Para empezar se debe crear el proyecto en visual studio, para ello se selecciona una solución en blanco.</a:t>
            </a:r>
            <a:endParaRPr sz="1564">
              <a:latin typeface="Cambria"/>
              <a:ea typeface="Cambria"/>
              <a:cs typeface="Cambria"/>
              <a:sym typeface="Cambria"/>
            </a:endParaRPr>
          </a:p>
        </p:txBody>
      </p:sp>
      <p:pic>
        <p:nvPicPr>
          <p:cNvPr id="380" name="Google Shape;380;p47"/>
          <p:cNvPicPr preferRelativeResize="0"/>
          <p:nvPr/>
        </p:nvPicPr>
        <p:blipFill>
          <a:blip r:embed="rId3">
            <a:alphaModFix/>
          </a:blip>
          <a:stretch>
            <a:fillRect/>
          </a:stretch>
        </p:blipFill>
        <p:spPr>
          <a:xfrm>
            <a:off x="2087175" y="3158725"/>
            <a:ext cx="5734050" cy="35909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86" name="Google Shape;386;p4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387" name="Google Shape;387;p48"/>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marR="0" lvl="0" indent="-327978" algn="l" rtl="0">
              <a:lnSpc>
                <a:spcPct val="115000"/>
              </a:lnSpc>
              <a:spcBef>
                <a:spcPts val="0"/>
              </a:spcBef>
              <a:spcAft>
                <a:spcPts val="0"/>
              </a:spcAft>
              <a:buSzPts val="1565"/>
              <a:buFont typeface="Cambria"/>
              <a:buChar char="◼"/>
            </a:pPr>
            <a:r>
              <a:rPr lang="es-ES" sz="1564">
                <a:latin typeface="Cambria"/>
                <a:ea typeface="Cambria"/>
                <a:cs typeface="Cambria"/>
                <a:sym typeface="Cambria"/>
              </a:rPr>
              <a:t>Se debe asignar un nombre al proyecto y asignarle un directorio donde se va a guardar el mismo, y solo queda dar clic en crear</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Con la solución en blanco vamos a ir agregando los diferentes proyectos necesarios para todos los tipos de clientes, primero se debe agregar un nuevo proyecto. </a:t>
            </a:r>
            <a:endParaRPr sz="1564">
              <a:latin typeface="Cambria"/>
              <a:ea typeface="Cambria"/>
              <a:cs typeface="Cambria"/>
              <a:sym typeface="Cambria"/>
            </a:endParaRPr>
          </a:p>
        </p:txBody>
      </p:sp>
      <p:pic>
        <p:nvPicPr>
          <p:cNvPr id="388" name="Google Shape;388;p48"/>
          <p:cNvPicPr preferRelativeResize="0"/>
          <p:nvPr/>
        </p:nvPicPr>
        <p:blipFill>
          <a:blip r:embed="rId3">
            <a:alphaModFix/>
          </a:blip>
          <a:stretch>
            <a:fillRect/>
          </a:stretch>
        </p:blipFill>
        <p:spPr>
          <a:xfrm>
            <a:off x="226825" y="3803100"/>
            <a:ext cx="4002875" cy="2581000"/>
          </a:xfrm>
          <a:prstGeom prst="rect">
            <a:avLst/>
          </a:prstGeom>
          <a:noFill/>
          <a:ln>
            <a:noFill/>
          </a:ln>
        </p:spPr>
      </p:pic>
      <p:pic>
        <p:nvPicPr>
          <p:cNvPr id="389" name="Google Shape;389;p48"/>
          <p:cNvPicPr preferRelativeResize="0"/>
          <p:nvPr/>
        </p:nvPicPr>
        <p:blipFill>
          <a:blip r:embed="rId4">
            <a:alphaModFix/>
          </a:blip>
          <a:stretch>
            <a:fillRect/>
          </a:stretch>
        </p:blipFill>
        <p:spPr>
          <a:xfrm>
            <a:off x="4423175" y="4002275"/>
            <a:ext cx="4747325" cy="189407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9"/>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95" name="Google Shape;395;p49"/>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396" name="Google Shape;396;p49"/>
          <p:cNvPicPr preferRelativeResize="0"/>
          <p:nvPr/>
        </p:nvPicPr>
        <p:blipFill>
          <a:blip r:embed="rId3">
            <a:alphaModFix/>
          </a:blip>
          <a:stretch>
            <a:fillRect/>
          </a:stretch>
        </p:blipFill>
        <p:spPr>
          <a:xfrm>
            <a:off x="66975" y="3452938"/>
            <a:ext cx="4507325" cy="2874750"/>
          </a:xfrm>
          <a:prstGeom prst="rect">
            <a:avLst/>
          </a:prstGeom>
          <a:noFill/>
          <a:ln>
            <a:noFill/>
          </a:ln>
        </p:spPr>
      </p:pic>
      <p:pic>
        <p:nvPicPr>
          <p:cNvPr id="397" name="Google Shape;397;p49"/>
          <p:cNvPicPr preferRelativeResize="0"/>
          <p:nvPr/>
        </p:nvPicPr>
        <p:blipFill>
          <a:blip r:embed="rId4">
            <a:alphaModFix/>
          </a:blip>
          <a:stretch>
            <a:fillRect/>
          </a:stretch>
        </p:blipFill>
        <p:spPr>
          <a:xfrm>
            <a:off x="4772900" y="3452950"/>
            <a:ext cx="4460247" cy="2874725"/>
          </a:xfrm>
          <a:prstGeom prst="rect">
            <a:avLst/>
          </a:prstGeom>
          <a:noFill/>
          <a:ln>
            <a:noFill/>
          </a:ln>
        </p:spPr>
      </p:pic>
      <p:sp>
        <p:nvSpPr>
          <p:cNvPr id="398" name="Google Shape;398;p49"/>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Pero para este caso en la plantilla se debe seleccionar Aplicación web de Blazor </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A fin de poder identificar el proyecto este terminara con .web y su ubicacion sera en el directorio correspondiente a ese cliente</a:t>
            </a:r>
            <a:endParaRPr sz="1564">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0"/>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04" name="Google Shape;404;p50"/>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05" name="Google Shape;405;p50"/>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De igual manera se usara .Net 10.0 como versión del framework, este proyecto generar 2 el .web que definimos y no .web.client.</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Para el caso de clientes mobile y desktop se va a crear un proyecto afín para estas plataformas, por lo que una vez más es necesario agregar un nuevo proyecto.</a:t>
            </a:r>
            <a:endParaRPr sz="1564">
              <a:latin typeface="Cambria"/>
              <a:ea typeface="Cambria"/>
              <a:cs typeface="Cambria"/>
              <a:sym typeface="Cambria"/>
            </a:endParaRPr>
          </a:p>
        </p:txBody>
      </p:sp>
      <p:pic>
        <p:nvPicPr>
          <p:cNvPr id="406" name="Google Shape;406;p50"/>
          <p:cNvPicPr preferRelativeResize="0"/>
          <p:nvPr/>
        </p:nvPicPr>
        <p:blipFill>
          <a:blip r:embed="rId3">
            <a:alphaModFix/>
          </a:blip>
          <a:stretch>
            <a:fillRect/>
          </a:stretch>
        </p:blipFill>
        <p:spPr>
          <a:xfrm>
            <a:off x="256575" y="3246650"/>
            <a:ext cx="3705225" cy="3581400"/>
          </a:xfrm>
          <a:prstGeom prst="rect">
            <a:avLst/>
          </a:prstGeom>
          <a:noFill/>
          <a:ln>
            <a:noFill/>
          </a:ln>
        </p:spPr>
      </p:pic>
      <p:pic>
        <p:nvPicPr>
          <p:cNvPr id="407" name="Google Shape;407;p50"/>
          <p:cNvPicPr preferRelativeResize="0"/>
          <p:nvPr/>
        </p:nvPicPr>
        <p:blipFill>
          <a:blip r:embed="rId4">
            <a:alphaModFix/>
          </a:blip>
          <a:stretch>
            <a:fillRect/>
          </a:stretch>
        </p:blipFill>
        <p:spPr>
          <a:xfrm>
            <a:off x="4326425" y="3793250"/>
            <a:ext cx="4625675" cy="18455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1"/>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13" name="Google Shape;413;p51"/>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14" name="Google Shape;414;p51"/>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la plantilla para este caso es la de aplicación de .NET MAUI Blazor Hybrid la cual permite fusionar la plataforma desktop y mobile.</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A esta plantilla colocaremos un nombre que finalice .Maui</a:t>
            </a:r>
            <a:endParaRPr sz="1564">
              <a:latin typeface="Cambria"/>
              <a:ea typeface="Cambria"/>
              <a:cs typeface="Cambria"/>
              <a:sym typeface="Cambria"/>
            </a:endParaRPr>
          </a:p>
        </p:txBody>
      </p:sp>
      <p:pic>
        <p:nvPicPr>
          <p:cNvPr id="415" name="Google Shape;415;p51"/>
          <p:cNvPicPr preferRelativeResize="0"/>
          <p:nvPr/>
        </p:nvPicPr>
        <p:blipFill>
          <a:blip r:embed="rId3">
            <a:alphaModFix/>
          </a:blip>
          <a:stretch>
            <a:fillRect/>
          </a:stretch>
        </p:blipFill>
        <p:spPr>
          <a:xfrm>
            <a:off x="107750" y="3471275"/>
            <a:ext cx="4476750" cy="2895600"/>
          </a:xfrm>
          <a:prstGeom prst="rect">
            <a:avLst/>
          </a:prstGeom>
          <a:noFill/>
          <a:ln>
            <a:noFill/>
          </a:ln>
        </p:spPr>
      </p:pic>
      <p:pic>
        <p:nvPicPr>
          <p:cNvPr id="416" name="Google Shape;416;p51"/>
          <p:cNvPicPr preferRelativeResize="0"/>
          <p:nvPr/>
        </p:nvPicPr>
        <p:blipFill>
          <a:blip r:embed="rId4">
            <a:alphaModFix/>
          </a:blip>
          <a:stretch>
            <a:fillRect/>
          </a:stretch>
        </p:blipFill>
        <p:spPr>
          <a:xfrm>
            <a:off x="4823813" y="3471275"/>
            <a:ext cx="4253601" cy="27053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2"/>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22" name="Google Shape;422;p52"/>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23" name="Google Shape;423;p52"/>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Se debe referenciar el proyecto central a los proyectos que se acaban de crear esto tanto para el proyecto web como para que es para desktop y mobile.</a:t>
            </a:r>
            <a:endParaRPr sz="1564">
              <a:latin typeface="Cambria"/>
              <a:ea typeface="Cambria"/>
              <a:cs typeface="Cambria"/>
              <a:sym typeface="Cambria"/>
            </a:endParaRPr>
          </a:p>
          <a:p>
            <a:pPr marL="457200" marR="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Con esto se debe buscar el proyecto shared(proyecto central) para que los proyectos adyacentes sepan a donde apuntar</a:t>
            </a:r>
            <a:endParaRPr sz="1564">
              <a:latin typeface="Cambria"/>
              <a:ea typeface="Cambria"/>
              <a:cs typeface="Cambria"/>
              <a:sym typeface="Cambria"/>
            </a:endParaRPr>
          </a:p>
        </p:txBody>
      </p:sp>
      <p:pic>
        <p:nvPicPr>
          <p:cNvPr id="424" name="Google Shape;424;p52"/>
          <p:cNvPicPr preferRelativeResize="0"/>
          <p:nvPr/>
        </p:nvPicPr>
        <p:blipFill>
          <a:blip r:embed="rId3">
            <a:alphaModFix/>
          </a:blip>
          <a:stretch>
            <a:fillRect/>
          </a:stretch>
        </p:blipFill>
        <p:spPr>
          <a:xfrm>
            <a:off x="167300" y="3910850"/>
            <a:ext cx="4107051" cy="1826175"/>
          </a:xfrm>
          <a:prstGeom prst="rect">
            <a:avLst/>
          </a:prstGeom>
          <a:noFill/>
          <a:ln>
            <a:noFill/>
          </a:ln>
        </p:spPr>
      </p:pic>
      <p:pic>
        <p:nvPicPr>
          <p:cNvPr id="425" name="Google Shape;425;p52"/>
          <p:cNvPicPr preferRelativeResize="0"/>
          <p:nvPr/>
        </p:nvPicPr>
        <p:blipFill>
          <a:blip r:embed="rId4">
            <a:alphaModFix/>
          </a:blip>
          <a:stretch>
            <a:fillRect/>
          </a:stretch>
        </p:blipFill>
        <p:spPr>
          <a:xfrm>
            <a:off x="4429438" y="3317241"/>
            <a:ext cx="4732200" cy="333298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3"/>
          <p:cNvSpPr txBox="1">
            <a:spLocks noGrp="1"/>
          </p:cNvSpPr>
          <p:nvPr>
            <p:ph type="title"/>
          </p:nvPr>
        </p:nvSpPr>
        <p:spPr>
          <a:xfrm>
            <a:off x="514217" y="68780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31" name="Google Shape;431;p53"/>
          <p:cNvSpPr/>
          <p:nvPr/>
        </p:nvSpPr>
        <p:spPr>
          <a:xfrm>
            <a:off x="9316722" y="-3"/>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32" name="Google Shape;432;p53"/>
          <p:cNvSpPr txBox="1">
            <a:spLocks noGrp="1"/>
          </p:cNvSpPr>
          <p:nvPr>
            <p:ph type="body" idx="1"/>
          </p:nvPr>
        </p:nvSpPr>
        <p:spPr>
          <a:xfrm>
            <a:off x="514225" y="1888629"/>
            <a:ext cx="8589300" cy="1170900"/>
          </a:xfrm>
          <a:prstGeom prst="rect">
            <a:avLst/>
          </a:prstGeom>
          <a:noFill/>
          <a:ln>
            <a:noFill/>
          </a:ln>
        </p:spPr>
        <p:txBody>
          <a:bodyPr spcFirstLastPara="1" wrap="square" lIns="91425" tIns="45700" rIns="91425" bIns="45700" anchor="ctr" anchorCtr="0">
            <a:normAutofit/>
          </a:bodyPr>
          <a:lstStyle/>
          <a:p>
            <a:pPr marL="457200" lvl="0" indent="-327914" algn="l" rtl="0">
              <a:lnSpc>
                <a:spcPct val="115000"/>
              </a:lnSpc>
              <a:spcBef>
                <a:spcPts val="0"/>
              </a:spcBef>
              <a:spcAft>
                <a:spcPts val="0"/>
              </a:spcAft>
              <a:buSzPts val="1564"/>
              <a:buFont typeface="Cambria"/>
              <a:buChar char="◼"/>
            </a:pPr>
            <a:r>
              <a:rPr lang="es-ES" sz="1564">
                <a:latin typeface="Cambria"/>
                <a:ea typeface="Cambria"/>
                <a:cs typeface="Cambria"/>
                <a:sym typeface="Cambria"/>
              </a:rPr>
              <a:t>Lo que sigue es ir creando los diferentes paquetes que se van a usar.</a:t>
            </a:r>
            <a:endParaRPr sz="1564">
              <a:latin typeface="Cambria"/>
              <a:ea typeface="Cambria"/>
              <a:cs typeface="Cambria"/>
              <a:sym typeface="Cambria"/>
            </a:endParaRPr>
          </a:p>
        </p:txBody>
      </p:sp>
      <p:pic>
        <p:nvPicPr>
          <p:cNvPr id="433" name="Google Shape;433;p53"/>
          <p:cNvPicPr preferRelativeResize="0"/>
          <p:nvPr/>
        </p:nvPicPr>
        <p:blipFill>
          <a:blip r:embed="rId3">
            <a:alphaModFix/>
          </a:blip>
          <a:stretch>
            <a:fillRect/>
          </a:stretch>
        </p:blipFill>
        <p:spPr>
          <a:xfrm>
            <a:off x="1164400" y="2905725"/>
            <a:ext cx="5611251" cy="37677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5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39" name="Google Shape;439;p5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40" name="Google Shape;440;p5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41" name="Google Shape;441;p54"/>
          <p:cNvGraphicFramePr/>
          <p:nvPr/>
        </p:nvGraphicFramePr>
        <p:xfrm>
          <a:off x="2311225" y="2755638"/>
          <a:ext cx="5903875" cy="2518918"/>
        </p:xfrm>
        <a:graphic>
          <a:graphicData uri="http://schemas.openxmlformats.org/drawingml/2006/table">
            <a:tbl>
              <a:tblPr>
                <a:noFill/>
                <a:tableStyleId>{BF136021-7255-42B7-A7E7-87A8D8FFE9CA}</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ec.edu.monster.Modelos;</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public static class ConstantesRed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"192.168.18.9";</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"localhost";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UrlJavaSoap = $"http://{IP_WEB_SERVICES}:8080/04.SERVIDOR/WSConversorUnidades";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UrlDotNetSoap = $"http://{IP_WEB_SERVICES}:50774/WSConversorUnidades.svc";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UrlDotNetRest = $"http://{IP_WEB_SERVICES}:52100/api";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UrlJavaRest = $"http://{IP_WEB_SERVICES}:8080/04.SERVIDOR/api";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47" name="Google Shape;447;p5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48" name="Google Shape;448;p5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49" name="Google Shape;449;p55"/>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namespace ec.edu.monster.Servicios;</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public class FabricaEstrategiaBackend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readonly IEnumerable&lt;IAdaptadorConversion&gt; _adaptadoresConversion;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readonly IEnumerable&lt;IAdaptadorAutenticacion&gt; _adaptadoresAutenticacion;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FabricaEstrategiaBackend(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IEnumerable&lt;IAdaptadorConversion&gt; 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IEnumerable&lt;IAdaptadorAutenticacion&gt; 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_adaptadoresConversion = adaptadoresConversion;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_adaptadoresAutenticacion = adaptadoresAutenticacion;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IAdaptadorConversion ObtenerAdaptadorConversion(TipoBackend tipo)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_adaptadoresConversion.FirstOrDefault(a =&gt; a.Tipo == tipo)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throw new NotSupportedException($"Adaptador de conversión para {tipo} no implementado.");</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IAdaptadorAutenticacion ObtenerAdaptadorAutenticacion(TipoBackend tipo)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_adaptadoresAutenticacion.FirstOrDefault(a =&gt; a.Tipo == tipo)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throw new NotSupportedException($"Adaptador de autenticación para {tipo} no implementado.");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5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55" name="Google Shape;455;p5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56" name="Google Shape;456;p5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57" name="Google Shape;457;p56"/>
          <p:cNvGraphicFramePr/>
          <p:nvPr/>
        </p:nvGraphicFramePr>
        <p:xfrm>
          <a:off x="2385650" y="2264513"/>
          <a:ext cx="5903875" cy="2870200"/>
        </p:xfrm>
        <a:graphic>
          <a:graphicData uri="http://schemas.openxmlformats.org/drawingml/2006/table">
            <a:tbl>
              <a:tblPr>
                <a:noFill/>
                <a:tableStyleId>{BF136021-7255-42B7-A7E7-87A8D8FFE9CA}</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@page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ec.edu.monster.Servicios.EstadoAplicacion EstadoApp</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ec.edu.monster.Servicios.FabricaEstrategiaBackend Fabrica</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@inject NavigationManager NavManager</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&lt;div class="espe-background"&gt;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class="espe-card" style="width: 800px;"&gt;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class="row g-0"&gt;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class="col-md-6" style="background-color: #f8f9fa;"&gt;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&lt;img src="/sullivan_computer.jpg" class="img-fluid" style="height: 100%; object-fit: cover;" alt="Imagen Login"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class="col-md-6 p-5 d-flex flex-column justify-content-center"&gt;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class="text-center mb-4"&gt;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&lt;h4 style="color: #0F4770;"&gt;Sistema de Conversión de Unidades&lt;/h4&gt;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&lt;small class="text-secondary"&gt;GRUPO #5&lt;/small&gt;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63" name="Google Shape;463;p57"/>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64" name="Google Shape;464;p5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65" name="Google Shape;465;p57"/>
          <p:cNvGraphicFramePr/>
          <p:nvPr/>
        </p:nvGraphicFramePr>
        <p:xfrm>
          <a:off x="2445175" y="2026388"/>
          <a:ext cx="3000000" cy="3000000"/>
        </p:xfrm>
        <a:graphic>
          <a:graphicData uri="http://schemas.openxmlformats.org/drawingml/2006/table">
            <a:tbl>
              <a:tblPr>
                <a:noFill/>
                <a:tableStyleId>{BF136021-7255-42B7-A7E7-87A8D8FFE9CA}</a:tableStyleId>
              </a:tblPr>
              <a:tblGrid>
                <a:gridCol w="5903875">
                  <a:extLst>
                    <a:ext uri="{9D8B030D-6E8A-4147-A177-3AD203B41FA5}">
                      <a16:colId xmlns:a16="http://schemas.microsoft.com/office/drawing/2014/main" val="20000"/>
                    </a:ext>
                  </a:extLst>
                </a:gridCol>
              </a:tblGrid>
              <a:tr h="2513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 &lt;div class="mb-4 p-3 rounded" style="background-color: #e0f2f1; border-left: 4px solid #0F4770;"&gt;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 class="fw-bold text-secondary mb-1" style="font-size: 0.85rem;"&gt;ENTORNO DE CONEXIÓN&lt;/label&gt;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&lt;select class="form-select espe-form-control bg-transparent border-0 border-bottom fw-bold"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style="color: #0F4770; box-shadow: none;"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@bind:get="EstadoApp.BackendActual"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@bind:set="(value) =&gt; EstadoApp.EstablecerBackend(value)"&gt;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@foreach (var backend in Enum.GetValues&lt;ec.edu.monster.Modelos.TipoBackend&gt;())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&lt;option value="@backend"&gt;@backend.ToString()&lt;/option&gt;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&lt;/select&gt;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class="mb-3"&gt;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&lt;label&gt;Usuario&lt;/label&gt;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&lt;input type="text" class="form-control espe-form-control" @bind="usuario"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class="mb-4"&gt;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&lt;label&gt;Contraseña&lt;/label&gt;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&lt;input type="password" class="form-control espe-form-control" @bind="contrasenia" /&gt;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&lt;button class="btn espe-btn-primary w-100" @onclick="HacerLogin"&gt;Iniciar sesión&lt;/button&gt;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class="alert alert-success mt-3 p-2 text-center" style="font-size: 0.8em; overflow-wrap: break-word;"&gt;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Token obtenido correctamente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71" name="Google Shape;471;p58"/>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72" name="Google Shape;472;p5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73" name="Google Shape;473;p58"/>
          <p:cNvGraphicFramePr/>
          <p:nvPr/>
        </p:nvGraphicFramePr>
        <p:xfrm>
          <a:off x="2332838" y="1771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5097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(!string.IsNullOrEmpty(mensajeErrorLogin))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class="alert alert-danger mt-3 p-2 text-center" style="font-size: 0.8em;"&gt;@mensajeErrorLogin&lt;/div&gt;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 class="text-center mt-4"&gt;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&lt;small class="text-info" style="font-size: 0.8rem;"&gt;Servidor web listo para conexiones.&lt;/small&gt;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&lt;/div&gt;</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@code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usuario = "Monster";</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contrasenia = "Monster9";</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string mensajeErrorLogin =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private async Task HacerLogin()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mensajeErrorLogin =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try</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patrón Strategy:</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adaptadorAuth = Fabrica.ObtenerAdaptadorAutenticacion(EstadoApp.BackendActual);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EstadoApp.TokenActual = await adaptadorAuth.IniciarSesionAsync(usuario, contrasenia);</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NavManager.NavigateTo("/conversor");</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catch (Exception ex)</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mensajeErrorLogin = ex.Message;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79" name="Google Shape;479;p5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80" name="Google Shape;480;p5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81" name="Google Shape;481;p59"/>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AdaptadorAutenticacionJavaSoap : IAdaptadorAutenticacion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AdaptadorAutenticacionJavaSoap(HttpClient 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IniciarSesionAsync(string usuario, string contrasenia)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6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87" name="Google Shape;487;p60"/>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88" name="Google Shape;488;p6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89" name="Google Shape;489;p60"/>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(Envelope)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Nota: El namespace "http://ws.monster.edu.ec/" es el que Java genera por defecto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&lt;usuario&gt;{usuario}&lt;/usuario&gt;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&lt;contrasenia&gt;{contrasenia}&lt;/contrasenia&gt;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 a Payara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HTTP: {response.StatusCode}");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3. Leer e interpretar la respuesta 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95" name="Google Shape;495;p61"/>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496" name="Google Shape;496;p6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497" name="Google Shape;497;p61"/>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Buscamos la etiqueta &lt;return&gt; que contiene el token (comportamiento estándar de JAX-WS)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tokenElement = doc.Descendants().FirstOrDefault(x =&gt; x.Name.LocalName == "return");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(tokenElement == null)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encontró el token en la respuesta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tokenElement.Value;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CambiarContraseniaAsync(string contraseniaActual, string contraseniaNueva, string token)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Construimos el XML respetando los @WebParam de tu Java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&lt;contraseniaActual&gt;{contraseniaActual}&lt;/contraseniaActual&gt;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&lt;contraseniaNueva&gt;{contraseniaNueva}&lt;/contraseniaNueva&gt;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request = new HttpRequestMessage(HttpMethod.Post, ConstantesRed.UrlJavaSoap)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Content = new StringContent(soapXml, System.Text.Encoding.UTF8, "text/xml")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03" name="Google Shape;503;p62"/>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04" name="Google Shape;504;p6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05" name="Google Shape;505;p62"/>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request.Headers.ExpectContinue = false;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request.Headers.Add("SOAPAction",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_httpClient.SendAsync(request);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docFault = System.Xml.Linq.XDocument.Parse(responseXml);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{faultString ?? "No se pudo cambiar la contraseña"}");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 = System.Xml.Linq.XDocument.Parse(responseXml);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resultElement?.Value ?? "Contraseña actualizada correctamente";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6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11" name="Google Shape;511;p6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12" name="Google Shape;512;p6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13" name="Google Shape;513;p63"/>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System.Globalization;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AdaptadorConversionJavaSoap : IAdaptadorConversion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AdaptadorConversionJavaSoap(HttpClient 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public async Task&lt;double&gt; ConvertirAsync(PeticionConversion peticion, string token)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Determinamos qué método llamar en el Web Service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metodoWs = peticion.TipoConversion switch</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"Masa" =&gt; "convertirMasa",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"Temperatura" =&gt; "convertirTemperatura",</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_ =&gt; "convertirLongitud"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6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19" name="Google Shape;519;p6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20" name="Google Shape;520;p6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21" name="Google Shape;521;p64"/>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string valorFormateado = peticion.Valor.ToString(CultureInfo.InvariantCulture);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incluyendo el Token en el Header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&lt;ws:token&gt;{token}&lt;/ws:token&gt;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&lt;valor&gt;{valorFormateado}&lt;/valor&gt;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&lt;unidadInicial&gt;{peticion.UnidadOrigen}&lt;/unidadInicial&gt;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&lt;unidadFinal&gt;{peticion.UnidadDestino}&lt;/unidadFinal&gt;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Si el token es inválido o hay un error, Java SOAP suele devolver HTTP 500 con un &lt;soapenv:Fault&gt;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6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27" name="Google Shape;527;p6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528" name="Google Shape;528;p6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rgbClr val="FFFF00"/>
              </a:buClr>
              <a:buSzPts val="1200"/>
              <a:buFont typeface="Gill Sans"/>
              <a:buChar char="◼"/>
            </a:pPr>
            <a:r>
              <a:rPr lang="es-ES" sz="1200" b="1">
                <a:solidFill>
                  <a:srgbClr val="FFFF00"/>
                </a:solidFill>
                <a:latin typeface="Gill Sans"/>
                <a:ea typeface="Gill Sans"/>
                <a:cs typeface="Gill Sans"/>
                <a:sym typeface="Gill Sans"/>
              </a:rPr>
              <a:t>CREACIÓN DEL PROYECTO MAUI</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29" name="Google Shape;529;p65"/>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0367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docFault = 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del servidor SOAP: {faultString ?? response.StatusCode.ToString()}");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3. Extraer el resultado double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if (resultElement != null &amp;&amp; double.TryParse(resultElement.Value, NumberStyles.Any, CultureInfo.InvariantCulture, out double resultado))</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resultado;</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pudo parsear el resultado matemático del XML.");</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36" name="Google Shape;536;p66"/>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desktop se debe crear la instancia que llame al codigo que esta en el proyecto .shared, por lo que el codigo se ve asi, es el mismo que el de movil, sol cambiará la adaptación de la plataforma que se llame</a:t>
            </a:r>
            <a:endParaRPr>
              <a:latin typeface="Cambria"/>
              <a:ea typeface="Cambria"/>
              <a:cs typeface="Cambria"/>
              <a:sym typeface="Cambria"/>
            </a:endParaRPr>
          </a:p>
        </p:txBody>
      </p:sp>
      <p:sp>
        <p:nvSpPr>
          <p:cNvPr id="537" name="Google Shape;537;p66"/>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38" name="Google Shape;538;p66"/>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3453000">
                <a:tc>
                  <a:txBody>
                    <a:bodyPr/>
                    <a:lstStyle/>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539" name="Google Shape;539;p66"/>
          <p:cNvSpPr txBox="1"/>
          <p:nvPr/>
        </p:nvSpPr>
        <p:spPr>
          <a:xfrm>
            <a:off x="122575" y="1715850"/>
            <a:ext cx="7232400" cy="758100"/>
          </a:xfrm>
          <a:prstGeom prst="rect">
            <a:avLst/>
          </a:prstGeom>
          <a:noFill/>
          <a:ln>
            <a:noFill/>
          </a:ln>
        </p:spPr>
        <p:txBody>
          <a:bodyPr spcFirstLastPara="1" wrap="square" lIns="91425" tIns="91425" rIns="91425" bIns="91425" anchor="t" anchorCtr="0">
            <a:spAutoFit/>
          </a:bodyPr>
          <a:lstStyle/>
          <a:p>
            <a:pPr marL="0" lvl="0" indent="0" algn="just" rtl="0">
              <a:lnSpc>
                <a:spcPct val="107000"/>
              </a:lnSpc>
              <a:spcBef>
                <a:spcPts val="0"/>
              </a:spcBef>
              <a:spcAft>
                <a:spcPts val="0"/>
              </a:spcAft>
              <a:buNone/>
            </a:pPr>
            <a:r>
              <a:rPr lang="es-ES" sz="1800" b="1">
                <a:solidFill>
                  <a:schemeClr val="dk2"/>
                </a:solidFill>
                <a:latin typeface="Cambria"/>
                <a:ea typeface="Cambria"/>
                <a:cs typeface="Cambria"/>
                <a:sym typeface="Cambria"/>
              </a:rPr>
              <a:t>1.6 	CREACIÓN DEL PROYECTO – CLIENTE ESCRITORIO</a:t>
            </a:r>
            <a:br>
              <a:rPr lang="es-ES" sz="1800" b="1">
                <a:solidFill>
                  <a:schemeClr val="dk2"/>
                </a:solidFill>
                <a:latin typeface="Cambria"/>
                <a:ea typeface="Cambria"/>
                <a:cs typeface="Cambria"/>
                <a:sym typeface="Cambria"/>
              </a:rPr>
            </a:br>
            <a:endParaRPr sz="1800">
              <a:solidFill>
                <a:schemeClr val="dk2"/>
              </a:solidFill>
              <a:latin typeface="Gill Sans"/>
              <a:ea typeface="Gill Sans"/>
              <a:cs typeface="Gill Sans"/>
              <a:sym typeface="Gill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46" name="Google Shape;546;p67"/>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47" name="Google Shape;547;p67"/>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2. SERVICIOS CORE</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54" name="Google Shape;554;p68"/>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55" name="Google Shape;555;p68"/>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110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62" name="Google Shape;562;p6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63" name="Google Shape;563;p69"/>
          <p:cNvGraphicFramePr/>
          <p:nvPr/>
        </p:nvGraphicFramePr>
        <p:xfrm>
          <a:off x="2332825" y="191408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a:solidFill>
                            <a:srgbClr val="4F81BD"/>
                          </a:solidFill>
                          <a:latin typeface="Calibri"/>
                          <a:ea typeface="Calibri"/>
                          <a:cs typeface="Calibri"/>
                          <a:sym typeface="Calibri"/>
                        </a:rPr>
                        <a:t>}</a:t>
                      </a:r>
                      <a:endParaRPr sz="110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570" name="Google Shape;570;p70"/>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571" name="Google Shape;571;p7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78" name="Google Shape;578;p71"/>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579" name="Google Shape;579;p71"/>
          <p:cNvPicPr preferRelativeResize="0"/>
          <p:nvPr/>
        </p:nvPicPr>
        <p:blipFill>
          <a:blip r:embed="rId3">
            <a:alphaModFix/>
          </a:blip>
          <a:stretch>
            <a:fillRect/>
          </a:stretch>
        </p:blipFill>
        <p:spPr>
          <a:xfrm>
            <a:off x="2057925" y="2610550"/>
            <a:ext cx="5734050" cy="34671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86" name="Google Shape;586;p7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587" name="Google Shape;587;p72"/>
          <p:cNvPicPr preferRelativeResize="0"/>
          <p:nvPr/>
        </p:nvPicPr>
        <p:blipFill>
          <a:blip r:embed="rId3">
            <a:alphaModFix/>
          </a:blip>
          <a:stretch>
            <a:fillRect/>
          </a:stretch>
        </p:blipFill>
        <p:spPr>
          <a:xfrm>
            <a:off x="2176450" y="2610550"/>
            <a:ext cx="5734050" cy="34956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94" name="Google Shape;594;p73"/>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web se debe crear la instancia que llame al codigo que esta en el proyecto .shared, por lo que el codigo se ve asi:</a:t>
            </a:r>
            <a:endParaRPr>
              <a:latin typeface="Cambria"/>
              <a:ea typeface="Cambria"/>
              <a:cs typeface="Cambria"/>
              <a:sym typeface="Cambria"/>
            </a:endParaRPr>
          </a:p>
        </p:txBody>
      </p:sp>
      <p:sp>
        <p:nvSpPr>
          <p:cNvPr id="595" name="Google Shape;595;p73"/>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596" name="Google Shape;596;p73"/>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345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SistemaConversorUI.Web.Client.Pages;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using ec.edu.monster.Components;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var builder = WebApplication.CreateBuilder(args);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1. Servicios base de Blazor y Seguridad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builder.Services.AddRazorComponents()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.AddInteractiveServerComponents();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2. SERVICIOS CORE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03" name="Google Shape;603;p74"/>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04" name="Google Shape;604;p74"/>
          <p:cNvGraphicFramePr/>
          <p:nvPr/>
        </p:nvGraphicFramePr>
        <p:xfrm>
          <a:off x="2332838" y="206183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3. ADAPTADORES DE AUTENTICACIÓN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Los Mocks (Para los demás):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4. ADAPTADORES DE CONVERSIÓN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11" name="Google Shape;611;p75"/>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graphicFrame>
        <p:nvGraphicFramePr>
          <p:cNvPr id="612" name="Google Shape;612;p75"/>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Los Mocks: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FIN DE LOS SERVICIOS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var app = builder.Build();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Configure the HTTP request pipeline.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if (app.Environment.IsDevelopment())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app.UseWebAssemblyDebugging();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else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app.UseExceptionHandler("/Error", createScopeForErrors: true);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The default HSTS value is 30 days. You may want to change this for production scenarios, see https://aka.ms/aspnetcore-hsts.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app.UseHsts();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app.UseStatusCodePagesWithReExecute("/not-found", createScopeForStatusCodePages: true);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app.UseHttpsRedirection();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app.UseAntiforgery();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app.MapStaticAssets();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app.MapRazorComponents&lt;App&gt;()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.AddInteractiveServerRenderMode()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.AddAdditionalAssemblies(typeof(SistemaConversorUI.Web.Client._Imports).Assembly);</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app.Run();</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619" name="Google Shape;619;p76"/>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620" name="Google Shape;620;p76"/>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27" name="Google Shape;627;p77"/>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a:t>
            </a:r>
            <a:endParaRPr sz="2000" b="0" i="0" u="none" strike="noStrike" cap="none">
              <a:solidFill>
                <a:srgbClr val="3D3D3D"/>
              </a:solidFill>
              <a:latin typeface="Cambria"/>
              <a:ea typeface="Cambria"/>
              <a:cs typeface="Cambria"/>
              <a:sym typeface="Cambria"/>
            </a:endParaRPr>
          </a:p>
        </p:txBody>
      </p:sp>
      <p:pic>
        <p:nvPicPr>
          <p:cNvPr id="628" name="Google Shape;628;p77"/>
          <p:cNvPicPr preferRelativeResize="0"/>
          <p:nvPr/>
        </p:nvPicPr>
        <p:blipFill>
          <a:blip r:embed="rId3">
            <a:alphaModFix/>
          </a:blip>
          <a:stretch>
            <a:fillRect/>
          </a:stretch>
        </p:blipFill>
        <p:spPr>
          <a:xfrm>
            <a:off x="989425" y="2522350"/>
            <a:ext cx="7615825" cy="38964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34" name="Google Shape;634;p7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MOVIL</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35" name="Google Shape;635;p78"/>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Cambiar contraseña</a:t>
            </a:r>
            <a:endParaRPr sz="2000" b="0" i="0" u="none" strike="noStrike" cap="none">
              <a:solidFill>
                <a:srgbClr val="3D3D3D"/>
              </a:solidFill>
              <a:latin typeface="Cambria"/>
              <a:ea typeface="Cambria"/>
              <a:cs typeface="Cambria"/>
              <a:sym typeface="Cambria"/>
            </a:endParaRPr>
          </a:p>
        </p:txBody>
      </p:sp>
      <p:pic>
        <p:nvPicPr>
          <p:cNvPr id="636" name="Google Shape;636;p78"/>
          <p:cNvPicPr preferRelativeResize="0"/>
          <p:nvPr/>
        </p:nvPicPr>
        <p:blipFill>
          <a:blip r:embed="rId3">
            <a:alphaModFix/>
          </a:blip>
          <a:stretch>
            <a:fillRect/>
          </a:stretch>
        </p:blipFill>
        <p:spPr>
          <a:xfrm>
            <a:off x="1223950" y="2763050"/>
            <a:ext cx="7317725" cy="37318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graphicFrame>
        <p:nvGraphicFramePr>
          <p:cNvPr id="641" name="Google Shape;641;p79"/>
          <p:cNvGraphicFramePr/>
          <p:nvPr/>
        </p:nvGraphicFramePr>
        <p:xfrm>
          <a:off x="2332838" y="286528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3661575">
                <a:tc>
                  <a:txBody>
                    <a:bodyPr/>
                    <a:lstStyle/>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42" name="Google Shape;642;p7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p7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44" name="Google Shape;644;p79"/>
          <p:cNvSpPr txBox="1"/>
          <p:nvPr/>
        </p:nvSpPr>
        <p:spPr>
          <a:xfrm>
            <a:off x="406975" y="1921878"/>
            <a:ext cx="8576700" cy="7374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Clr>
                <a:srgbClr val="000000"/>
              </a:buClr>
              <a:buSzPts val="1800"/>
              <a:buFont typeface="Arial"/>
              <a:buNone/>
            </a:pPr>
            <a:r>
              <a:rPr lang="es-ES" sz="1800" b="1">
                <a:solidFill>
                  <a:srgbClr val="3D3D3D"/>
                </a:solidFill>
                <a:latin typeface="Cambria"/>
                <a:ea typeface="Cambria"/>
                <a:cs typeface="Cambria"/>
                <a:sym typeface="Cambria"/>
              </a:rPr>
              <a:t>1.6</a:t>
            </a:r>
            <a:r>
              <a:rPr lang="es-ES" sz="1800" b="1" i="0" u="none" strike="noStrike" cap="none">
                <a:solidFill>
                  <a:srgbClr val="3D3D3D"/>
                </a:solidFill>
                <a:latin typeface="Cambria"/>
                <a:ea typeface="Cambria"/>
                <a:cs typeface="Cambria"/>
                <a:sym typeface="Cambria"/>
              </a:rPr>
              <a:t> 	CREACIÓN DEL PROYECTO – CLIENTE MÓVIL</a:t>
            </a:r>
            <a:br>
              <a:rPr lang="es-ES" sz="1800" b="1" i="0" u="none" strike="noStrike" cap="none">
                <a:solidFill>
                  <a:srgbClr val="3D3D3D"/>
                </a:solidFill>
                <a:latin typeface="Cambria"/>
                <a:ea typeface="Cambria"/>
                <a:cs typeface="Cambria"/>
                <a:sym typeface="Cambria"/>
              </a:rPr>
            </a:br>
            <a:endParaRPr sz="1800" b="0" i="0" u="none" strike="noStrike" cap="none">
              <a:solidFill>
                <a:srgbClr val="3D3D3D"/>
              </a:solidFill>
              <a:latin typeface="Gill Sans"/>
              <a:ea typeface="Gill Sans"/>
              <a:cs typeface="Gill Sans"/>
              <a:sym typeface="Gill Sans"/>
            </a:endParaRPr>
          </a:p>
        </p:txBody>
      </p:sp>
      <p:sp>
        <p:nvSpPr>
          <p:cNvPr id="645" name="Google Shape;645;p79"/>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
        <p:nvSpPr>
          <p:cNvPr id="646" name="Google Shape;646;p79"/>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móvil se debe crear la instancia que llame al codigo que esta en el proyecto .shared, por lo que el código se ve así:</a:t>
            </a:r>
            <a:endParaRPr>
              <a:latin typeface="Cambria"/>
              <a:ea typeface="Cambria"/>
              <a:cs typeface="Cambria"/>
              <a:sym typeface="Cambri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aphicFrame>
        <p:nvGraphicFramePr>
          <p:cNvPr id="651" name="Google Shape;651;p80"/>
          <p:cNvGraphicFramePr/>
          <p:nvPr/>
        </p:nvGraphicFramePr>
        <p:xfrm>
          <a:off x="2332838" y="2061638"/>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9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2. SERVICIOS CORE</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52" name="Google Shape;652;p8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54" name="Google Shape;654;p80"/>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graphicFrame>
        <p:nvGraphicFramePr>
          <p:cNvPr id="659" name="Google Shape;659;p81"/>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93000">
                <a:tc>
                  <a:txBody>
                    <a:bodyPr/>
                    <a:lstStyle/>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60" name="Google Shape;660;p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chemeClr val="lt1"/>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62" name="Google Shape;662;p81"/>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670" name="Google Shape;670;p82"/>
          <p:cNvPicPr preferRelativeResize="0"/>
          <p:nvPr/>
        </p:nvPicPr>
        <p:blipFill>
          <a:blip r:embed="rId3">
            <a:alphaModFix/>
          </a:blip>
          <a:srcRect b="36682"/>
          <a:stretch/>
        </p:blipFill>
        <p:spPr>
          <a:xfrm>
            <a:off x="3850100" y="2740312"/>
            <a:ext cx="2484925" cy="301427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 de unidades</a:t>
            </a:r>
            <a:endParaRPr sz="2000" b="0" i="0" u="none" strike="noStrike" cap="none">
              <a:solidFill>
                <a:srgbClr val="3D3D3D"/>
              </a:solidFill>
              <a:latin typeface="Cambria"/>
              <a:ea typeface="Cambria"/>
              <a:cs typeface="Cambria"/>
              <a:sym typeface="Cambria"/>
            </a:endParaRPr>
          </a:p>
        </p:txBody>
      </p:sp>
      <p:pic>
        <p:nvPicPr>
          <p:cNvPr id="678" name="Google Shape;678;p83"/>
          <p:cNvPicPr preferRelativeResize="0"/>
          <p:nvPr/>
        </p:nvPicPr>
        <p:blipFill>
          <a:blip r:embed="rId3">
            <a:alphaModFix/>
          </a:blip>
          <a:stretch>
            <a:fillRect/>
          </a:stretch>
        </p:blipFill>
        <p:spPr>
          <a:xfrm>
            <a:off x="5149825" y="1868350"/>
            <a:ext cx="2413600" cy="47166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SERVIDOR RESTful</a:t>
            </a:r>
            <a:endParaRPr>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12096" algn="l" rtl="0">
              <a:spcBef>
                <a:spcPts val="840"/>
              </a:spcBef>
              <a:spcAft>
                <a:spcPts val="0"/>
              </a:spcAft>
              <a:buClr>
                <a:schemeClr val="accent2"/>
              </a:buClr>
              <a:buSzPts val="1200"/>
              <a:buFont typeface="Gill Sans"/>
              <a:buChar char="◼"/>
            </a:pPr>
            <a:r>
              <a:rPr lang="es-ES" sz="1200" b="1">
                <a:solidFill>
                  <a:schemeClr val="lt1"/>
                </a:solidFill>
                <a:latin typeface="Gill Sans"/>
                <a:ea typeface="Gill Sans"/>
                <a:cs typeface="Gill Sans"/>
                <a:sym typeface="Gill Sans"/>
              </a:rPr>
              <a:t>CREACIÓN DEL PROYECTO MAUI</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ESCRITORIO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CREACIÓN DEL PROYECTO – CLIENTE WEB</a:t>
            </a:r>
            <a:endParaRPr>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CONCLUSIONES</a:t>
            </a: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chemeClr val="lt1"/>
                </a:solidFill>
                <a:latin typeface="Gill Sans"/>
                <a:ea typeface="Gill Sans"/>
                <a:cs typeface="Gill Sans"/>
                <a:sym typeface="Gill Sans"/>
              </a:rPr>
              <a:t>RECOMENDACIONES</a:t>
            </a: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cambio de contraseña</a:t>
            </a:r>
            <a:endParaRPr sz="2000" b="0" i="0" u="none" strike="noStrike" cap="none">
              <a:solidFill>
                <a:srgbClr val="3D3D3D"/>
              </a:solidFill>
              <a:latin typeface="Cambria"/>
              <a:ea typeface="Cambria"/>
              <a:cs typeface="Cambria"/>
              <a:sym typeface="Cambria"/>
            </a:endParaRPr>
          </a:p>
        </p:txBody>
      </p:sp>
      <p:pic>
        <p:nvPicPr>
          <p:cNvPr id="686" name="Google Shape;686;p84"/>
          <p:cNvPicPr preferRelativeResize="0"/>
          <p:nvPr/>
        </p:nvPicPr>
        <p:blipFill>
          <a:blip r:embed="rId3">
            <a:alphaModFix/>
          </a:blip>
          <a:stretch>
            <a:fillRect/>
          </a:stretch>
        </p:blipFill>
        <p:spPr>
          <a:xfrm>
            <a:off x="5042825" y="1868350"/>
            <a:ext cx="2520625" cy="51565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r>
              <a:rPr lang="es-ES" sz="1900">
                <a:latin typeface="Cambria"/>
                <a:ea typeface="Cambria"/>
                <a:cs typeface="Cambria"/>
                <a:sym typeface="Cambria"/>
              </a:rPr>
              <a:t>La culminación de este proyecto evidencia la efectividad de una Arquitectura Orientada a Servicios (SOA) al integrar exitosamente un servidor RESTful robusto, desarrollado en C# .NET 8 y alojado en Kestrel Server, con un ecosistema de clientes multiplataforma (web, móvil, escritorio y consola) mediante el uso de .NET MAUI. Esta integración técnica se validó mediante la implementación de un sistema de seguridad desacoplado basado en tokens y manejadores de mensajes (Message Handlers), junto con la aplicación del patrón Strategy en el cliente, lo que garantiza una solución de software interoperable, escalable y alineada con los estándares de desarrollo empresarial modernos.</a:t>
            </a:r>
            <a:endParaRPr sz="1900"/>
          </a:p>
        </p:txBody>
      </p:sp>
      <p:sp>
        <p:nvSpPr>
          <p:cNvPr id="693" name="Google Shape;693;p8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RESTful</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400" b="0" i="0" u="none" strike="noStrike" cap="none">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90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a:latin typeface="Cambria"/>
              <a:ea typeface="Cambria"/>
              <a:cs typeface="Cambria"/>
              <a:sym typeface="Cambria"/>
            </a:endParaRPr>
          </a:p>
          <a:p>
            <a:pPr marL="0" lvl="0" indent="0" algn="just" rtl="0">
              <a:lnSpc>
                <a:spcPct val="107000"/>
              </a:lnSpc>
              <a:spcBef>
                <a:spcPts val="0"/>
              </a:spcBef>
              <a:spcAft>
                <a:spcPts val="0"/>
              </a:spcAft>
              <a:buNone/>
            </a:pP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 </a:t>
            </a: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Incorporar herramientas de análisis estático de código automatizadas dentro del ciclo de vida de desarrollo para monitorear la calidad del software y asegurar que las nuevas funcionalidades no rompan la compatibilidad con el contrato OpenAPI 3.0 / Swagger expuesto.</a:t>
            </a:r>
            <a:endParaRPr sz="190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RESTful</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400" b="0" i="0" u="none" strike="noStrike" cap="none">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12055</Words>
  <Application>Microsoft Office PowerPoint</Application>
  <PresentationFormat>Panorámica</PresentationFormat>
  <Paragraphs>2028</Paragraphs>
  <Slides>74</Slides>
  <Notes>74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74</vt:i4>
      </vt:variant>
    </vt:vector>
  </HeadingPairs>
  <TitlesOfParts>
    <vt:vector size="80" baseType="lpstr">
      <vt:lpstr>Arial</vt:lpstr>
      <vt:lpstr>Gill Sans</vt:lpstr>
      <vt:lpstr>Cambria</vt:lpstr>
      <vt:lpstr>Noto Sans Symbols</vt:lpstr>
      <vt:lpstr>Calibri</vt:lpstr>
      <vt:lpstr>Dividendo</vt:lpstr>
      <vt:lpstr>MANUAL DE CONFIGURACIÓN SISTEMA CONVERSIÓN DE UNIDADES RESTFUL .NET 8 (SIN BDD)</vt:lpstr>
      <vt:lpstr>Presentación de PowerPoint</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Daniela Tituaña</cp:lastModifiedBy>
  <cp:revision>1</cp:revision>
  <dcterms:modified xsi:type="dcterms:W3CDTF">2026-10-26T03:43:00Z</dcterms:modified>
</cp:coreProperties>
</file>