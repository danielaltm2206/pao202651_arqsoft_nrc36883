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Cambria" panose="02040503050406030204" pitchFamily="18" charset="0"/>
      <p:regular r:id="rId77"/>
      <p:bold r:id="rId78"/>
      <p:italic r:id="rId79"/>
      <p:boldItalic r:id="rId80"/>
    </p:embeddedFont>
    <p:embeddedFont>
      <p:font typeface="Gill Sans" panose="020B0604020202020204" charset="0"/>
      <p:regular r:id="rId81"/>
      <p:bold r:id="rId8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76" Type="http://schemas.openxmlformats.org/officeDocument/2006/relationships/notesMaster" Target="notesMasters/notesMaster1.xml"/><Relationship Id="rId77" Type="http://schemas.openxmlformats.org/officeDocument/2006/relationships/font" Target="fonts/font1.fntdata"/><Relationship Id="rId78" Type="http://schemas.openxmlformats.org/officeDocument/2006/relationships/font" Target="fonts/font2.fntdata"/><Relationship Id="rId79" Type="http://schemas.openxmlformats.org/officeDocument/2006/relationships/font" Target="fonts/font3.fntdata"/><Relationship Id="rId80" Type="http://schemas.openxmlformats.org/officeDocument/2006/relationships/font" Target="fonts/font4.fntdata"/><Relationship Id="rId81" Type="http://schemas.openxmlformats.org/officeDocument/2006/relationships/font" Target="fonts/font5.fntdata"/><Relationship Id="rId82" Type="http://schemas.openxmlformats.org/officeDocument/2006/relationships/font" Target="fonts/font6.fntdata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8526227b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8526227b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526227be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a8526227be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526227be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a8526227be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526227be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g3a8526227be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526227b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526227b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526227be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a8526227be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526227be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a8526227be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526227be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a8526227be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526227b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a8526227b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526227be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a8526227b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526227be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a8526227be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526227be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a8526227be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526227be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3a8526227be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8526227be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a8526227be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8526227be_0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g3a8526227be_0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526227be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g3a8526227be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8526227be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g3a8526227be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ec.edu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>
              <a:defRPr b="1">
                <a:latin typeface="Calibri"/>
              </a:defRPr>
            </a:pPr>
            <a:r>
              <a:t>MANUAL DE CONFIGURACIÓN</a:t>
            </a:r>
          </a:p>
          <a:p>
            <a:pPr>
              <a:defRPr b="1">
                <a:latin typeface="Calibri"/>
              </a:defRPr>
            </a:pPr>
            <a:r>
              <a:t>SISTEMA CONVERSIÓN DE UNIDADES RESTFUL .NET 8 (SIN BDD)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defRPr>
                <a:latin typeface="Calibri"/>
              </a:defRPr>
            </a:pPr>
            <a:endParaRPr/>
          </a:p>
          <a:p>
            <a:pPr>
              <a:defRPr>
                <a:latin typeface="Calibri"/>
              </a:defRPr>
            </a:pPr>
            <a:r>
              <a:t>INTEGRANTE: 	DANIELA TITUAÑA MORENO</a:t>
            </a:r>
          </a:p>
          <a:p>
            <a:pPr>
              <a:defRPr>
                <a:latin typeface="Calibri"/>
              </a:defRPr>
            </a:pPr>
            <a:r>
              <a:t>GRUPO:       	GRUPO 08</a:t>
            </a:r>
          </a:p>
          <a:p>
            <a:pPr>
              <a:defRPr>
                <a:latin typeface="Calibri"/>
              </a:defRPr>
            </a:pPr>
            <a:r>
              <a:t>NRC:         	36883</a:t>
            </a: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defRPr>
                <a:latin typeface="Calibri"/>
              </a:defRPr>
            </a:pPr>
            <a:r>
              <a:t>FECHA:  25/10/2026</a:t>
            </a:r>
          </a:p>
          <a:p>
            <a:pPr>
              <a:defRPr>
                <a:latin typeface="Calibri"/>
              </a:defRPr>
            </a:pPr>
            <a:r>
              <a:t>ING: CAMPAÑA MAURICIO</a:t>
            </a: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RESTful EN .NET 8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b="1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b="1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Desarrollar e implementar un Web Service utilizando RESTful mediante .NET 8 para realizar conversiones de unidades.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1.2.1 	Servidor Kestrel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En primer lugar, en Visual Studio 2022, en la sección de Servicios se crea un servidor, específicamente Kestrel.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613" y="3539075"/>
            <a:ext cx="456247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581200" y="17815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 selecciona la versión 7.2026.4, se aceptan los términos de condiciones y se selecciona un directorio donde instalar el servidor.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225" y="3200392"/>
            <a:ext cx="466725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Para terminar la configuración del servidor de payara se configura un nombre de dominio, un host (en nuestro caso, loopback) y se cambian los puertos si se desea.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3250" y="3171650"/>
            <a:ext cx="450532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1.2.2 	Creación del Proyecto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Una vez creado el servidor, se crea un proyecto C# .NET 8, Web Application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48" name="Picture 147" descr="04_Paso4_Creacion_Proyecto_Web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463" y="3549050"/>
            <a:ext cx="46767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581192" y="19481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Se aplica el nombre del proyecto como ‘WS_CON_UNI_.NET 8_RESTful’, y se configura el grupo como ‘</a:t>
            </a:r>
            <a:r>
              <a:rPr lang="es-ES" sz="13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ec.edu</a:t>
            </a: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.monster’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11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mbria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Se selecciona nuestro Servidor Kestrel creado y .NET 8.0 LTS como conjunto de desarrollo de aplicaciones C# .NET 8.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58" name="Picture 157" descr="05_Paso5_Nombre_Proyecto_Servid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00" y="3429100"/>
            <a:ext cx="4105699" cy="2807825"/>
          </a:xfrm>
          <a:prstGeom prst="rect">
            <a:avLst/>
          </a:prstGeom>
        </p:spPr>
      </p:pic>
      <p:pic>
        <p:nvPicPr>
          <p:cNvPr id="159" name="Picture 158" descr="06_Paso6_Seleccion_Framework_Net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900" y="3251850"/>
            <a:ext cx="4600575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Aplicando un patrón arquitectónico MVC junto a otras capas se configuran los paquetes principales.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675" y="2696275"/>
            <a:ext cx="321945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1.2.3 	Creación del Controlador de API (RESTful)</a:t>
            </a:r>
          </a:p>
          <a:p>
            <a:r>
              <a:t>Dentro de la carpeta Controllers se crea un controlador de API en blanco.</a:t>
            </a:r>
          </a:p>
          <a:p>
            <a:r>
              <a:t>Se configura el controlador con su nombre ConversionController.cs.</a:t>
            </a:r>
          </a:p>
        </p:txBody>
      </p:sp>
      <p:sp>
        <p:nvSpPr>
          <p:cNvPr id="172" name="Google Shape;172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75" name="Picture 174" descr="08_Paso8_Creacion_Controlador_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600" y="3499338"/>
            <a:ext cx="3280200" cy="3261975"/>
          </a:xfrm>
          <a:prstGeom prst="rect">
            <a:avLst/>
          </a:prstGeom>
        </p:spPr>
      </p:pic>
      <p:pic>
        <p:nvPicPr>
          <p:cNvPr id="176" name="Picture 175" descr="09_Paso9_Configuracion_Controlador_WebServ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225" y="3844438"/>
            <a:ext cx="3810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20000"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Se codifica el webservice bajo los siguientes lineamientos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1. Se dejan preparadas las siguientes importaciones que se encargarán de gestionar toda la lógica.</a:t>
            </a:r>
            <a:br>
              <a:rPr lang="es-ES" sz="1677" b="1">
                <a:latin typeface="Cambria"/>
                <a:ea typeface="Cambria"/>
                <a:cs typeface="Cambria"/>
                <a:sym typeface="Cambria"/>
              </a:rPr>
            </a:b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82" name="Google Shape;182;p23"/>
          <p:cNvGraphicFramePr/>
          <p:nvPr/>
        </p:nvGraphicFramePr>
        <p:xfrm>
          <a:off x="3395925" y="2866125"/>
          <a:ext cx="5400050" cy="28092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ec.edu.monster.controladores.ws;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ec.edu.monster.modelos.utilidades.enums.UnidadTemperatura;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ec.edu.monster.modelos.utilidades.enums.UnidadMasa;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ec.edu.monster.modelos.utilidades.enums.UnidadLongitud;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ec.edu.monster.modelos.utilidades.ConversorTemperatura;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ec.edu.monster.modelos.utilidades.ConversorMasa;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ec.edu.monster.modelos.utilidades.ConversorLongitud;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ec.edu.monster.servicios.ServicioConversor;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ec.edu.monster.modelos.utilidades.mapeadores.UnidadMapper;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ec.edu.monster.seguridad.AdministradorCredenciales;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ec.edu.monster.seguridad.AdministradorTokens;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jakarta.jws.WebService;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jakarta.jws.WebMethod;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jakarta.jws.WebParam;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2. Se configura el endpoint de nuestro servicio web.</a:t>
            </a:r>
            <a:endParaRPr sz="1677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3. Se crean los atributos respectivos.</a:t>
            </a:r>
            <a:br>
              <a:rPr lang="es-ES" sz="1677" b="1">
                <a:latin typeface="Cambria"/>
                <a:ea typeface="Cambria"/>
                <a:cs typeface="Cambria"/>
                <a:sym typeface="Cambria"/>
              </a:rPr>
            </a:b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0" name="Google Shape;190;p24"/>
          <p:cNvGraphicFramePr/>
          <p:nvPr/>
        </p:nvGraphicFramePr>
        <p:xfrm>
          <a:off x="3701450" y="2180500"/>
          <a:ext cx="5400050" cy="4622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@WebService(serviceName = "WSConversorUnidades")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WSConversorUnidades {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1" name="Google Shape;191;p24"/>
          <p:cNvGraphicFramePr/>
          <p:nvPr/>
        </p:nvGraphicFramePr>
        <p:xfrm>
          <a:off x="3701450" y="3375275"/>
          <a:ext cx="5400050" cy="14681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final ServicioConversor&lt;UnidadLongitud&gt; servicioLongitud =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ServicioConversor&lt;&gt;(new ConversorLongitud());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ServicioConversor&lt;UnidadMasa&gt; servicioMasa =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ServicioConversor&lt;&gt;(new ConversorMasa());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ServicioConversor&lt;UnidadTemperatura&gt; servicioTemperatura =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ServicioConversor&lt;&gt;(new ConversorTemperatura());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4. Se crean los métodos respectivos, incluyendo el de autenticación y el de cambiar contraseña.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9" name="Google Shape;199;p25"/>
          <p:cNvGraphicFramePr/>
          <p:nvPr/>
        </p:nvGraphicFramePr>
        <p:xfrm>
          <a:off x="3917100" y="1928900"/>
          <a:ext cx="4894525" cy="4699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@WebMethod(operationName = "login")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"usuario") String usuario,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"contrasenia") String contrasenia)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(AdministradorCredenciales.validarCredenciales(usuario, contrasenia))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AdministradorTokens.generarToken();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throw new RuntimeException("Credenciales incorrectas");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@WebMethod(operationName = "cambiarContrasenia")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cambiarContrasenia(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"contraseniaActual") String contraseniaActual,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"contraseniaNueva") String contraseniaNueva)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AdministradorCredenciales.cambiarContrasenia(contraseniaActual, contraseniaNueva);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"Contrasenia actualizada correctamente";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@WebMethod(operationName = "convertirLongitud")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convertirLongitud(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"valor") double valor,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"unidadInicial") String unidadInicial,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"unidadFinal") String unidadFinal)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 origen = UnidadMapper.toLongitud(unidadInicial);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 destino = UnidadMapper.toLongitud(unidadFinal);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servicioLongitud.convertir(valor, origen, destino);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26"/>
          <p:cNvGraphicFramePr/>
          <p:nvPr/>
        </p:nvGraphicFramePr>
        <p:xfrm>
          <a:off x="3881150" y="2291900"/>
          <a:ext cx="4894525" cy="3742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@WebMethod(operationName = "convertirMasa")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convertirMasa(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"valor") double valor,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"unidadInicial") String unidadInicial,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"unidadFinal") String unidadFinal)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 origen = UnidadMapper.toMasa(unidadInicial);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 destino = UnidadMapper.toMasa(unidadFinal);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servicioMasa.convertir(valor, origen, destino);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@WebMethod(operationName = "convertirTemperatura")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convertirTemperatura(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"valor") double valor,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"unidadInicial") String unidadInicial,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"unidadFinal") String unidadFinal)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UnidadTemperatura origen = UnidadMapper.toTemperatura(unidadInicial);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UnidadTemperatura destino = UnidadMapper.toTemperatura(unidadFinal);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servicioTemperatura.convertir(valor, origen, destino);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4. Se crean los métodos respectivos, incluyendo el de autenticación y el de cambiar contraseña.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1.2.4 	Autenticación</a:t>
            </a:r>
          </a:p>
          <a:p>
            <a:r>
              <a:t>Una clase fundamental es ServicioSeguridad.cs junto a su controlador AuthController.cs, que actúan como la capa de seguridad y autenticación en la arquitectura RESTful con el fin de autenticar debidamente las peticiones antes de permitir el acceso a los servicios de conversión.</a:t>
            </a:r>
          </a:p>
        </p:txBody>
      </p:sp>
      <p:sp>
        <p:nvSpPr>
          <p:cNvPr id="214" name="Google Shape;214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850" y="3549050"/>
            <a:ext cx="45720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1"/>
          </p:nvPr>
        </p:nvSpPr>
        <p:spPr>
          <a:xfrm>
            <a:off x="581192" y="18762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A diferencia de SOAP que requería un manejador.xml rígido, en ASP.NET Core .NET 8 la configuración se realiza en Program.cs registrando el servicio de seguridad (AddSingleton&lt;IServicioSeguridad, ServicioSeguridad&gt;()) e inyectándolo limpiamente en los controladores.</a:t>
            </a:r>
          </a:p>
        </p:txBody>
      </p:sp>
      <p:sp>
        <p:nvSpPr>
          <p:cNvPr id="222" name="Google Shape;222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24" name="Google Shape;224;p28"/>
          <p:cNvGraphicFramePr/>
          <p:nvPr/>
        </p:nvGraphicFramePr>
        <p:xfrm>
          <a:off x="4024925" y="4574350"/>
          <a:ext cx="4894525" cy="22153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15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ec.edu.monster.controladores.manejadoresws;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ec.edu.monster.seguridad.AdministradorTokens;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jakarta.xml.ws.handler.soap.SOAPHandler;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jakarta.xml.ws.handler.soap.SOAPMessageContext;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jakarta.xml.ws.handler.MessageContext;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javax.xml.namespace.QName;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org.w3c.dom.NodeList;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java.util.Set;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ManejadorAutenticacion implements SOAPHandler&lt;SOAPMessageContext&gt;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" name="Picture 2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00" y="3013525"/>
            <a:ext cx="5734050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Esta clase contiene la lógica que se puede observar en la Tabla junto a la complementaria para gestionar la autenticación con tokens y la autenticación que maneja credenciales quemadas en código.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32" name="Google Shape;232;p29"/>
          <p:cNvGraphicFramePr/>
          <p:nvPr/>
        </p:nvGraphicFramePr>
        <p:xfrm>
          <a:off x="2964625" y="1876275"/>
          <a:ext cx="6062675" cy="50647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1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@Override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boolean handleMessage(SOAPMessageContext contexto) {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Boolean esSalida = (Boolean) contexto.get(MessageContext.MESSAGE_OUTBOUND_PROPERTY);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(!esSalida) {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 {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QName operacion = (QName) contexto.get(MessageContext.WSDL_OPERATION);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(operacion != null &amp;&amp; "login".equals(operacion.getLocalPart())) {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return true; 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var mensajeSOAP = contexto.getMessage();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var encabezado = mensajeSOAP.getSOAPHeader();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(encabezado == null) {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throw new RuntimeException("Acceso denegado: Se requiere encabezado SOAP con el token de seguridad.");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NodeList nodosToken = encabezado.getElementsByTagNameNS("*", "token");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(nodosToken.getLength() == 0) {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throw new RuntimeException("Acceso denegado: No se encontró el token. Inicie sesión primero.");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String token = nodosToken.item(0).getTextContent();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(!AdministradorTokens.validarToken(token)) {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throw new RuntimeException("Acceso denegado: Token inválido o expirado.");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 catch (Exception e) {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throw new RuntimeException(e.getMessage());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true;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Esta clase contiene la lógica que se puede observar en la Tabla junto a la complementaria para gestionar la autenticación con tokens y la autenticación que maneja credenciales quemadas en código.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0" name="Google Shape;240;p30"/>
          <p:cNvGraphicFramePr/>
          <p:nvPr/>
        </p:nvGraphicFramePr>
        <p:xfrm>
          <a:off x="3064663" y="2920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1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@Override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Set&lt;QName&gt; getHeaders()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null;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boolean handleFault(SOAPMessageContext contexto)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true;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close(MessageContext contexto) {}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20000"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1.2.5	Lógica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8" name="Google Shape;248;p31"/>
          <p:cNvGraphicFramePr/>
          <p:nvPr/>
        </p:nvGraphicFramePr>
        <p:xfrm>
          <a:off x="3017313" y="3676500"/>
          <a:ext cx="6062675" cy="14071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ec.edu.monster.modelos.utilidades;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interface IConversor&lt;T&gt;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T unidadInicial, T unidadFinal);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12096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ill San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MAUI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56" name="Google Shape;256;p32"/>
          <p:cNvGraphicFramePr/>
          <p:nvPr/>
        </p:nvGraphicFramePr>
        <p:xfrm>
          <a:off x="3017313" y="1838175"/>
          <a:ext cx="6062675" cy="50038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ec.edu.monster.modelos.utilidades;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ec.edu.monster.modelos.utilidades.enums.UnidadLongitud;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java.util.Map;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ConversorLongitud implements IConversor&lt;UnidadLongitud&gt;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Map&lt;UnidadLongitud, Double&gt; factores = Map.of(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UnidadLongitud.MILIMETRO, 0.001,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UnidadLongitud.CENTIMETRO, 0.01,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UnidadLongitud.METRO, 1.0,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UnidadLongitud.KILOMETRO, 1000.0,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UnidadLongitud.YARDA, 0.9144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ConversorLongitud() {}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UnidadLongitud unidadOrigen, UnidadLongitud unidadFinal)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(unidadOrigen == null || unidadFinal == null)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IllegalArgumentException("Las unidades no pueden ser null");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(!factores.containsKey(unidadOrigen) || !factores.containsKey(unidadFinal))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IllegalArgumentException("Unidad no soportada");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valorEnBase = valor * factores.get(unidadOrigen);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valorEnBase / factores.get(unidadFinal);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12055</Words>
  <Application>Microsoft Office PowerPoint</Application>
  <PresentationFormat>Panorámica</PresentationFormat>
  <Paragraphs>2028</Paragraphs>
  <Slides>74</Slides>
  <Notes>74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74</vt:i4>
      </vt:variant>
    </vt:vector>
  </HeadingPairs>
  <TitlesOfParts>
    <vt:vector size="80" baseType="lpstr">
      <vt:lpstr>Arial</vt:lpstr>
      <vt:lpstr>Gill Sans</vt:lpstr>
      <vt:lpstr>Cambria</vt:lpstr>
      <vt:lpstr>Noto Sans Symbols</vt:lpstr>
      <vt:lpstr>Calibri</vt:lpstr>
      <vt:lpstr>Dividendo</vt:lpstr>
      <vt:lpstr>MANUAL DE CONFIGURACIÓN SISTEMA CONVERSIÓN DE UNIDADES RESTFUL .NET 8 (SIN BDD)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Daniela Tituaña</cp:lastModifiedBy>
  <cp:revision>1</cp:revision>
  <dcterms:modified xsi:type="dcterms:W3CDTF">2026-10-26T03:43:00Z</dcterms:modified>
</cp:coreProperties>
</file>