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82880" cy="457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SISTEMA DE GESTIÓN Y AGENDAMIENTO DE CITAS MÉDICAS</a:t>
            </a:r>
          </a:p>
          <a:p>
            <a:pPr>
              <a:spcBef>
                <a:spcPts val="800"/>
              </a:spcBef>
              <a:defRPr sz="1800">
                <a:solidFill>
                  <a:srgbClr val="B0D7F0"/>
                </a:solidFill>
                <a:latin typeface="Calibri"/>
              </a:defRPr>
            </a:pPr>
            <a:r>
              <a:t>Sistema de Información Web para Medicina General (Presencial y Teleconsulta)</a:t>
            </a:r>
          </a:p>
          <a:p>
            <a:pPr>
              <a:spcBef>
                <a:spcPts val="600"/>
              </a:spcBef>
              <a:defRPr sz="1400">
                <a:solidFill>
                  <a:srgbClr val="DCEBF5"/>
                </a:solidFill>
                <a:latin typeface="Calibri"/>
              </a:defRPr>
            </a:pPr>
            <a:r>
              <a:t>Especificación de Requisitos, Arquitectura Transaccional y Planificación de Sprints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566160"/>
            <a:ext cx="9601200" cy="2103120"/>
          </a:xfrm>
          <a:prstGeom prst="roundRect">
            <a:avLst/>
          </a:prstGeom>
          <a:solidFill>
            <a:srgbClr val="18305C"/>
          </a:solidFill>
          <a:ln w="12700"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749039"/>
            <a:ext cx="9144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Calibri"/>
              </a:defRPr>
            </a:pPr>
            <a:r>
              <a:t>DATOS GENERALES DEL PROYECTO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Asignatura: </a:t>
            </a:r>
            <a:r>
              <a:rPr sz="1200">
                <a:solidFill>
                  <a:srgbClr val="DCE6F2"/>
                </a:solidFill>
              </a:rPr>
              <a:t>Construcción de Software (8vo Semestre) • Carrera de Ingeniería de Software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Integrantes: </a:t>
            </a:r>
            <a:r>
              <a:rPr sz="1200">
                <a:solidFill>
                  <a:srgbClr val="DCE6F2"/>
                </a:solidFill>
              </a:rPr>
              <a:t>Daniela Tituaña Moreno (Frontend &amp; Requisitos) • Gustavo Molina (Backend &amp; Datos)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Metodología: </a:t>
            </a:r>
            <a:r>
              <a:rPr sz="1200">
                <a:solidFill>
                  <a:srgbClr val="DCE6F2"/>
                </a:solidFill>
              </a:rPr>
              <a:t>Scrum Híbrido • Gestión de Sprints en Linear • Estándar IEEE 830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Período: </a:t>
            </a:r>
            <a:r>
              <a:rPr sz="1200">
                <a:solidFill>
                  <a:srgbClr val="DCE6F2"/>
                </a:solidFill>
              </a:rPr>
              <a:t>PAO 202651 • Octubre 2026 - Febrero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Introducción y Contexto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A181B"/>
                </a:solidFill>
                <a:latin typeface="Calibri"/>
              </a:defRPr>
            </a:pPr>
            <a:r>
              <a:t>PROBLEMÁTICA EN LA PRÁCTICA MÉDICA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• Ineficiencia Operativa: </a:t>
            </a:r>
            <a:r>
              <a:rPr sz="1100">
                <a:solidFill>
                  <a:srgbClr val="6C757D"/>
                </a:solidFill>
              </a:rPr>
              <a:t>Gestión manual de citas por mensajes o llamadas telefónicas que satura al personal.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• Alto Ausentismo (No-Shows): </a:t>
            </a:r>
            <a:r>
              <a:rPr sz="1100">
                <a:solidFill>
                  <a:srgbClr val="6C757D"/>
                </a:solidFill>
              </a:rPr>
              <a:t>Pérdidas económicas directas debido a pacientes que olvidan o cancelan sin anticipación.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• Colisión de Horarios: </a:t>
            </a:r>
            <a:r>
              <a:rPr sz="1100">
                <a:solidFill>
                  <a:srgbClr val="6C757D"/>
                </a:solidFill>
              </a:rPr>
              <a:t>Riesgo de reservas concurrentes simultáneas por falta de un motor transaccional en tiempo real.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• Excesiva Carga Administrativa: </a:t>
            </a:r>
            <a:r>
              <a:rPr sz="1100">
                <a:solidFill>
                  <a:srgbClr val="6C757D"/>
                </a:solidFill>
              </a:rPr>
              <a:t>Médicos independientes dedican tiempo clínico valioso a labores de coordinación y agenda.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BF"/>
                </a:solidFill>
                <a:latin typeface="Calibri"/>
              </a:defRPr>
            </a:pPr>
            <a:r>
              <a:t>SOLUCIÓN PROPUESTA (SISTEMA SAAS WEB)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✔ Atención Dual de Medicina General: </a:t>
            </a:r>
            <a:r>
              <a:rPr sz="1100">
                <a:solidFill>
                  <a:srgbClr val="6C757D"/>
                </a:solidFill>
              </a:rPr>
              <a:t>Automatización integral de citas tanto para consultorios físicos como teleconsultas.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✔ Motor Transaccional Concurrente: </a:t>
            </a:r>
            <a:r>
              <a:rPr sz="1100">
                <a:solidFill>
                  <a:srgbClr val="6C757D"/>
                </a:solidFill>
              </a:rPr>
              <a:t>Bloqueo preventivo de cupos por 5 minutos y control ACID en milisegundos.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✔ Recordatorios Automatizados (SMTP): </a:t>
            </a:r>
            <a:r>
              <a:rPr sz="1100">
                <a:solidFill>
                  <a:srgbClr val="6C757D"/>
                </a:solidFill>
              </a:rPr>
              <a:t>Envío preventivo de correos con 24 horas de antelación para reducir el ausentismo.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✔ Asistente Conversacional Inteligente: </a:t>
            </a:r>
            <a:r>
              <a:rPr sz="1100">
                <a:solidFill>
                  <a:srgbClr val="6C757D"/>
                </a:solidFill>
              </a:rPr>
              <a:t>Agente IA con Function Calling para reprogramar citas en lenguaje natural bajo reglas horarias.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12529"/>
                </a:solidFill>
              </a:rPr>
              <a:t>✔ Maximización de Ocupación: </a:t>
            </a:r>
            <a:r>
              <a:rPr sz="1100">
                <a:solidFill>
                  <a:srgbClr val="6C757D"/>
                </a:solidFill>
              </a:rPr>
              <a:t>Optimiza la productividad del consultorio sin requerir personal administrativo dedicado.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Objetivos del Sistema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BF"/>
                </a:solidFill>
                <a:latin typeface="Calibri"/>
              </a:defRPr>
            </a:pPr>
            <a:r>
              <a:t>OBJETIVO GENERAL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Desarrollar e implementar un sistema de información web para la gestión de citas médicas de medicina general que automatice la programación, reprogramación y seguimiento de consultas presenciales y virtuales, incorporando notificaciones por correo y un asistente conversacional inteligente para minimizar las inasistencias.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832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  <a:latin typeface="Calibri"/>
              </a:defRPr>
            </a:pPr>
            <a:r>
              <a:t>1. REQUISITOS Y PROCESOS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Elicitar y documentar requisitos formales bajo estándar IEEE 830.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Modelar flujos operativos en Bizagi (BPMN) para pacientes, médicos y administración.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Definir matrices técnicas de trazabilidad y actividades.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3832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  <a:latin typeface="Calibri"/>
              </a:defRPr>
            </a:pPr>
            <a:r>
              <a:t>2. ARQUITECTURA Y DATOS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Diseñar la base de datos relacional PostgreSQL con integridad ACID.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Implementar motor transaccional con bloqueo pesimista contra Race Conditions.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Desarrollar APIs RESTful modulares y autenticación con roles RBAC.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3832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  <a:latin typeface="Calibri"/>
              </a:defRPr>
            </a:pPr>
            <a:r>
              <a:t>3. IA Y CALIDAD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Integrar asistente de IA con Function Calling para reprogramaciones en lenguaje natural.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Automatizar notificaciones transaccionales y recordatorios SMTP de 24 horas.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Ejecutar pruebas unitarias, de concurrencia y despliegue del entorno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Alcance Incluido del Sistema (Módulos de Gestión)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Registro y Validación de Pacientes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Activación de cuenta mediante token temporal de confirmación con expiración de 15 minutos enviado vía correo electrónico SMTP.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Registro Médico y Licencias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Auto-registro capturando datos de consultorio con recepción obligatoria de licencia médica en formato PDF (máx. 5 MB).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Auditoría Administrativa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Panel de administración exclusivo para auditar credenciales médicas con opciones de Aprobación, Subsanación o Veto definitivo.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Autenticación y Seguridad (RBAC)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Control de acceso basado en roles (Paciente, Médico, Administrador) y recuperación segura de contraseña por tokens.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Parametrización de Jornadas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Configuración médica de horarios, recesos de descanso, duración de turnos y modalidad (presencial o teleconsulta).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Catálogo de Turnos en Tiempo Real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Publicación dinámica de cupos libres sincronizados directamente con la base de datos PostgreSQL.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Alcance Incluido (Transacciones, IA y Reportes)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Bloqueo Preventivo de Cupos (TTL 5 min)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Mecanismo de congelamiento temporal del turno por 5 minutos mientras el paciente completa sus datos, evitando colisiones.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Motor Transaccional Atómico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Garantía de atomicidad (ACID) en PostgreSQL impidiendo citas duplicadas o conflictos de concurrencia en milisegundos.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Notificaciones y Recordatorios SMTP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Envío automático ante agendamientos y cancelaciones, junto a tarea en segundo plano 24 horas antes de la consulta.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Asistente Conversacional con IA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Agente inteligente que interpreta solicitudes de reprogramación en lenguaje natural mediante Function Calling / Tool Calling.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Validación de Reglas de Antelación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Verificación automatizada de políticas horarias mínimas antes de permitir la reasignación de citas asistida por el agente.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✔ Marcación Médica y Reportes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Registro del estado de atención (atendida/inasistencia) y exportación de reportes de productividad y ocupación a PDF y Excel.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Alcance Excluido (Límites y Fronteras del Proyecto)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A181B"/>
                </a:solidFill>
                <a:latin typeface="Calibri"/>
              </a:defRPr>
            </a:pPr>
            <a:r>
              <a:t>CRITERIOS DE EXCLUSIÓN PARA CONTROL DE CALIDAD Y ALCANCE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Pasarelas de Pago y Facturación: </a:t>
            </a:r>
            <a:r>
              <a:rPr sz="1100">
                <a:solidFill>
                  <a:srgbClr val="212529"/>
                </a:solidFill>
              </a:rPr>
              <a:t>No procesa transacciones bancarias en línea ni emisión de comprobantes tributarios.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Historia Clínica y Recetas: </a:t>
            </a:r>
            <a:r>
              <a:rPr sz="1100">
                <a:solidFill>
                  <a:srgbClr val="212529"/>
                </a:solidFill>
              </a:rPr>
              <a:t>No gestiona historia médica detallada, recetas estructuradas ni codificación CIE-10.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Subespecialidades Complejas: </a:t>
            </a:r>
            <a:r>
              <a:rPr sz="1100">
                <a:solidFill>
                  <a:srgbClr val="212529"/>
                </a:solidFill>
              </a:rPr>
              <a:t>No abarca agendas quirúrgicas, triaje de emergencias ni áreas hospitalarias avanzadas.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Mensajería SMS o WhatsApp: </a:t>
            </a:r>
            <a:r>
              <a:rPr sz="1100">
                <a:solidFill>
                  <a:srgbClr val="212529"/>
                </a:solidFill>
              </a:rPr>
              <a:t>No transmite avisos ni códigos mediante SMS comercial o APIs de WhatsApp (solo SMTP).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Aplicaciones Móviles Nativas: </a:t>
            </a:r>
            <a:r>
              <a:rPr sz="1100">
                <a:solidFill>
                  <a:srgbClr val="212529"/>
                </a:solidFill>
              </a:rPr>
              <a:t>No comprende desarrollo para tiendas Android/iOS; se enfoca en Web Responsiva.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Streaming WebRTC Interno: </a:t>
            </a:r>
            <a:r>
              <a:rPr sz="1100">
                <a:solidFill>
                  <a:srgbClr val="212529"/>
                </a:solidFill>
              </a:rPr>
              <a:t>No aloja servidores propios de video para teleconsultas (utiliza enlaces externos).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BA181B"/>
                </a:solidFill>
              </a:rPr>
              <a:t>✖ Diagnóstico Médico por IA: </a:t>
            </a:r>
            <a:r>
              <a:rPr sz="1100">
                <a:solidFill>
                  <a:srgbClr val="212529"/>
                </a:solidFill>
              </a:rPr>
              <a:t>El agente inteligente no resuelve consultas de salud ni agenda citas nuevas desde cero.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Metodología de Desarrollo: Scrum Híbrido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  <a:latin typeface="Calibri"/>
              </a:defRPr>
            </a:pPr>
            <a:r>
              <a:t>ENFOQUE ÁGIL ESTATURADO EN SPRINTS DE 2 SEMANAS COMPLEMENTADO CON INGENIERÍA DE SOFTWARE</a:t>
            </a:r>
          </a:p>
          <a:p>
            <a:pPr>
              <a:defRPr sz="1050">
                <a:solidFill>
                  <a:srgbClr val="6C757D"/>
                </a:solidFill>
                <a:latin typeface="Calibri"/>
              </a:defRPr>
            </a:pPr>
            <a:r>
              <a:t>Combina la adaptabilidad de Scrum con el rigor de estándares formales de especificación, modelado y verificación.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1. Elicitación IEEE 830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Especificación del catálogo formal de requisitos funcionales y no funcionales.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2. Modelado BPMN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Modelado de procesos de negocio en Bizagi Modeler y matriz técnica de tareas.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6517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3. Arquitectura &amp; UI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Modelo relacional PostgreSQL, especificación de casos de uso y wireframes web.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4. Codificación Modular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Frontend en ReactJS, API Node.js REST, notificaciones SMTP y Agente 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389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5. Pruebas y Estrés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Pruebas estáticas, unitarias, de estrés para concurrencia y pruebas E2E.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389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5262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BF"/>
                </a:solidFill>
                <a:latin typeface="Calibri"/>
              </a:defRPr>
            </a:pPr>
            <a:r>
              <a:t>6. Despliegue y Manuales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Puesta en producción del entorno web responsivo y sustentación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Equipo de Trabajo y Asignación de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Calibri"/>
              </a:defRPr>
            </a:pPr>
            <a:r>
              <a:t>DANIELA TITUAÑA MORENO</a:t>
            </a:r>
          </a:p>
          <a:p>
            <a:pPr>
              <a:spcBef>
                <a:spcPts val="200"/>
              </a:spcBef>
              <a:defRPr sz="1100" b="1">
                <a:solidFill>
                  <a:srgbClr val="007ABF"/>
                </a:solidFill>
                <a:latin typeface="Calibri"/>
              </a:defRPr>
            </a:pPr>
            <a:r>
              <a:t>Analista de Requisitos • Diseñadora UI/UX • Desarrolladora Frontend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Levantamiento formal y elicitación de requisitos bajo estándar IEEE 830.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Diseño de prototipos de alta fidelidad y wireframes web adaptables.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Implementación de interfaces de usuario en ReactJS con Tailwind CSS.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Diseño de componentes responsivos para vistas de paciente, médico y administrador.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Pruebas de usabilidad, accesibilidad y validaciones de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Calibri"/>
              </a:defRPr>
            </a:pPr>
            <a:r>
              <a:t>GUSTAVO MOLINA</a:t>
            </a:r>
          </a:p>
          <a:p>
            <a:pPr>
              <a:spcBef>
                <a:spcPts val="200"/>
              </a:spcBef>
              <a:defRPr sz="1100" b="1">
                <a:solidFill>
                  <a:srgbClr val="007ABF"/>
                </a:solidFill>
                <a:latin typeface="Calibri"/>
              </a:defRPr>
            </a:pPr>
            <a:r>
              <a:t>Analista de Requisitos • Arquitecto de Software • Desarrollador Backend / Datos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Modelado de procesos en Bizagi (BPMN) y arquitectura del sistema.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Diseño y normalización de la base de datos relacional PostgreSQL.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Implementación del control de concurrencia y transacciones atómicas (ACID).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Desarrollo de servicios de mensajería transaccional SMTP y tokens temporales.</a:t>
            </a:r>
          </a:p>
          <a:p>
            <a:pPr>
              <a:spcBef>
                <a:spcPts val="7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• Integración del asistente conversacional de IA mediante Function Calling.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Planificación en Linear: Sprints Quincenales (18 Semanas)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BF"/>
                </a:solidFill>
                <a:latin typeface="Calibri"/>
              </a:defRPr>
            </a:pPr>
            <a:r>
              <a:t>TABLERO ÁGIL EN LINEAR: https://linear.app/cm-construccion/projects/all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Control dinámico de backlog, desglose de historias de usuario y seguimiento quincenal de entregables técnicos.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1 / Sprint 0 (26 Oct – 08 Nov 2026): </a:t>
            </a:r>
            <a:r>
              <a:rPr sz="1050">
                <a:solidFill>
                  <a:srgbClr val="212529"/>
                </a:solidFill>
              </a:rPr>
              <a:t>Consolidación de requisitos formales, modelado BPMN en Bizagi y arquitectura de datos PostgreSQL (Cierre Parcial 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2 / Sprint 1 (09 Nov – 22 Nov 2026): </a:t>
            </a:r>
            <a:r>
              <a:rPr sz="1050">
                <a:solidFill>
                  <a:srgbClr val="212529"/>
                </a:solidFill>
              </a:rPr>
              <a:t>Desarrollo del módulo de autenticación, control de accesos por roles (RBAC) y validación de cuentas vía correo electrónico.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3 / Sprint 2 (23 Nov – 06 Dic 2026): </a:t>
            </a:r>
            <a:r>
              <a:rPr sz="1050">
                <a:solidFill>
                  <a:srgbClr val="212529"/>
                </a:solidFill>
              </a:rPr>
              <a:t>Implementación del registro médico con carga de licencias en PDF y panel administrativo de auditoría de credenciales.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4 / Sprint 3 (07 Dic – 20 Dic 2026): </a:t>
            </a:r>
            <a:r>
              <a:rPr sz="1050">
                <a:solidFill>
                  <a:srgbClr val="212529"/>
                </a:solidFill>
              </a:rPr>
              <a:t>Módulo de parametrización de jornadas laborales, descansos de almuerzo y publicación dinámica de turnos libres.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Planificación en Linear: Sprints Quincenales (Fases 5 a 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5 / Sprint 4 (21 Dic – 03 Ene 2027): </a:t>
            </a:r>
            <a:r>
              <a:rPr sz="1050">
                <a:solidFill>
                  <a:srgbClr val="212529"/>
                </a:solidFill>
              </a:rPr>
              <a:t>Motor transaccional de reservas con bloqueo preventivo de 5 minutos y servicio de notificaciones transaccionales SMTP.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6 / Sprint 5 (04 Ene – 17 Ene 2027): </a:t>
            </a:r>
            <a:r>
              <a:rPr sz="1050">
                <a:solidFill>
                  <a:srgbClr val="212529"/>
                </a:solidFill>
              </a:rPr>
              <a:t>Integración del asistente conversacional con inteligencia artificial para reprogramación bajo reglas estrictas de antelación.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7 / Sprint 6 (18 Ene – 31 Ene 2027): </a:t>
            </a:r>
            <a:r>
              <a:rPr sz="1050">
                <a:solidFill>
                  <a:srgbClr val="212529"/>
                </a:solidFill>
              </a:rPr>
              <a:t>Marcación médica de asistencia (atendida/inasistencia), exportación de reportes a PDF/Excel y gestión de bajas lógicas.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8 / Sprint 7 (01 Feb – 14 Feb 2027): </a:t>
            </a:r>
            <a:r>
              <a:rPr sz="1050">
                <a:solidFill>
                  <a:srgbClr val="212529"/>
                </a:solidFill>
              </a:rPr>
              <a:t>Batería transversal de pruebas de estrés para reservas simultáneas y pruebas integrales de extremo a extremo.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043"/>
                </a:solidFill>
              </a:rPr>
              <a:t>Cycle 9 / Cierre (15 Feb – 28 Feb 2027): </a:t>
            </a:r>
            <a:r>
              <a:rPr sz="1050">
                <a:solidFill>
                  <a:srgbClr val="212529"/>
                </a:solidFill>
              </a:rPr>
              <a:t>Despliegue final en producción del entorno web responsivo, elaboración de manuales y sustentación final del proyecto.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Artefactos Entregables del Sistema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Catálogo Formal de Requisitos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Documento SRS bajo estándar IEEE 830 con especificación de requisitos funcionales, no funcionales y límites.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Modelado de Procesos (BPMN)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Diagramas de flujo de procesos elaborados en Bizagi Modeler documentando paciente, médico y administración.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Fichas Técnicas de Actividades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Fichas detalladas con entradas, salidas, reglas de negocio y actores para cada actividad del flujo.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Diagrama de Casos de Uso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Representación gráfica de actores y escenarios de interacción con el sistema web.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Matriz de Trazabilidad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Mapeo exhaustivo de necesidades operativas frente a módulos de software y componentes desarrollados.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Modelo Relacional de Base de Datos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Esquema conceptual y físico en PostgreSQL con claves foráneas, restricciones y estados de concurrencia.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📄 Bocetos y Wireframes UI/UX</a:t>
            </a:r>
          </a:p>
          <a:p>
            <a:pPr>
              <a:spcBef>
                <a:spcPts val="200"/>
              </a:spcBef>
              <a:defRPr sz="1000">
                <a:solidFill>
                  <a:srgbClr val="212529"/>
                </a:solidFill>
                <a:latin typeface="Calibri"/>
              </a:defRPr>
            </a:pPr>
            <a:r>
              <a:t>Diseño interactivo de pantallas adaptables para resoluciones de escritorio y dispositivos móviles.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Diagramas del Sistema: Casos de Uso y Flujo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MODELO DE PROCESOS DE NEGOCIO (BIZAGI BPMN)</a:t>
            </a:r>
          </a:p>
        </p:txBody>
      </p:sp>
      <p:pic>
        <p:nvPicPr>
          <p:cNvPr id="8" name="Picture 7" descr="procesos_citas_med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754880" cy="36184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Calibri"/>
              </a:defRPr>
            </a:pPr>
            <a:r>
              <a:t>DIAGRAMA DE CASOS DE USO (ACTORES Y SISTEMA)</a:t>
            </a:r>
          </a:p>
        </p:txBody>
      </p:sp>
      <p:pic>
        <p:nvPicPr>
          <p:cNvPr id="11" name="Picture 10" descr="cu_citasMed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4846320" cy="37840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Requisitos No Funcionales y Matriz de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02575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Mecanismo de Seguridad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 Técnica y Parámetros de Implementación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Protección de Credenciales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Almacenamiento con funciones de hashing unidireccional Argon2id o bcrypt. No admite cifrado reversible.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Cifrado de Comunicaciones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Transmisión web obligatoria bajo protocolo HTTPS con certificados TLS activos.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Control de Acceso (RBAC)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Permisos diferenciados para Paciente, Médico General y Administrador. Restringe vistas y endpoints.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Tokens Temporales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Códigos de activación y enlaces de restablecimiento con caducidad estricta de 15 minutos vía correo.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Bloqueo de Sesiones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Inhabilitación temporal de la cuenta por 15 minutos tras registrar 5 intentos fallidos consecutivos.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Auditoría de Licencias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Cuentas médicas inactivas hasta la validación administrativa del título profesional en formato digital.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Validación de Documentos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Inspección de archivos adjuntos restringida a formato PDF con un tamaño máximo de 5 MB.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Aislamiento en Agente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Operación mediante llamadas a funciones internas validadas (Function Calling). Bloquea escrituras directas a la BDD.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Persistencia por Baja 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Desactivación de registros (Soft Delete) preservando intacto el historial de consultas para auditorías.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7ABF"/>
          </a:solidFill>
          <a:ln>
            <a:solidFill>
              <a:srgbClr val="00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ABF"/>
                </a:solidFill>
                <a:latin typeface="Calibri"/>
              </a:defRPr>
            </a:pPr>
            <a:r>
              <a:t>CONSTRUCCIÓN DE SOFTWARE • 8VO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2043"/>
                </a:solidFill>
                <a:latin typeface="Calibri"/>
              </a:defRPr>
            </a:pPr>
            <a:r>
              <a:t>Restricciones, Supuestos y Matriz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Sistema SaaS de Agendamiento de Citas Médicas • Tituaña &amp; Molina •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Calibri"/>
              </a:defRPr>
            </a:pPr>
            <a:r>
              <a:t>RESTRICCIONES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Plataforma exclusivamente web (navegadores modernos HTML5/CSS3).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Conectividad a Internet constante requerida para sincronización transaccional.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Archivos de licencia médica restringidos estrictamente a PDF (≤ 5 MB).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Reprogramaciones con el Asistente IA sujetas a antelación mínima de 24 horas.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Servicio SMTP dependiente de políticas de entrega y reputación de dominio.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BF"/>
                </a:solidFill>
                <a:latin typeface="Calibri"/>
              </a:defRPr>
            </a:pPr>
            <a:r>
              <a:t>SUPUESTOS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Los médicos poseen título profesional válido emitido por la autoridad sanitaria.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Los pacientes cuentan con acceso activo a su cuenta de correo electrónico.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La disponibilidad de teleconsulta utiliza plataformas externas (Google Meet / Zoom).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Los profesionales configuran sus horarios laborales y descansos con veracidad.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  <a:latin typeface="Calibri"/>
              </a:defRPr>
            </a:pPr>
            <a:r>
              <a:t>• El volumen concurrente inicial se ajusta al rendimiento de PostgreSQL con pooling.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A181B"/>
                </a:solidFill>
                <a:latin typeface="Calibri"/>
              </a:defRPr>
            </a:pPr>
            <a:r>
              <a:t>RIESGOS Y MITIGACIÓN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12529"/>
                </a:solidFill>
              </a:rPr>
              <a:t>⚠ Colisiones en Reservas: </a:t>
            </a:r>
            <a:r>
              <a:rPr sz="1000">
                <a:solidFill>
                  <a:srgbClr val="6C757D"/>
                </a:solidFill>
              </a:rPr>
              <a:t>Mitigado con bloqueo preventivo (TTL 5 min) y transacciones atómicas.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12529"/>
                </a:solidFill>
              </a:rPr>
              <a:t>⚠ Fallo en Notificaciones: </a:t>
            </a:r>
            <a:r>
              <a:rPr sz="1000">
                <a:solidFill>
                  <a:srgbClr val="6C757D"/>
                </a:solidFill>
              </a:rPr>
              <a:t>Mitigado con cola de reintentos y tabla LOG_NOTIFICACION_SMTP.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12529"/>
                </a:solidFill>
              </a:rPr>
              <a:t>⚠ Alucinaciones de la IA: </a:t>
            </a:r>
            <a:r>
              <a:rPr sz="1000">
                <a:solidFill>
                  <a:srgbClr val="6C757D"/>
                </a:solidFill>
              </a:rPr>
              <a:t>Mitigado con Function Calling aislado sin acceso directo a SQL.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12529"/>
                </a:solidFill>
              </a:rPr>
              <a:t>⚠ Falsificación de Títulos: </a:t>
            </a:r>
            <a:r>
              <a:rPr sz="1000">
                <a:solidFill>
                  <a:srgbClr val="6C757D"/>
                </a:solidFill>
              </a:rPr>
              <a:t>Mitigado con auditoría administrativa obligatoria antes de activar cuentas.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CONCLUSIONES Y PRÓXIMOS PASOS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0A896"/>
                </a:solidFill>
              </a:rPr>
              <a:t>✔ Solución Integral: </a:t>
            </a:r>
            <a:r>
              <a:rPr sz="1300">
                <a:solidFill>
                  <a:srgbClr val="DCEBF5"/>
                </a:solidFill>
              </a:rPr>
              <a:t>El sistema automatiza el 100% de la gestión de turnos médicos presenciales y virtuales, eliminando costos de coordinación manual.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0A896"/>
                </a:solidFill>
              </a:rPr>
              <a:t>✔ Arquitectura Transaccional Robusta: </a:t>
            </a:r>
            <a:r>
              <a:rPr sz="1300">
                <a:solidFill>
                  <a:srgbClr val="DCEBF5"/>
                </a:solidFill>
              </a:rPr>
              <a:t>Garantía de integridad de datos en PostgreSQL con prevención de colisiones en milisegundos y TTL de 5 minutos.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0A896"/>
                </a:solidFill>
              </a:rPr>
              <a:t>✔ Innovación con Agente de IA: </a:t>
            </a:r>
            <a:r>
              <a:rPr sz="1300">
                <a:solidFill>
                  <a:srgbClr val="DCEBF5"/>
                </a:solidFill>
              </a:rPr>
              <a:t>Reprogramación fluida en lenguaje natural vía Function Calling cumpliendo políticas estrictas de antelación.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0A896"/>
                </a:solidFill>
              </a:rPr>
              <a:t>✔ Planificación Ágil Estructurada: </a:t>
            </a:r>
            <a:r>
              <a:rPr sz="1300">
                <a:solidFill>
                  <a:srgbClr val="DCEBF5"/>
                </a:solidFill>
              </a:rPr>
              <a:t>Cronograma de 9 sprints en Linear que asegura entregables incrementales y control de calidad continua.</a:t>
            </a:r>
          </a:p>
          <a:p>
            <a:pPr>
              <a:spcBef>
                <a:spcPts val="2400"/>
              </a:spcBef>
              <a:defRPr sz="1600" b="1">
                <a:solidFill>
                  <a:srgbClr val="B0D7F0"/>
                </a:solidFill>
                <a:latin typeface="Calibri"/>
              </a:defRPr>
            </a:pPr>
            <a:r>
              <a:t>¡Muchas Gracias! • Sesión de Preguntas y Respuestas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