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</p:sldIdLst>
  <p:sldSz cy="6858000" cx="12192000"/>
  <p:notesSz cx="6858000" cy="9144000"/>
  <p:embeddedFontLst>
    <p:embeddedFont>
      <p:font typeface="Gill Sans"/>
      <p:regular r:id="rId80"/>
      <p:bold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0" Type="http://schemas.openxmlformats.org/officeDocument/2006/relationships/font" Target="fonts/GillSans-regular.fntdata"/><Relationship Id="rId81" Type="http://schemas.openxmlformats.org/officeDocument/2006/relationships/font" Target="fonts/GillSans-bold.fntdata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>
              <a:defRPr b="1">
                <a:latin typeface="Calibri"/>
              </a:defRPr>
            </a:pPr>
            <a:r>
              <a:t>PRESENTACIÓN DEL PROYECTO</a:t>
            </a:r>
          </a:p>
          <a:p>
            <a:pPr>
              <a:defRPr b="1">
                <a:latin typeface="Calibri"/>
              </a:defRPr>
            </a:pPr>
            <a:r>
              <a:t>SISTEMA CONVERSIÓN DE UNIDADES SOAP .NET (SIN BDD)</a:t>
            </a:r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>
                <a:latin typeface="Calibri"/>
              </a:defRPr>
            </a:pPr>
          </a:p>
          <a:p>
            <a:pPr>
              <a:defRPr>
                <a:latin typeface="Calibri"/>
              </a:defRPr>
            </a:pPr>
            <a:r>
              <a:t>INTEGRANTES: 	DANIELA TITUAÑA MORENO</a:t>
            </a:r>
          </a:p>
          <a:p>
            <a:pPr>
              <a:defRPr>
                <a:latin typeface="Calibri"/>
              </a:defRPr>
            </a:pPr>
            <a:r>
              <a:t>		GUSTAVO MOLINA GUAICO</a:t>
            </a:r>
          </a:p>
          <a:p>
            <a:pPr>
              <a:defRPr>
                <a:latin typeface="Calibri"/>
              </a:defRPr>
            </a:pPr>
            <a:r>
              <a:t>GRUPO:       	GRUPO 08</a:t>
            </a:r>
          </a:p>
          <a:p>
            <a:pPr>
              <a:defRPr>
                <a:latin typeface="Calibri"/>
              </a:defRPr>
            </a:pPr>
            <a:r>
              <a:t>NRC:         	36883</a:t>
            </a:r>
          </a:p>
        </p:txBody>
      </p:sp>
      <p:pic>
        <p:nvPicPr>
          <p:cNvPr descr="Resultado de imagen para espe"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>
                <a:latin typeface="Calibri"/>
              </a:defRPr>
            </a:pPr>
            <a:r>
              <a:t>FECHA:  27/10/2026</a:t>
            </a:r>
          </a:p>
          <a:p>
            <a:pPr>
              <a:defRPr>
                <a:latin typeface="Calibri"/>
              </a:defRPr>
            </a:pPr>
            <a:r>
              <a:t>ING: CAMPAÑA MAURICIO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ARQUITECTURA DE LA SOLUCIÓN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SERVIDOR SOAP (CoreWCF)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CONSOLA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ESCRITORIO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WEB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MÓVIL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descr="Resultado de imagen para AGENDA 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1.1 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Cambria"/>
              </a:rPr>
              <a:t>Desarrollar e implementar un servicio web SOAP en .NET con CoreWCF, sin base de datos, que realice conversiones de longitud, masa y temperatura y que sea consumido por clientes de consola, escritorio, web y móvil.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Objetivos específicos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Publicar el contrato del servicio mediante WSDL sobre BasicHttpBinding.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Proteger las operaciones con un token que viaja en una cabecera SOAP.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Construir cuatro clientes bajo el patrón MVC que consuman el servicio con el proxy generado desde el WSDL.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1.2  ARQUITECTURA DE LA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4231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Consola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.NET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88336" y="2807208"/>
            <a:ext cx="2386584" cy="1536192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85216" y="3429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Escritorio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WinForms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88336" y="3813048"/>
            <a:ext cx="2386584" cy="530352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5216" y="4434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Web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ASP.NET Core MVC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688336" y="4343400"/>
            <a:ext cx="2386584" cy="475488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" y="544068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Móvil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.NET MAUI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88336" y="4343400"/>
            <a:ext cx="2386584" cy="1481328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514600"/>
            <a:ext cx="3931920" cy="3611880"/>
          </a:xfrm>
          <a:prstGeom prst="roundRect">
            <a:avLst>
              <a:gd name="adj" fmla="val 12000"/>
            </a:avLst>
          </a:prstGeom>
          <a:solidFill>
            <a:srgbClr val="12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WSConversorUnidades.svc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CoreWCF · BasicHttpBinding · puerto 5080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InspectorAutenticacion (valida el token)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ServicioConversor&lt;T&gt; · IConversor&lt;T&gt;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ServicioHistorial (100 registros)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AdministradorCredenciales · AdministradorTokens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309359"/>
            <a:ext cx="85587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Mensajes SOAP 1.1 sobre HTTP; las operaciones protegidas llevan la cabecera &lt;Token xmlns="http://monster.edu.ec/ws"&gt;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Se crea un proyecto ASP.NET Core vacío llamado WS_ConUni_Dotnet_SOAP y se agrega el paquete CoreWCF 1.9.1, que permite publicar servicios SOAP en .NET moderno.</a:t>
            </a:r>
          </a:p>
        </p:txBody>
      </p:sp>
      <p:pic>
        <p:nvPicPr>
          <p:cNvPr id="6" name="Picture 5" descr="Plantilla ASP.NET Core vací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331141"/>
            <a:ext cx="4187952" cy="271031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087178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ASP.NET Core vacío</a:t>
            </a:r>
          </a:p>
        </p:txBody>
      </p:sp>
      <p:pic>
        <p:nvPicPr>
          <p:cNvPr id="8" name="Picture 7" descr="Nombre y ubicación del proyec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7" y="3349762"/>
            <a:ext cx="4187952" cy="267307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56047" y="6068557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Nombre y ubicación del proyecto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 – ESTRUCTURA MVC</a:t>
            </a:r>
          </a:p>
        </p:txBody>
      </p:sp>
      <p:pic>
        <p:nvPicPr>
          <p:cNvPr id="5" name="Picture 4" descr="Carpetas del servi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519172"/>
            <a:ext cx="3108960" cy="341985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598474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Carpetas del 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8496" y="2514600"/>
            <a:ext cx="5175503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Contratos: interfaz IWSConversorUnidades y constantes del servicio.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Servicios: WSConversorUnidades, ServicioConversor, ServicioUnidades y ServicioHistorial.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Seguridad: AdministradorCredenciales, AdministradorTokens e InspectorAutenticacion.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Modelos: DTO de respuesta, enumeraciones de unidades y conversores.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Excepciones: ExcepcionValidacion, ExcepcionAutenticacion y ManejadorErrores.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 – CONTRATO DEL SERVICIO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577840" cy="3362959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577840"/>
              </a:tblGrid>
              <a:tr h="33629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[ServiceContract(Namespace = ConstantesWS.Espacio)]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interface IWSConversorUnidades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6A8759"/>
                          </a:solidFill>
                          <a:latin typeface="Consolas"/>
                          <a:cs typeface="Consolas"/>
                        </a:rPr>
                        <a:t xml:space="preserve">    // CU-01 Autenticarse (operación pública)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[OperationContract]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[FaultContract(typeof(ErrorServicio))]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LoginRespuesta Login(string? usuario,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         string? contrasena);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6A8759"/>
                          </a:solidFill>
                          <a:latin typeface="Consolas"/>
                          <a:cs typeface="Consolas"/>
                        </a:rPr>
                        <a:t xml:space="preserve">    // CU-04 Realizar conversión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[OperationContract]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[FaultContract(typeof(ErrorServicio))]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ConversionRespuesta ConvertirLongitud(double valor,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string? unidadOrigen, string? unidadDestino);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...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[OperationContract]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[FaultContract(typeof(ErrorServicio))]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List&lt;RegistroConversionRespuesta&gt; ConsultarHistorial();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45936" y="2423160"/>
            <a:ext cx="279806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CoreWCF genera el WSDL a partir de esta interfaz.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Diez operaciones: login, cambio de contraseña, tres conversiones, catálogo e historial.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Los errores salen como fault ErrorServicio {Codigo, Mensaje}: 400, 401 o 500.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 – PUBLICACIÓN DEL SERVICIO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577840" cy="3027679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577840"/>
              </a:tblGrid>
              <a:tr h="3027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builder.Services.AddServiceModelServices();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builder.Services.AddServiceModelMetadata();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6A8759"/>
                          </a:solidFill>
                          <a:latin typeface="Consolas"/>
                          <a:cs typeface="Consolas"/>
                        </a:rPr>
                        <a:t xml:space="preserve">// Validación del token y traducción de errores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builder.Services.AddSingleton&lt;IServiceBehavior,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InspectorAutenticacion&gt;();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builder.Services.AddSingleton&lt;IServiceBehavior,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ManejadorErrores&gt;();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app.UseServiceModel(servicios =&gt;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var enlace = new BasicHttpBinding();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servicios.AddService&lt;WSConversorUnidades&gt;();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servicios.AddServiceEndpoint&lt;WSConversorUnidades,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IWSConversorUnidades&gt;(enlace, ConstantesWS.Ruta);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metadatos.HttpGetEnabled = true;   // publica el WSDL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});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45936" y="2423160"/>
            <a:ext cx="279806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Program.cs registra CoreWCF y los comportamientos propios del servicio.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El endpoint usa BasicHttpBinding (SOAP 1.1).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El WSDL queda en http://localhost:5080/WSConversorUnidades.svc?wsdl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 – AUTENTICACIÓN POR TOKEN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852160" cy="33782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852160"/>
              </a:tblGrid>
              <a:tr h="3378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InspectorAutenticacion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: IDispatchMessageInspector, IServiceBehavior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object? AfterReceiveRequest(ref Message request, ...)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var estado = new EstadoSolicitud();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request.Properties[EstadoSolicitud.Clave] = estado;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(!EsOperacionPublica(request.Headers.Action)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&amp;&amp; !AdministradorTokens.EsTokenValido(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   LeerToken(request.Headers), out string error))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estado.RegistrarError(ErrorServicio.Autenticacion, error);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return estado;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void BeforeSendReply(ref Message reply, object? estado)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(estado is EstadoSolicitud { Error: ErrorServicio e })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reply = ManejadorErrores.CrearMensajeFault(e, reply.Version);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0255" y="2423160"/>
            <a:ext cx="2523744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Lee la cabecera SOAP Token antes de cada operación; solo Login es pública.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Los tokens duran 30 minutos y se guardan en memoria.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Si hay error, BeforeSendReply devuelve un fault 401.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 – LÓGICA DE CONVERSIÓN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577840" cy="31953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577840"/>
              </a:tblGrid>
              <a:tr h="319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interface IConversor&lt;T&gt; where T : struct, Enum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double Convertir(double valor, T unidadOrigen,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     T unidadDestino);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ConversorLongitud : IConversor&lt;UnidadLongitud&gt;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private static readonly Dictionary&lt;UnidadLongitud,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double&gt; factores = new()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    [UnidadLongitud.MILIMETRO] = 0.001,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    [UnidadLongitud.METRO] = 1.0,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    [UnidadLongitud.KILOMETRO] = 1000.0,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    [UnidadLongitud.YARDA] = 0.9144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6A8759"/>
                          </a:solidFill>
                          <a:latin typeface="Consolas"/>
                          <a:cs typeface="Consolas"/>
                        </a:rPr>
                        <a:t xml:space="preserve">    // valor * factor de origen / factor de destino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45936" y="2423160"/>
            <a:ext cx="279806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Longitud y masa pasan por una unidad base mediante factores.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Temperatura usa fórmulas entre Celsius, Fahrenheit, Kelvin y Rankine.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ServicioConversor&lt;T&gt; recibe cualquier IConversor&lt;T&gt; y valida que el valor y el resultado sean finitos.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SOAP (CoreWCF) – EJECUCIÓN</a:t>
            </a:r>
          </a:p>
        </p:txBody>
      </p:sp>
      <p:pic>
        <p:nvPicPr>
          <p:cNvPr id="5" name="Picture 4" descr="Servidor en ejecu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580345"/>
            <a:ext cx="3291840" cy="101150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3637574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Servidor en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4348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mbria"/>
              </a:rPr>
              <a:t>Al ejecutar el proyecto, Kestrel atiende el servicio y CoreWCF publica el contrato WSDL, que los clientes usan para generar su proxy.</a:t>
            </a:r>
          </a:p>
        </p:txBody>
      </p:sp>
      <p:pic>
        <p:nvPicPr>
          <p:cNvPr id="8" name="Picture 7" descr="Contrato WSDL public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5" y="2695819"/>
            <a:ext cx="5084064" cy="315800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059935" y="5899540"/>
            <a:ext cx="508406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Contrato WSDL publicado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Se crea una aplicación de consola .NET llamada ConUni_CliCon_GR8, organizada en las carpetas Cliente, Modelo, Vista, Controlador y Util.</a:t>
            </a:r>
          </a:p>
        </p:txBody>
      </p:sp>
      <p:pic>
        <p:nvPicPr>
          <p:cNvPr id="6" name="Picture 5" descr="Plantilla Aplicación de consol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339889"/>
            <a:ext cx="4187952" cy="269282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078430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Aplicación de consola</a:t>
            </a:r>
          </a:p>
        </p:txBody>
      </p:sp>
      <p:pic>
        <p:nvPicPr>
          <p:cNvPr id="8" name="Picture 7" descr="Nombre y ubicación del proyec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7" y="3350181"/>
            <a:ext cx="4187952" cy="267223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56047" y="6068138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Nombre y ubicación del proyecto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 – REFERENCIA DE SERVICIO WCF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Con "Agregar referencia de servicio WCF" se indica la URL del WSDL; Visual Studio descubre las operaciones y genera el proxy en el espacio de nombres ReferenciaServicio.</a:t>
            </a:r>
          </a:p>
        </p:txBody>
      </p:sp>
      <p:pic>
        <p:nvPicPr>
          <p:cNvPr id="6" name="Picture 5" descr="URL del WSDL del servi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226705"/>
            <a:ext cx="4187952" cy="291918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191614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URL del WSDL del servidor</a:t>
            </a:r>
          </a:p>
        </p:txBody>
      </p:sp>
      <p:pic>
        <p:nvPicPr>
          <p:cNvPr id="8" name="Picture 7" descr="Operaciones detectad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69" y="3200400"/>
            <a:ext cx="4032309" cy="297179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56047" y="6217920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Operaciones detectadas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 – ENVÍO DEL TOKEN</a:t>
            </a:r>
          </a:p>
        </p:txBody>
      </p:sp>
      <p:pic>
        <p:nvPicPr>
          <p:cNvPr id="5" name="Picture 4" descr="Estructura MVC del cli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429429"/>
            <a:ext cx="2651760" cy="359934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074490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MVC del cliente</a:t>
            </a:r>
          </a:p>
        </p:txBody>
      </p:sp>
      <p:graphicFrame>
        <p:nvGraphicFramePr>
          <p:cNvPr id="7" name="Google Shape;182;p23"/>
          <p:cNvGraphicFramePr/>
          <p:nvPr/>
        </p:nvGraphicFramePr>
        <p:xfrm>
          <a:off x="3419856" y="2331720"/>
          <a:ext cx="5724144" cy="28600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724144"/>
              </a:tblGrid>
              <a:tr h="286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ManejadorTokenSOAP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: IClientMessageInspector, IEndpointBehavior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const string NombreCabecera = "Token";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const string EspacioNombres =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"http://monster.edu.ec/ws";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object? BeforeSendRequest(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ref Message request, IClientChannel channel)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(HaySesionActiva)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request.Headers.Add(MessageHeader.CreateHeader(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NombreCabecera, EspacioNombres, token));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return null;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 – EJECUCIÓN</a:t>
            </a:r>
          </a:p>
        </p:txBody>
      </p:sp>
      <p:pic>
        <p:nvPicPr>
          <p:cNvPr id="5" name="Picture 4" descr="Cliente consola en ejecu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01" y="2331720"/>
            <a:ext cx="2320509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Cliente consola en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5615" y="2606039"/>
            <a:ext cx="5358383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El usuario inicia sesión con sus credenciales y el cliente guarda el token.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El menú permite convertir longitud, masa y temperatura, y cambiar la contraseña.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Los faults del servidor se muestran como mensajes de error claros.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Aplicación Windows Forms ConUni_CliEsc_GR8, que reutiliza el proxy SOAP y agrega el historial compartido de conversiones.</a:t>
            </a:r>
          </a:p>
        </p:txBody>
      </p:sp>
      <p:pic>
        <p:nvPicPr>
          <p:cNvPr id="6" name="Picture 5" descr="Plantilla Windows For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08" y="3200400"/>
            <a:ext cx="4659215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2179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Windows Forms</a:t>
            </a:r>
          </a:p>
        </p:txBody>
      </p:sp>
      <p:pic>
        <p:nvPicPr>
          <p:cNvPr id="8" name="Picture 7" descr="Estructura MV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237235"/>
            <a:ext cx="2889503" cy="289812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4496" y="6181084"/>
            <a:ext cx="2889503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MVC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 – INICIO DE SESIÓN</a:t>
            </a:r>
          </a:p>
        </p:txBody>
      </p:sp>
      <p:pic>
        <p:nvPicPr>
          <p:cNvPr id="5" name="Picture 4" descr="Vista de inicio de se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18" y="2331720"/>
            <a:ext cx="5951778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 inicio de sesión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 – CONVERSOR E HISTORIAL</a:t>
            </a:r>
          </a:p>
        </p:txBody>
      </p:sp>
      <p:pic>
        <p:nvPicPr>
          <p:cNvPr id="5" name="Picture 4" descr="Vista del conversor con el historial comparti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597" y="2331720"/>
            <a:ext cx="6198020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del conversor con el historial compartido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 – CONTRASEÑA Y CIERRE DE SESIÓN</a:t>
            </a:r>
          </a:p>
        </p:txBody>
      </p:sp>
      <p:pic>
        <p:nvPicPr>
          <p:cNvPr id="5" name="Picture 4" descr="Cambio de contraseñ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938323"/>
            <a:ext cx="4187952" cy="267299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5657036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Cambio de contraseña</a:t>
            </a:r>
          </a:p>
        </p:txBody>
      </p:sp>
      <p:pic>
        <p:nvPicPr>
          <p:cNvPr id="7" name="Picture 6" descr="Confirmación al cerrar ses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7" y="2962859"/>
            <a:ext cx="4187952" cy="2623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956047" y="5632500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Confirmación al cerrar sesión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Aplicación ASP.NET Core MVC ConUni_CliWeb_GR8; el token se guarda en la sesión del servidor web y la URL del servicio se configura en appsettings.json.</a:t>
            </a:r>
          </a:p>
        </p:txBody>
      </p:sp>
      <p:pic>
        <p:nvPicPr>
          <p:cNvPr id="6" name="Picture 5" descr="Plantilla ASP.NET Core MV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99" y="3200400"/>
            <a:ext cx="4663032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2179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ASP.NET Core MVC</a:t>
            </a:r>
          </a:p>
        </p:txBody>
      </p:sp>
      <p:pic>
        <p:nvPicPr>
          <p:cNvPr id="8" name="Picture 7" descr="Estructura MV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217468"/>
            <a:ext cx="2889503" cy="293766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4496" y="6200851"/>
            <a:ext cx="2889503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MVC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INICIO DE SESIÓN</a:t>
            </a:r>
          </a:p>
        </p:txBody>
      </p:sp>
      <p:pic>
        <p:nvPicPr>
          <p:cNvPr id="5" name="Picture 4" descr="Vista de inicio de se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75" y="2331720"/>
            <a:ext cx="6219864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 inicio de sesión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CONVERSOR E HISTORIAL</a:t>
            </a:r>
          </a:p>
        </p:txBody>
      </p:sp>
      <p:pic>
        <p:nvPicPr>
          <p:cNvPr id="5" name="Picture 4" descr="Vista del conversor con el historial comparti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75" y="2331720"/>
            <a:ext cx="6219864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del conversor con el historial compartido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CAMBIO DE CONTRASEÑA</a:t>
            </a:r>
          </a:p>
        </p:txBody>
      </p:sp>
      <p:pic>
        <p:nvPicPr>
          <p:cNvPr id="5" name="Picture 4" descr="Vista de cambio de contraseñ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62" y="2331720"/>
            <a:ext cx="6232891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 cambio de contraseña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1.7  CLIENTE MÓVIL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Aplicación .NET MAUI para Android ConUni_CliMov_GR8; en el emulador se conecta al servidor mediante la dirección 10.0.2.2:5080.</a:t>
            </a:r>
          </a:p>
        </p:txBody>
      </p:sp>
      <p:pic>
        <p:nvPicPr>
          <p:cNvPr id="6" name="Picture 5" descr="Plantilla Aplicación .NET MA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330087"/>
            <a:ext cx="4187952" cy="271242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088232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Aplicación .NET MAUI</a:t>
            </a:r>
          </a:p>
        </p:txBody>
      </p:sp>
      <p:pic>
        <p:nvPicPr>
          <p:cNvPr id="8" name="Picture 7" descr="Nombre y ubicación del proyec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7" y="3348591"/>
            <a:ext cx="4187952" cy="267541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56047" y="6069728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Nombre y ubicación del proyecto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1.7  CLIENTE MÓVIL – VISTAS</a:t>
            </a:r>
          </a:p>
        </p:txBody>
      </p:sp>
      <p:pic>
        <p:nvPicPr>
          <p:cNvPr id="5" name="Picture 4" descr="Inicio de se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54" y="2331720"/>
            <a:ext cx="1721091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2715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Inicio de sesión</a:t>
            </a:r>
          </a:p>
        </p:txBody>
      </p:sp>
      <p:pic>
        <p:nvPicPr>
          <p:cNvPr id="7" name="Picture 6" descr="Conversor e histor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361" y="2331720"/>
            <a:ext cx="1693333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438144" y="6263640"/>
            <a:ext cx="2715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Conversor e historial</a:t>
            </a:r>
          </a:p>
        </p:txBody>
      </p:sp>
      <p:pic>
        <p:nvPicPr>
          <p:cNvPr id="9" name="Picture 8" descr="Cambio de contraseñ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68" y="2331720"/>
            <a:ext cx="1719374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91071" y="6263640"/>
            <a:ext cx="2715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Cambio de contraseña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2011680"/>
            <a:ext cx="8558784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CoreWCF permitió publicar en .NET moderno un servicio SOAP con contrato WSDL, que los cuatro clientes consumieron mediante un proxy generado automáticamente.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Validar el token en una cabecera SOAP con un inspector de mensajes separó la seguridad de la lógica de conversión y evitó repetir la validación en cada operación.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El patrón MVC y la interfaz IConversor&lt;T&gt; facilitaron reutilizar el cliente SOAP en consola, escritorio, web y móvil, y respaldar el sistema con más de 500 pruebas unitarias.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SOAP (CoreWCF)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2011680"/>
            <a:ext cx="8558784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Usar HTTPS (BasicHttpsBinding) en producción para proteger el token y las credenciales en tránsito.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Incorporar una base de datos para persistir credenciales e historial, que hoy se pierden al reiniciar el servidor.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Reemplazar los paquetes System.ServiceModel 4.10 que instala el asistente de Visual Studio por las versiones 10.x, ya que las anteriores tienen vulnerabilidades conocidas.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